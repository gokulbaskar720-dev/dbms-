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for the Database Management System presentation. This deck covers ten core modules of DBMS theory, moving from foundational definitions through architecture, data models, ER/EER modelling, and a complete applied case study on a Retail Chain Management System. Introduce the scope and let the audience know the deck is structured as five slides per topic across ten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defining a DBMS as the software layer between raw stored data and the people or programs that need it. Emphasize that a DBMS is not the database itself — the database is the data; the DBMS is the engine that manages it. Mention a couple of well-known DBMS products so students can anchor the abstract definition to real tools they may have heard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each objective matters in practice: redundancy control saves storage and avoids inconsistent copies of the same fact; integrity rules stop bad data from entering the system; controlled concurrent access lets many users work safely at once; and ACID transaction support keeps the database correct even during failures. These objectives motivate almost every later architectural decision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advantages are the classic exam-style list. Reduced redundancy and integrity are about data quality; security and concurrency are about controlled access; backup/recovery and efficient querying are about operational reliability and performance. Encourage students to connect each advantage back to a real pain point of plain file-based storage, which is covered in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functional building blocks that make DBMS software distinct from a plain file system: dedicated languages for defining and manipulating data, an internal optimizer, transaction guarantees, and access control. These features will map directly onto the software components covered later in Module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DBMS technology is essentially invisible infrastructure behind almost every digital service. Highlight that despite very different domains — banking, healthcare, retail, education, transport, telecom — the same underlying DBMS principles of integrity, concurrency, and security apply everywhere. This sets up the file-based-vs-DBMS comparison in the next module, since all of these examples used to be run on paper or flat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architectures visually: in a file-based system, every application program manages its own files directly, so the same customer or product data is often duplicated across files with no shared rules. In a DBMS architecture, all applications go through one DBMS layer that mediates access to a single shared database, giving one consistent version of the truth. This single diagram sets up every advantage discussed later in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discussion: file-based systems are not always wrong, they can be a reasonable choice for a very small, single-user script. But as soon as multiple users, integrity rules, or scale enter the picture, a DBMS quickly pays for its added cost and complexity. This trade-off framing helps students decide when a full DBMS is actually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Banking is the textbook example of why ACID transactions matter: if a fund transfer debits one account but the system crashes before crediting the other, money simply disappears unless the DBMS guarantees atomicity. Emphasize that file-based ledgers cannot offer this guarantee at scale, which is why every modern bank runs on a centralized DBMS-backed core banking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healthcare the stakes of poor data management are literally life and death: a missed allergy record or inconsistent medication history caused by fragmented files can harm a patient. A DBMS-backed Electronic Health Record system keeps one authoritative, access-controlled patient record visible to every authorized department, directly addressing the weaknesses of older file-based hospital record-keeping.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the concise summary of the whole module — it is exam-ready and worth pausing on. Walk down each row and ask students to connect it back to the banking or healthcare examples: redundancy caused the branch-mismatch problem, weak concurrency caused the ATM conflict risk, and so on. This table is the natural bridge into architecture, since the next module explains how a DBMS technically achieves these properties via the ANSI/SPARC three-level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external level is the user-facing layer of the three-level architecture. Stress that different users of the same database can see completely different, customized "windows" onto the data — a payroll clerk view versus a manager view versus a customer-facing app view — all drawn from one underlying database. This is implemented very concretely in SQL through the CREATE VIEW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level is the architectural centerpiece: it is the one, unified logical model of all the data in the organization, described in terms of entities and relationships rather than physical files. It is the layer the DBA designs and maintains, and it sits as a buffer between the many external views above and the raw physical storage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internal level is where database theory meets real hardware: file organization, indexing structures such as B-trees, block sizes, and storage optimization all live here. This is the layer that database administrators and storage engineers tune for performance, and importantly, changes here should never force changes to the conceptual schema above — that is the definition of physical data independence, covered in depth in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single most important picture in the module. Point out the two mapping arrows between levels — the external/conceptual mapping and the conceptual/internal mapping — because these mappings are exactly what provide logical and physical data independence. Multiple external views sit on top of one conceptual schema, which in turn sits on top of one internal, physical storage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abstract three levels in one running example: a customer portal view (external), the underlying schema of Customer/Order/Product tables (conceptual), and a B-tree index physically speeding up lookups (internal). Reinforce the closing point — the storage engineer can swap index types without the application team even knowing, which is the entire point of separating these three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hierarchical model was one of the earliest database models, representing data as a tree: every record has exactly one parent, like a company org chart. It is fast for the exact access paths it was designed for, but rigid and awkward for relationships that do not fit a strict tree, such as an employee working across two departments. IBM IMS is the classic historical example, still used in some legacy mainframe systems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model generalizes the hierarchical tree into a graph, allowing a record to have more than one parent — solving the many-to-many problem, such as a student enrolled in multiple courses each with multiple students. The trade-off is that navigating the graph requires the application programmer to follow explicit pointer paths, making it powerful but harder to use than later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relational model, introduced by E. F. Codd in 1970, replaced rigid pointer navigation with simple tables connected by shared key values — here, DeptID links Student to Department. Its declarative query language, SQL, lets users state *what* data they want rather than *how* to navigate to it, which is a major reason the relational model became the dominant approach and remains so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is a natural checkpoint. Historically the field moved from hierarchical, to network, to relational as each model solved the previous one's weaknesses — the relational model in particular traded some raw navigation speed for enormous gains in flexibility and ease of use, which is why it still dominates general-purpose database systems today even though NoSQL alternatives have re-introduced some hierarchical and graph-like ideas for specialized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examples show that no single data model is "best" in every context — each model matches a particular shape of real-world data. File systems and DNS are naturally hierarchical trees; telecom and manufacturing bill-of-materials are naturally networks of shared components; and general business applications, from ERP to e-commerce, overwhelmingly use the relational model because of its flexibility and SQL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running case study before diving into ER theory: an Online Library System is intuitive for every student and touches all the core ER concepts — entities like Book and Member, attributes like ISBN and Name, and relationships like "borrows" and "written by". Tell students this same system will be built up piece by piece across the next four slides, ending in one complete ER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entity is any distinguishable "thing" in the real world that we want to store data about. Ask students to notice that Loan is also modelled as its own entity (rather than just a relationship) because it carries its own data — issue date, due date, fine amount — a common real-world pattern. This sets up entity identification as the first concrete step of ER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Attributes describe the properties of each entity. Emphasize the concept of a primary key — the attribute (or set of attributes) that uniquely identifies every record — using ISBN for Book and MemberID for Member as concrete examples. This table will feed directly into the attribute ovals shown on the complete ER diagram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Relationships connect entities and are drawn as diamonds. Walk through cardinality carefully using the Member–Book example: a single member can borrow many books over time, and a single book can be borrowed by many different members over time, making BORROWS a many-to-many relationship — which is exactly why we introduced Loan as its own entity earlier, to hold the per-borrow details like due date and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assembled ER diagram bringing together all entities and relationships from the previous three slides: Author writes Book, Publisher publishes Book, Member borrows Book (many-to-many, resolved through the Loan entity), and Librarian processes Loan. Use this as a complete worked example students can reproduce for their own systems in the next module on EER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Generalization works bottom-up: start with several existing lower-level entities that share common attributes, and abstract those shared attributes into a single higher-level supertype entity. The classic example is combining Car and Truck, which share owner and registration details, into a general Vehicle entity — avoiding repeating those same attributes in every subtype.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Specialization is the mirror-image, top-down process: start with one general entity and split it into more specific subtypes that each need their own extra attributes. Employee specializing into Manager and Engineer is the classic case — both inherit shared Employee attributes like Name and Salary, but Manager additionally tracks TeamSize while Engineer tracks a technical Specialization.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Aggregation solves a structural limitation of basic ER modelling: a relationship diamond cannot normally connect directly to another relationship. By treating the Employee–WORKS-ON–Project relationship as a single aggregated object, we can then relate a Manager to that whole assignment via a MANAGES relationship — something plain ER notation cannot express without this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university system is a natural home for every EER technique at once: Person generalizes shared traits of Student and Faculty; Student specializes into Undergraduate and Graduate; and enrollment can be aggregated to connect to department-level statistics. Use this case study to show students how the three techniques combine in a single, realistic schema rather than being used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 two-level specialization hierarchy built from the university case study: Person specializes into Student and Faculty, and each of those specializes again into more specific subtypes. Point out the inheritance principle — a Graduate student has every attribute of Student and every attribute of Person, plus its own Thesis Topic attribute — which is the key benefit of modelling specialization explicitly rather than flattening everything into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data independence is the freedom to change how data is physically stored — file organization, indexing strategy, or even underlying hardware — without touching the conceptual schema or any application code. Connect this directly back to the ANSI/SPARC diagram from Module 3: it is precisely the internal-to-conceptual mapping that absorbs these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data independence is the harder but more valuable guarantee: the conceptual schema itself can evolve — new tables, new columns, restructured relationships — without forcing every existing application or view to be rewritten. This is what allows large systems to grow features over years without a costly, coordinated rewrite of every downstream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steps back to explain the "so what": data independence is the practical payoff of the whole three-level architecture studied in Module 3. Without it, every minor storage optimization or schema tweak would force a rewrite of every dependent application — which is exactly the brittleness that plagued the file-based systems compared in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advantages translate the abstract concept of data independence into business value: lower maintenance cost, safer performance tuning, and faster feature delivery because different teams — storage engineers, database designers, and application developers — can work independently at their own architectural level without stepping on each other's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quick self-test: for each row, ask students which level of the ANSI/SPARC architecture absorbs the change. Notice the pattern — anything about physical storage mechanics stays within the internal level (physical independence), while anything about the logical structure of what data exists stays within the conceptual level (logical independence), and in both cases the layers above remain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query processor is the component users interact with most directly, even if invisibly: every SQL statement is parsed, compiled, and optimized here before execution. Emphasize the optimizer specifically — the same logical query can be executed in many different physical ways, and choosing a good plan is one of the most impactful pieces of DBMS engineering for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manager sits at the boundary between the logical world of tables and rows and the physical world of disk blocks and files. Its buffer manager component is especially important for performance, since keeping "hot" data pages in memory avoids expensive disk I/O — this is the practical engine behind the physical data independence guarantee introduced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Reconnect to the banking case study from Module 2 here: the transaction manager is exactly the component that guarantees a fund transfer either fully happens or does not happen at all, even under concurrent load or a mid-transaction crash. Walk through the ACID acronym briefly since it will recur throughout the course whenever correctness under concurrency is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manager is the coordinating core that ties every other component together — it is what makes a DBMS behave as one coherent, unified piece of software rather than several disconnected tools. Highlight the data dictionary specifically, since metadata about the schema itself is what every other component consults to know what data exists and how it is structured.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diagram shows how the four components discussed in this module actually fit together: user requests flow through the query processor, which is coordinated by the central database manager, which in turn delegates to the storage manager (physical data), transaction manager (concurrency and recovery), and the data dictionary (metadata). Use this as the module summary slide tying together the previous four component deep-dives.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distinction is about identity: a strong entity stands alone and has a primary key that uniquely identifies it by itself, while a weak entity has no such independent key and can only be identified in the context of its owning strong entity. Preview the visual notation difference here — single-line versus double-line rectangle — which is explored in detail three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characteristics follow logically from the definitions: because a weak entity has only a partial key, it must always participate fully in its identifying relationship, and because it cannot exist meaningfully on its own, deleting its owner cascades to delete it too. This cascading-delete behavior is a very practical, testable consequence students should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pure notation reference: double lines signal "weak" everywhere they appear — both the weak entity's rectangle and its identifying relationship's diamond are drawn with double borders, distinguishing them at a glance from ordinary strong entities and regular relationships. Mention the dashed-underline convention for the partial key/discriminator attribute as well, since it commonly appears on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paired examples reinforce the pattern: an Order Item line has no meaning without knowing which Order it belongs to, just as a Room number alone is ambiguous without knowing which Building it is in. Ask students to think of one more example pair themselves — this is a reliable way to check whether the strong/weak distinction has really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summary table consolidates everything from the previous four slides into one exam-ready reference. Use it as a checkpoint before the final module: the Retail Chain Management System case study coming up will require students to correctly classify entities like OrderItem as weak entities dependent on Order, applying exactly this comparison in a larger, more realistic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capstone module applies everything from the course to one realistic system: a Retail Chain Management System. This first slide gives the 30,000-foot view — Supplier, Store, Product, Employee, Customer, and Order — with Order shown as a weak, double-lined entity dependent on the Customer/Store relationship. The following four slides zoom into entities, processes, billing, and the final layered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entity's key attributes. Note that Employee carries a StoreID foreign key linking staff to the store they work at, and Order carries both CustomerID and StoreID foreign keys — this is the relational implementation of the SUPPLIES, STOCKS, WORKS AT, and PLACES relationships drawn on the previous overview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process-flow diagram traces one order end-to-end through the retail system, from the customer placing it to final fulfillment. Point out where inventory management integrates: stock is reserved as soon as an order is placed, and if a product's quantity drops below a set threshold, the system automatically notifies the relevant Supplier — closing the loop between Order Processing and Inventory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billing subsystem extends directly from Order: once an order is confirmed, an Invoice is generated with tax and totals, and one or more Payment records settle it. This is also where the Transaction Manager component from Module 8 becomes concrete again — an invoice and its stock deduction must be committed together, or not at all, to avoid billing a customer for stock that was never actually 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architecture diagram is the deliberate closing summary of the entire course: a layered presentation-to-database design mirrors the ANSI/SPARC three-level architecture from Module 3, the retail database is built on the relational model from Module 4, its schema was derived using ER/EER techniques from Modules 5 and 6 including strong and weak entities from Module 9, and it is powered by the DBMS software components studied in Module 8. Use this slide to invite final questions before moving to the closing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Thank the audience and open the floor for questions. Briefly recap the arc of the deck: we began with foundational DBMS definitions, moved through the ANSI/SPARC architecture, data models, ER and EER modelling, data independence, and DBMS software components, and closed by applying every one of those concepts together in the Retail Chain Management System capstone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slideLayout" Target="../slideLayouts/slideLayout1.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23259"/>
          </a:solidFill>
          <a:ln/>
        </p:spPr>
      </p:sp>
      <p:sp>
        <p:nvSpPr>
          <p:cNvPr id="3" name="Shape 1"/>
          <p:cNvSpPr/>
          <p:nvPr/>
        </p:nvSpPr>
        <p:spPr>
          <a:xfrm>
            <a:off x="-2377440" y="4206240"/>
            <a:ext cx="5120640" cy="5120640"/>
          </a:xfrm>
          <a:prstGeom prst="ellipse">
            <a:avLst/>
          </a:prstGeom>
          <a:solidFill>
            <a:srgbClr val="0F2C50"/>
          </a:solidFill>
          <a:ln/>
        </p:spPr>
      </p:sp>
      <p:sp>
        <p:nvSpPr>
          <p:cNvPr id="4" name="Shape 2"/>
          <p:cNvSpPr/>
          <p:nvPr/>
        </p:nvSpPr>
        <p:spPr>
          <a:xfrm>
            <a:off x="5592928" y="1051560"/>
            <a:ext cx="1005840" cy="100584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5" name="Image 0" descr="/home/claude/dbms_pptx/icons/database_white.png">    </p:cNvPr>
          <p:cNvPicPr>
            <a:picLocks noChangeAspect="1"/>
          </p:cNvPicPr>
          <p:nvPr/>
        </p:nvPicPr>
        <p:blipFill>
          <a:blip r:embed="rId1"/>
          <a:stretch>
            <a:fillRect/>
          </a:stretch>
        </p:blipFill>
        <p:spPr>
          <a:xfrm>
            <a:off x="5854446" y="1313078"/>
            <a:ext cx="482803" cy="482803"/>
          </a:xfrm>
          <a:prstGeom prst="rect">
            <a:avLst/>
          </a:prstGeom>
        </p:spPr>
      </p:pic>
      <p:sp>
        <p:nvSpPr>
          <p:cNvPr id="6" name="Text 3"/>
          <p:cNvSpPr/>
          <p:nvPr/>
        </p:nvSpPr>
        <p:spPr>
          <a:xfrm>
            <a:off x="731520" y="2331720"/>
            <a:ext cx="10728655" cy="9144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DATABASE MANAGEMENT SYSTEM</a:t>
            </a:r>
            <a:endParaRPr lang="en-US" sz="4200" dirty="0"/>
          </a:p>
        </p:txBody>
      </p:sp>
      <p:sp>
        <p:nvSpPr>
          <p:cNvPr id="7" name="Text 4"/>
          <p:cNvSpPr/>
          <p:nvPr/>
        </p:nvSpPr>
        <p:spPr>
          <a:xfrm>
            <a:off x="731520" y="3063240"/>
            <a:ext cx="10728655" cy="548640"/>
          </a:xfrm>
          <a:prstGeom prst="rect">
            <a:avLst/>
          </a:prstGeom>
          <a:noFill/>
          <a:ln/>
        </p:spPr>
        <p:txBody>
          <a:bodyPr wrap="square" rtlCol="0" anchor="ctr"/>
          <a:lstStyle/>
          <a:p>
            <a:pPr algn="ctr" indent="0" marL="0">
              <a:buNone/>
            </a:pPr>
            <a:r>
              <a:rPr lang="en-US" sz="2000" b="1" spc="300" kern="0" dirty="0">
                <a:solidFill>
                  <a:srgbClr val="5B9BD5"/>
                </a:solidFill>
                <a:latin typeface="Cambria" pitchFamily="34" charset="0"/>
                <a:ea typeface="Cambria" pitchFamily="34" charset="-122"/>
                <a:cs typeface="Cambria" pitchFamily="34" charset="-120"/>
              </a:rPr>
              <a:t>DBMS</a:t>
            </a:r>
            <a:endParaRPr lang="en-US" sz="2000" dirty="0"/>
          </a:p>
        </p:txBody>
      </p:sp>
      <p:sp>
        <p:nvSpPr>
          <p:cNvPr id="8" name="Shape 5"/>
          <p:cNvSpPr/>
          <p:nvPr/>
        </p:nvSpPr>
        <p:spPr>
          <a:xfrm>
            <a:off x="2804008" y="3794760"/>
            <a:ext cx="6583680" cy="420624"/>
          </a:xfrm>
          <a:prstGeom prst="roundRect">
            <a:avLst>
              <a:gd name="adj" fmla="val 50000"/>
            </a:avLst>
          </a:prstGeom>
          <a:solidFill>
            <a:srgbClr val="123259"/>
          </a:solidFill>
          <a:ln/>
        </p:spPr>
      </p:sp>
      <p:sp>
        <p:nvSpPr>
          <p:cNvPr id="9" name="Text 6"/>
          <p:cNvSpPr/>
          <p:nvPr/>
        </p:nvSpPr>
        <p:spPr>
          <a:xfrm>
            <a:off x="2804008" y="3794760"/>
            <a:ext cx="6583680" cy="420624"/>
          </a:xfrm>
          <a:prstGeom prst="rect">
            <a:avLst/>
          </a:prstGeom>
          <a:noFill/>
          <a:ln/>
        </p:spPr>
        <p:txBody>
          <a:bodyPr wrap="square" rtlCol="0" anchor="ctr"/>
          <a:lstStyle/>
          <a:p>
            <a:pPr algn="ctr" indent="0" marL="0">
              <a:buNone/>
            </a:pPr>
            <a:r>
              <a:rPr lang="en-US" sz="1250" b="1" dirty="0">
                <a:solidFill>
                  <a:srgbClr val="EAF2FB"/>
                </a:solidFill>
                <a:latin typeface="Calibri" pitchFamily="34" charset="0"/>
                <a:ea typeface="Calibri" pitchFamily="34" charset="-122"/>
                <a:cs typeface="Calibri" pitchFamily="34" charset="-120"/>
              </a:rPr>
              <a:t>Concepts  ·  Architecture  ·  Data Models  ·  ER / EER  ·  Case Studies</a:t>
            </a:r>
            <a:endParaRPr lang="en-US" sz="1250" dirty="0"/>
          </a:p>
        </p:txBody>
      </p:sp>
      <p:sp>
        <p:nvSpPr>
          <p:cNvPr id="10" name="Text 7"/>
          <p:cNvSpPr/>
          <p:nvPr/>
        </p:nvSpPr>
        <p:spPr>
          <a:xfrm>
            <a:off x="731520" y="4526280"/>
            <a:ext cx="10728655" cy="365760"/>
          </a:xfrm>
          <a:prstGeom prst="rect">
            <a:avLst/>
          </a:prstGeom>
          <a:noFill/>
          <a:ln/>
        </p:spPr>
        <p:txBody>
          <a:bodyPr wrap="square" rtlCol="0" anchor="ctr"/>
          <a:lstStyle/>
          <a:p>
            <a:pPr algn="ctr" indent="0" marL="0">
              <a:buNone/>
            </a:pPr>
            <a:r>
              <a:rPr lang="en-US" sz="1500" i="1" dirty="0">
                <a:solidFill>
                  <a:srgbClr val="D4E4F7"/>
                </a:solidFill>
                <a:latin typeface="Calibri" pitchFamily="34" charset="0"/>
                <a:ea typeface="Calibri" pitchFamily="34" charset="-122"/>
                <a:cs typeface="Calibri" pitchFamily="34" charset="-120"/>
              </a:rPr>
              <a:t>A Comprehensive Academic Presentation</a:t>
            </a:r>
            <a:endParaRPr lang="en-US" sz="1500" dirty="0"/>
          </a:p>
        </p:txBody>
      </p:sp>
      <p:sp>
        <p:nvSpPr>
          <p:cNvPr id="11" name="Shape 8"/>
          <p:cNvSpPr/>
          <p:nvPr/>
        </p:nvSpPr>
        <p:spPr>
          <a:xfrm>
            <a:off x="4724248" y="5074920"/>
            <a:ext cx="2743200" cy="12802"/>
          </a:xfrm>
          <a:prstGeom prst="rect">
            <a:avLst/>
          </a:prstGeom>
          <a:solidFill>
            <a:srgbClr val="2E6BB8"/>
          </a:solidFill>
          <a:ln/>
        </p:spPr>
      </p:sp>
      <p:sp>
        <p:nvSpPr>
          <p:cNvPr id="12" name="Text 9"/>
          <p:cNvSpPr/>
          <p:nvPr/>
        </p:nvSpPr>
        <p:spPr>
          <a:xfrm>
            <a:off x="731520" y="5257800"/>
            <a:ext cx="10728655" cy="365760"/>
          </a:xfrm>
          <a:prstGeom prst="rect">
            <a:avLst/>
          </a:prstGeom>
          <a:noFill/>
          <a:ln/>
        </p:spPr>
        <p:txBody>
          <a:bodyPr wrap="square" rtlCol="0" anchor="ctr"/>
          <a:lstStyle/>
          <a:p>
            <a:pPr algn="ctr" indent="0" marL="0">
              <a:buNone/>
            </a:pPr>
            <a:r>
              <a:rPr lang="en-US" sz="1200" dirty="0">
                <a:solidFill>
                  <a:srgbClr val="4C6076"/>
                </a:solidFill>
                <a:latin typeface="Calibri" pitchFamily="34" charset="0"/>
                <a:ea typeface="Calibri" pitchFamily="34" charset="-122"/>
                <a:cs typeface="Calibri" pitchFamily="34" charset="-120"/>
              </a:rPr>
              <a:t>Prepared for Database Systems Coursework  |  10 Modules  ·  50 Topic Slides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01  ·  INTRODUCTION TO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What is a DBMS?</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database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Software + Data + Users</a:t>
            </a:r>
            <a:endParaRPr lang="en-US" sz="1250" dirty="0"/>
          </a:p>
        </p:txBody>
      </p:sp>
      <p:sp>
        <p:nvSpPr>
          <p:cNvPr id="8" name="Text 5"/>
          <p:cNvSpPr/>
          <p:nvPr/>
        </p:nvSpPr>
        <p:spPr>
          <a:xfrm>
            <a:off x="685800" y="4160520"/>
            <a:ext cx="2651760" cy="73152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Working together as one managed system</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1200"/>
              </a:spcAft>
              <a:buSzPct val="100000"/>
              <a:buChar char="▪"/>
            </a:pPr>
            <a:r>
              <a:rPr lang="en-US" sz="1500" dirty="0">
                <a:solidFill>
                  <a:srgbClr val="13253F"/>
                </a:solidFill>
                <a:latin typeface="Calibri" pitchFamily="34" charset="0"/>
                <a:ea typeface="Calibri" pitchFamily="34" charset="-122"/>
                <a:cs typeface="Calibri" pitchFamily="34" charset="-120"/>
              </a:rPr>
              <a:t>A DBMS is software that creates, stores, manages, and controls access to data in a database.</a:t>
            </a:r>
            <a:endParaRPr lang="en-US" sz="1500" dirty="0"/>
          </a:p>
          <a:p>
            <a:pPr marL="228600" indent="-228600">
              <a:lnSpc>
                <a:spcPct val="108000"/>
              </a:lnSpc>
              <a:spcAft>
                <a:spcPts val="1200"/>
              </a:spcAft>
              <a:buSzPct val="100000"/>
              <a:buChar char="▪"/>
            </a:pPr>
            <a:r>
              <a:rPr lang="en-US" sz="1500" dirty="0">
                <a:solidFill>
                  <a:srgbClr val="13253F"/>
                </a:solidFill>
                <a:latin typeface="Calibri" pitchFamily="34" charset="0"/>
                <a:ea typeface="Calibri" pitchFamily="34" charset="-122"/>
                <a:cs typeface="Calibri" pitchFamily="34" charset="-120"/>
              </a:rPr>
              <a:t>It sits between the physical data and the end users / application programs.</a:t>
            </a:r>
            <a:endParaRPr lang="en-US" sz="1500" dirty="0"/>
          </a:p>
          <a:p>
            <a:pPr marL="228600" indent="-228600">
              <a:lnSpc>
                <a:spcPct val="108000"/>
              </a:lnSpc>
              <a:spcAft>
                <a:spcPts val="1200"/>
              </a:spcAft>
              <a:buSzPct val="100000"/>
              <a:buChar char="▪"/>
            </a:pPr>
            <a:r>
              <a:rPr lang="en-US" sz="1500" dirty="0">
                <a:solidFill>
                  <a:srgbClr val="13253F"/>
                </a:solidFill>
                <a:latin typeface="Calibri" pitchFamily="34" charset="0"/>
                <a:ea typeface="Calibri" pitchFamily="34" charset="-122"/>
                <a:cs typeface="Calibri" pitchFamily="34" charset="-120"/>
              </a:rPr>
              <a:t>Treats data as a shared, centralized, and persistent resource of an organization.</a:t>
            </a:r>
            <a:endParaRPr lang="en-US" sz="1500" dirty="0"/>
          </a:p>
          <a:p>
            <a:pPr marL="228600" indent="-228600">
              <a:lnSpc>
                <a:spcPct val="108000"/>
              </a:lnSpc>
              <a:spcAft>
                <a:spcPts val="1200"/>
              </a:spcAft>
              <a:buSzPct val="100000"/>
              <a:buChar char="▪"/>
            </a:pPr>
            <a:r>
              <a:rPr lang="en-US" sz="1500" dirty="0">
                <a:solidFill>
                  <a:srgbClr val="13253F"/>
                </a:solidFill>
                <a:latin typeface="Calibri" pitchFamily="34" charset="0"/>
                <a:ea typeface="Calibri" pitchFamily="34" charset="-122"/>
                <a:cs typeface="Calibri" pitchFamily="34" charset="-120"/>
              </a:rPr>
              <a:t>Provides a systematic, controlled way to create, retrieve, update, and delete data (CRUD).</a:t>
            </a:r>
            <a:endParaRPr lang="en-US" sz="1500" dirty="0"/>
          </a:p>
          <a:p>
            <a:pPr marL="228600" indent="-228600">
              <a:lnSpc>
                <a:spcPct val="108000"/>
              </a:lnSpc>
              <a:spcAft>
                <a:spcPts val="1200"/>
              </a:spcAft>
              <a:buSzPct val="100000"/>
              <a:buChar char="▪"/>
            </a:pPr>
            <a:r>
              <a:rPr lang="en-US" sz="1500" dirty="0">
                <a:solidFill>
                  <a:srgbClr val="13253F"/>
                </a:solidFill>
                <a:latin typeface="Calibri" pitchFamily="34" charset="0"/>
                <a:ea typeface="Calibri" pitchFamily="34" charset="-122"/>
                <a:cs typeface="Calibri" pitchFamily="34" charset="-120"/>
              </a:rPr>
              <a:t>Enforces rules for accuracy, consistency, and security of stored data.</a:t>
            </a:r>
            <a:endParaRPr lang="en-US" sz="1500" dirty="0"/>
          </a:p>
          <a:p>
            <a:pPr marL="228600" indent="-228600">
              <a:lnSpc>
                <a:spcPct val="108000"/>
              </a:lnSpc>
              <a:spcAft>
                <a:spcPts val="1200"/>
              </a:spcAft>
              <a:buSzPct val="100000"/>
              <a:buChar char="▪"/>
            </a:pPr>
            <a:r>
              <a:rPr lang="en-US" sz="1500" dirty="0">
                <a:solidFill>
                  <a:srgbClr val="13253F"/>
                </a:solidFill>
                <a:latin typeface="Calibri" pitchFamily="34" charset="0"/>
                <a:ea typeface="Calibri" pitchFamily="34" charset="-122"/>
                <a:cs typeface="Calibri" pitchFamily="34" charset="-120"/>
              </a:rPr>
              <a:t>Examples: MySQL, Oracle, PostgreSQL, Microsoft SQL Server, MongoDB.</a:t>
            </a:r>
            <a:endParaRPr lang="en-US" sz="15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01  ·  Introduction to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01  ·  INTRODUCTION TO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Objectives of a DBMS</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star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Guiding Goals</a:t>
            </a:r>
            <a:endParaRPr lang="en-US" sz="125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Every design decision in a DBMS serves one of these aims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Minimize data redundancy by centralizing storage instead of duplicating files.</a:t>
            </a:r>
            <a:endParaRPr lang="en-US" sz="1450" dirty="0"/>
          </a:p>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Maintain data integrity and accuracy through constraints and validation rules.</a:t>
            </a:r>
            <a:endParaRPr lang="en-US" sz="1450" dirty="0"/>
          </a:p>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Enable controlled, authorized multi-user access to shared data.</a:t>
            </a:r>
            <a:endParaRPr lang="en-US" sz="1450" dirty="0"/>
          </a:p>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Provide data independence so applications are shielded from storage changes.</a:t>
            </a:r>
            <a:endParaRPr lang="en-US" sz="1450" dirty="0"/>
          </a:p>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Ensure data security through authentication, authorization, and encryption.</a:t>
            </a:r>
            <a:endParaRPr lang="en-US" sz="1450" dirty="0"/>
          </a:p>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Support efficient query processing and transaction management (ACID).</a:t>
            </a:r>
            <a:endParaRPr lang="en-US" sz="1450" dirty="0"/>
          </a:p>
          <a:p>
            <a:pPr marL="228600" indent="-228600">
              <a:lnSpc>
                <a:spcPct val="108000"/>
              </a:lnSpc>
              <a:spcAft>
                <a:spcPts val="1000"/>
              </a:spcAft>
              <a:buSzPct val="100000"/>
              <a:buChar char="▪"/>
            </a:pPr>
            <a:r>
              <a:rPr lang="en-US" sz="1450" dirty="0">
                <a:solidFill>
                  <a:srgbClr val="13253F"/>
                </a:solidFill>
                <a:latin typeface="Calibri" pitchFamily="34" charset="0"/>
                <a:ea typeface="Calibri" pitchFamily="34" charset="-122"/>
                <a:cs typeface="Calibri" pitchFamily="34" charset="-120"/>
              </a:rPr>
              <a:t>Enable backup and recovery to protect data from loss or failure.</a:t>
            </a:r>
            <a:endParaRPr lang="en-US" sz="14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01  ·  Introduction to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01  ·  INTRODUCTION TO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Advantages of Using a DBMS</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layers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Reduced Redundancy</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Centralized data avoids duplicate, conflicting copies.</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shield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Data Security</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Access control, roles, and encryption protect data.</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check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Data Integrity</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Constraints keep data accurate and consistent.</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users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Concurrent Access</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Many users can safely work at the same time.</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exchange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Backup &amp; Recovery</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Built-in tools restore data after failures.</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cogs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Efficient Querying</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Optimized engines answer complex queries fast.</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01  ·  Introduction to DBMS</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01  ·  INTRODUCTION TO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Key Features of a DBMS</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cogs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Built-in Capabilities</a:t>
            </a:r>
            <a:endParaRPr lang="en-US" sz="125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Standard functionality found in every modern DBMS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1100"/>
              </a:spcAft>
              <a:buSzPct val="100000"/>
              <a:buChar char="▪"/>
            </a:pPr>
            <a:r>
              <a:rPr lang="en-US" sz="1450" dirty="0">
                <a:solidFill>
                  <a:srgbClr val="13253F"/>
                </a:solidFill>
                <a:latin typeface="Calibri" pitchFamily="34" charset="0"/>
                <a:ea typeface="Calibri" pitchFamily="34" charset="-122"/>
                <a:cs typeface="Calibri" pitchFamily="34" charset="-120"/>
              </a:rPr>
              <a:t>Data Definition Language (DDL) to define schemas, tables, and constraints.</a:t>
            </a:r>
            <a:endParaRPr lang="en-US" sz="1450" dirty="0"/>
          </a:p>
          <a:p>
            <a:pPr marL="228600" indent="-228600">
              <a:lnSpc>
                <a:spcPct val="108000"/>
              </a:lnSpc>
              <a:spcAft>
                <a:spcPts val="1100"/>
              </a:spcAft>
              <a:buSzPct val="100000"/>
              <a:buChar char="▪"/>
            </a:pPr>
            <a:r>
              <a:rPr lang="en-US" sz="1450" dirty="0">
                <a:solidFill>
                  <a:srgbClr val="13253F"/>
                </a:solidFill>
                <a:latin typeface="Calibri" pitchFamily="34" charset="0"/>
                <a:ea typeface="Calibri" pitchFamily="34" charset="-122"/>
                <a:cs typeface="Calibri" pitchFamily="34" charset="-120"/>
              </a:rPr>
              <a:t>Data Manipulation Language (DML) to insert, update, delete, and query data.</a:t>
            </a:r>
            <a:endParaRPr lang="en-US" sz="1450" dirty="0"/>
          </a:p>
          <a:p>
            <a:pPr marL="228600" indent="-228600">
              <a:lnSpc>
                <a:spcPct val="108000"/>
              </a:lnSpc>
              <a:spcAft>
                <a:spcPts val="1100"/>
              </a:spcAft>
              <a:buSzPct val="100000"/>
              <a:buChar char="▪"/>
            </a:pPr>
            <a:r>
              <a:rPr lang="en-US" sz="1450" dirty="0">
                <a:solidFill>
                  <a:srgbClr val="13253F"/>
                </a:solidFill>
                <a:latin typeface="Calibri" pitchFamily="34" charset="0"/>
                <a:ea typeface="Calibri" pitchFamily="34" charset="-122"/>
                <a:cs typeface="Calibri" pitchFamily="34" charset="-120"/>
              </a:rPr>
              <a:t>Query optimizer that selects the fastest execution plan automatically.</a:t>
            </a:r>
            <a:endParaRPr lang="en-US" sz="1450" dirty="0"/>
          </a:p>
          <a:p>
            <a:pPr marL="228600" indent="-228600">
              <a:lnSpc>
                <a:spcPct val="108000"/>
              </a:lnSpc>
              <a:spcAft>
                <a:spcPts val="1100"/>
              </a:spcAft>
              <a:buSzPct val="100000"/>
              <a:buChar char="▪"/>
            </a:pPr>
            <a:r>
              <a:rPr lang="en-US" sz="1450" dirty="0">
                <a:solidFill>
                  <a:srgbClr val="13253F"/>
                </a:solidFill>
                <a:latin typeface="Calibri" pitchFamily="34" charset="0"/>
                <a:ea typeface="Calibri" pitchFamily="34" charset="-122"/>
                <a:cs typeface="Calibri" pitchFamily="34" charset="-120"/>
              </a:rPr>
              <a:t>Transaction management guaranteeing Atomicity, Consistency, Isolation, Durability.</a:t>
            </a:r>
            <a:endParaRPr lang="en-US" sz="1450" dirty="0"/>
          </a:p>
          <a:p>
            <a:pPr marL="228600" indent="-228600">
              <a:lnSpc>
                <a:spcPct val="108000"/>
              </a:lnSpc>
              <a:spcAft>
                <a:spcPts val="1100"/>
              </a:spcAft>
              <a:buSzPct val="100000"/>
              <a:buChar char="▪"/>
            </a:pPr>
            <a:r>
              <a:rPr lang="en-US" sz="1450" dirty="0">
                <a:solidFill>
                  <a:srgbClr val="13253F"/>
                </a:solidFill>
                <a:latin typeface="Calibri" pitchFamily="34" charset="0"/>
                <a:ea typeface="Calibri" pitchFamily="34" charset="-122"/>
                <a:cs typeface="Calibri" pitchFamily="34" charset="-120"/>
              </a:rPr>
              <a:t>Access control with user roles, privileges, and authentication.</a:t>
            </a:r>
            <a:endParaRPr lang="en-US" sz="1450" dirty="0"/>
          </a:p>
          <a:p>
            <a:pPr marL="228600" indent="-228600">
              <a:lnSpc>
                <a:spcPct val="108000"/>
              </a:lnSpc>
              <a:spcAft>
                <a:spcPts val="1100"/>
              </a:spcAft>
              <a:buSzPct val="100000"/>
              <a:buChar char="▪"/>
            </a:pPr>
            <a:r>
              <a:rPr lang="en-US" sz="1450" dirty="0">
                <a:solidFill>
                  <a:srgbClr val="13253F"/>
                </a:solidFill>
                <a:latin typeface="Calibri" pitchFamily="34" charset="0"/>
                <a:ea typeface="Calibri" pitchFamily="34" charset="-122"/>
                <a:cs typeface="Calibri" pitchFamily="34" charset="-120"/>
              </a:rPr>
              <a:t>Automated backup, logging, and crash-recovery mechanisms.</a:t>
            </a:r>
            <a:endParaRPr lang="en-US" sz="14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01  ·  Introduction to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01  ·  INTRODUCTION TO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Real-World Applications of DBMS</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bank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Banking</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Accounts, transactions, loans, ATM networks.</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hospital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Healthcare</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Patient records, billing, appointment systems.</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cart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E-Commerce</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Product catalogs, orders, payments, inventory.</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university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Education</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Student records, grades, course registration.</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truck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Airlines &amp; Logistics</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Reservations, scheduling, fleet tracking.</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network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Telecommunications</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Call records, billing, network management.</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01  ·  Introduction to DBMS</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5</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02  ·  FILE-BASED SYSTEM VS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Architecture: File System vs DBMS</a:t>
            </a:r>
            <a:endParaRPr lang="en-US" sz="3000" dirty="0"/>
          </a:p>
        </p:txBody>
      </p:sp>
      <p:sp>
        <p:nvSpPr>
          <p:cNvPr id="4" name="Shape 2"/>
          <p:cNvSpPr/>
          <p:nvPr/>
        </p:nvSpPr>
        <p:spPr>
          <a:xfrm>
            <a:off x="502920" y="1645920"/>
            <a:ext cx="5394960" cy="4434840"/>
          </a:xfrm>
          <a:prstGeom prst="roundRect">
            <a:avLst>
              <a:gd name="adj" fmla="val 2887"/>
            </a:avLst>
          </a:prstGeom>
          <a:solidFill>
            <a:srgbClr val="EAF2FB"/>
          </a:solidFill>
          <a:ln/>
        </p:spPr>
      </p:sp>
      <p:sp>
        <p:nvSpPr>
          <p:cNvPr id="5" name="Text 3"/>
          <p:cNvSpPr/>
          <p:nvPr/>
        </p:nvSpPr>
        <p:spPr>
          <a:xfrm>
            <a:off x="777240" y="1828800"/>
            <a:ext cx="484632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File-Based System</a:t>
            </a:r>
            <a:endParaRPr lang="en-US" sz="1500" dirty="0"/>
          </a:p>
        </p:txBody>
      </p:sp>
      <p:sp>
        <p:nvSpPr>
          <p:cNvPr id="6" name="Shape 4"/>
          <p:cNvSpPr/>
          <p:nvPr/>
        </p:nvSpPr>
        <p:spPr>
          <a:xfrm>
            <a:off x="914400" y="2331720"/>
            <a:ext cx="1920240" cy="594360"/>
          </a:xfrm>
          <a:prstGeom prst="roundRect">
            <a:avLst>
              <a:gd name="adj" fmla="val 12308"/>
            </a:avLst>
          </a:prstGeom>
          <a:solidFill>
            <a:srgbClr val="2E6BB8"/>
          </a:solidFill>
          <a:ln/>
          <a:effectLst>
            <a:outerShdw sx="100000" sy="100000" kx="0" ky="0" algn="bl" rotWithShape="0" blurRad="63500" dist="25400" dir="5400000">
              <a:srgbClr val="13253F">
                <a:alpha val="15000"/>
              </a:srgbClr>
            </a:outerShdw>
          </a:effectLst>
        </p:spPr>
      </p:sp>
      <p:sp>
        <p:nvSpPr>
          <p:cNvPr id="7" name="Text 5"/>
          <p:cNvSpPr/>
          <p:nvPr/>
        </p:nvSpPr>
        <p:spPr>
          <a:xfrm>
            <a:off x="960120" y="2331720"/>
            <a:ext cx="1828800" cy="594360"/>
          </a:xfrm>
          <a:prstGeom prst="rect">
            <a:avLst/>
          </a:prstGeom>
          <a:noFill/>
          <a:ln/>
        </p:spPr>
        <p:txBody>
          <a:bodyPr wrap="square"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App Program A</a:t>
            </a:r>
            <a:endParaRPr lang="en-US" sz="1250" dirty="0"/>
          </a:p>
        </p:txBody>
      </p:sp>
      <p:sp>
        <p:nvSpPr>
          <p:cNvPr id="8" name="Shape 6"/>
          <p:cNvSpPr/>
          <p:nvPr/>
        </p:nvSpPr>
        <p:spPr>
          <a:xfrm>
            <a:off x="3017520" y="2331720"/>
            <a:ext cx="1920240" cy="594360"/>
          </a:xfrm>
          <a:prstGeom prst="roundRect">
            <a:avLst>
              <a:gd name="adj" fmla="val 12308"/>
            </a:avLst>
          </a:prstGeom>
          <a:solidFill>
            <a:srgbClr val="2E6BB8"/>
          </a:solidFill>
          <a:ln/>
          <a:effectLst>
            <a:outerShdw sx="100000" sy="100000" kx="0" ky="0" algn="bl" rotWithShape="0" blurRad="63500" dist="25400" dir="5400000">
              <a:srgbClr val="13253F">
                <a:alpha val="15000"/>
              </a:srgbClr>
            </a:outerShdw>
          </a:effectLst>
        </p:spPr>
      </p:sp>
      <p:sp>
        <p:nvSpPr>
          <p:cNvPr id="9" name="Text 7"/>
          <p:cNvSpPr/>
          <p:nvPr/>
        </p:nvSpPr>
        <p:spPr>
          <a:xfrm>
            <a:off x="3063240" y="2331720"/>
            <a:ext cx="1828800" cy="594360"/>
          </a:xfrm>
          <a:prstGeom prst="rect">
            <a:avLst/>
          </a:prstGeom>
          <a:noFill/>
          <a:ln/>
        </p:spPr>
        <p:txBody>
          <a:bodyPr wrap="square"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App Program B</a:t>
            </a:r>
            <a:endParaRPr lang="en-US" sz="1250" dirty="0"/>
          </a:p>
        </p:txBody>
      </p:sp>
      <p:sp>
        <p:nvSpPr>
          <p:cNvPr id="10" name="Shape 8"/>
          <p:cNvSpPr/>
          <p:nvPr/>
        </p:nvSpPr>
        <p:spPr>
          <a:xfrm>
            <a:off x="1682496" y="2944368"/>
            <a:ext cx="201168" cy="256032"/>
          </a:xfrm>
          <a:prstGeom prst="downArrow">
            <a:avLst/>
          </a:prstGeom>
          <a:solidFill>
            <a:srgbClr val="4C6076"/>
          </a:solidFill>
          <a:ln/>
        </p:spPr>
      </p:sp>
      <p:sp>
        <p:nvSpPr>
          <p:cNvPr id="11" name="Shape 9"/>
          <p:cNvSpPr/>
          <p:nvPr/>
        </p:nvSpPr>
        <p:spPr>
          <a:xfrm>
            <a:off x="3785616" y="2944368"/>
            <a:ext cx="201168" cy="256032"/>
          </a:xfrm>
          <a:prstGeom prst="downArrow">
            <a:avLst/>
          </a:prstGeom>
          <a:solidFill>
            <a:srgbClr val="4C6076"/>
          </a:solidFill>
          <a:ln/>
        </p:spPr>
      </p:sp>
      <p:sp>
        <p:nvSpPr>
          <p:cNvPr id="12" name="Shape 10"/>
          <p:cNvSpPr/>
          <p:nvPr/>
        </p:nvSpPr>
        <p:spPr>
          <a:xfrm>
            <a:off x="914400" y="3246120"/>
            <a:ext cx="1920240" cy="548640"/>
          </a:xfrm>
          <a:prstGeom prst="roundRect">
            <a:avLst>
              <a:gd name="adj" fmla="val 13333"/>
            </a:avLst>
          </a:prstGeom>
          <a:solidFill>
            <a:srgbClr val="5B9BD5"/>
          </a:solidFill>
          <a:ln/>
          <a:effectLst>
            <a:outerShdw sx="100000" sy="100000" kx="0" ky="0" algn="bl" rotWithShape="0" blurRad="63500" dist="25400" dir="5400000">
              <a:srgbClr val="13253F">
                <a:alpha val="15000"/>
              </a:srgbClr>
            </a:outerShdw>
          </a:effectLst>
        </p:spPr>
      </p:sp>
      <p:sp>
        <p:nvSpPr>
          <p:cNvPr id="13" name="Text 11"/>
          <p:cNvSpPr/>
          <p:nvPr/>
        </p:nvSpPr>
        <p:spPr>
          <a:xfrm>
            <a:off x="960120" y="3246120"/>
            <a:ext cx="1828800" cy="548640"/>
          </a:xfrm>
          <a:prstGeom prst="rect">
            <a:avLst/>
          </a:prstGeom>
          <a:noFill/>
          <a:ln/>
        </p:spPr>
        <p:txBody>
          <a:bodyPr wrap="square"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File A.dat</a:t>
            </a:r>
            <a:endParaRPr lang="en-US" sz="1100" dirty="0"/>
          </a:p>
        </p:txBody>
      </p:sp>
      <p:sp>
        <p:nvSpPr>
          <p:cNvPr id="14" name="Shape 12"/>
          <p:cNvSpPr/>
          <p:nvPr/>
        </p:nvSpPr>
        <p:spPr>
          <a:xfrm>
            <a:off x="3017520" y="3246120"/>
            <a:ext cx="1920240" cy="548640"/>
          </a:xfrm>
          <a:prstGeom prst="roundRect">
            <a:avLst>
              <a:gd name="adj" fmla="val 13333"/>
            </a:avLst>
          </a:prstGeom>
          <a:solidFill>
            <a:srgbClr val="5B9BD5"/>
          </a:solidFill>
          <a:ln/>
          <a:effectLst>
            <a:outerShdw sx="100000" sy="100000" kx="0" ky="0" algn="bl" rotWithShape="0" blurRad="63500" dist="25400" dir="5400000">
              <a:srgbClr val="13253F">
                <a:alpha val="15000"/>
              </a:srgbClr>
            </a:outerShdw>
          </a:effectLst>
        </p:spPr>
      </p:sp>
      <p:sp>
        <p:nvSpPr>
          <p:cNvPr id="15" name="Text 13"/>
          <p:cNvSpPr/>
          <p:nvPr/>
        </p:nvSpPr>
        <p:spPr>
          <a:xfrm>
            <a:off x="3063240" y="3246120"/>
            <a:ext cx="1828800" cy="548640"/>
          </a:xfrm>
          <a:prstGeom prst="rect">
            <a:avLst/>
          </a:prstGeom>
          <a:noFill/>
          <a:ln/>
        </p:spPr>
        <p:txBody>
          <a:bodyPr wrap="square"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File B.dat</a:t>
            </a:r>
            <a:endParaRPr lang="en-US" sz="1100" dirty="0"/>
          </a:p>
        </p:txBody>
      </p:sp>
      <p:sp>
        <p:nvSpPr>
          <p:cNvPr id="16" name="Text 14"/>
          <p:cNvSpPr/>
          <p:nvPr/>
        </p:nvSpPr>
        <p:spPr>
          <a:xfrm>
            <a:off x="777240" y="3977640"/>
            <a:ext cx="4846320" cy="1005840"/>
          </a:xfrm>
          <a:prstGeom prst="rect">
            <a:avLst/>
          </a:prstGeom>
          <a:noFill/>
          <a:ln/>
        </p:spPr>
        <p:txBody>
          <a:bodyPr wrap="square" rtlCol="0" anchor="ctr"/>
          <a:lstStyle/>
          <a:p>
            <a:pPr indent="0" marL="0">
              <a:lnSpc>
                <a:spcPct val="115000"/>
              </a:lnSpc>
              <a:buNone/>
            </a:pPr>
            <a:r>
              <a:rPr lang="en-US" sz="1150" dirty="0">
                <a:solidFill>
                  <a:srgbClr val="4C6076"/>
                </a:solidFill>
                <a:latin typeface="Calibri" pitchFamily="34" charset="0"/>
                <a:ea typeface="Calibri" pitchFamily="34" charset="-122"/>
                <a:cs typeface="Calibri" pitchFamily="34" charset="-120"/>
              </a:rPr>
              <a:t>Each program owns and directly manages its own private files — no shared control layer.</a:t>
            </a:r>
            <a:endParaRPr lang="en-US" sz="1150" dirty="0"/>
          </a:p>
        </p:txBody>
      </p:sp>
      <p:sp>
        <p:nvSpPr>
          <p:cNvPr id="17" name="Shape 15"/>
          <p:cNvSpPr/>
          <p:nvPr/>
        </p:nvSpPr>
        <p:spPr>
          <a:xfrm>
            <a:off x="777240" y="5074920"/>
            <a:ext cx="4846320" cy="777240"/>
          </a:xfrm>
          <a:prstGeom prst="rect">
            <a:avLst/>
          </a:prstGeom>
          <a:solidFill>
            <a:srgbClr val="FFFFFF"/>
          </a:solidFill>
          <a:ln w="12700">
            <a:solidFill>
              <a:srgbClr val="D9534F"/>
            </a:solidFill>
            <a:prstDash val="solid"/>
          </a:ln>
        </p:spPr>
      </p:sp>
      <p:sp>
        <p:nvSpPr>
          <p:cNvPr id="18" name="Text 16"/>
          <p:cNvSpPr/>
          <p:nvPr/>
        </p:nvSpPr>
        <p:spPr>
          <a:xfrm>
            <a:off x="868680" y="5074920"/>
            <a:ext cx="4663440" cy="777240"/>
          </a:xfrm>
          <a:prstGeom prst="rect">
            <a:avLst/>
          </a:prstGeom>
          <a:noFill/>
          <a:ln/>
        </p:spPr>
        <p:txBody>
          <a:bodyPr wrap="square" rtlCol="0" anchor="ctr"/>
          <a:lstStyle/>
          <a:p>
            <a:pPr algn="ctr" indent="0" marL="0">
              <a:buNone/>
            </a:pPr>
            <a:r>
              <a:rPr lang="en-US" sz="1050" b="1" i="1" dirty="0">
                <a:solidFill>
                  <a:srgbClr val="B03A2E"/>
                </a:solidFill>
                <a:latin typeface="Calibri" pitchFamily="34" charset="0"/>
                <a:ea typeface="Calibri" pitchFamily="34" charset="-122"/>
                <a:cs typeface="Calibri" pitchFamily="34" charset="-120"/>
              </a:rPr>
              <a:t>Result: duplicated, inconsistent, hard-to-secure data</a:t>
            </a:r>
            <a:endParaRPr lang="en-US" sz="1050" dirty="0"/>
          </a:p>
        </p:txBody>
      </p:sp>
      <p:sp>
        <p:nvSpPr>
          <p:cNvPr id="19" name="Shape 17"/>
          <p:cNvSpPr/>
          <p:nvPr/>
        </p:nvSpPr>
        <p:spPr>
          <a:xfrm>
            <a:off x="6263640" y="1645920"/>
            <a:ext cx="5422392" cy="4434840"/>
          </a:xfrm>
          <a:prstGeom prst="roundRect">
            <a:avLst>
              <a:gd name="adj" fmla="val 2887"/>
            </a:avLst>
          </a:prstGeom>
          <a:solidFill>
            <a:srgbClr val="EAF2FB"/>
          </a:solidFill>
          <a:ln/>
        </p:spPr>
      </p:sp>
      <p:sp>
        <p:nvSpPr>
          <p:cNvPr id="20" name="Text 18"/>
          <p:cNvSpPr/>
          <p:nvPr/>
        </p:nvSpPr>
        <p:spPr>
          <a:xfrm>
            <a:off x="6537960" y="1828800"/>
            <a:ext cx="484632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DBMS Architecture</a:t>
            </a:r>
            <a:endParaRPr lang="en-US" sz="1500" dirty="0"/>
          </a:p>
        </p:txBody>
      </p:sp>
      <p:sp>
        <p:nvSpPr>
          <p:cNvPr id="21" name="Shape 19"/>
          <p:cNvSpPr/>
          <p:nvPr/>
        </p:nvSpPr>
        <p:spPr>
          <a:xfrm>
            <a:off x="6675120" y="2331720"/>
            <a:ext cx="1920240" cy="548640"/>
          </a:xfrm>
          <a:prstGeom prst="roundRect">
            <a:avLst>
              <a:gd name="adj" fmla="val 13333"/>
            </a:avLst>
          </a:prstGeom>
          <a:solidFill>
            <a:srgbClr val="2E6BB8"/>
          </a:solidFill>
          <a:ln/>
          <a:effectLst>
            <a:outerShdw sx="100000" sy="100000" kx="0" ky="0" algn="bl" rotWithShape="0" blurRad="63500" dist="25400" dir="5400000">
              <a:srgbClr val="13253F">
                <a:alpha val="15000"/>
              </a:srgbClr>
            </a:outerShdw>
          </a:effectLst>
        </p:spPr>
      </p:sp>
      <p:sp>
        <p:nvSpPr>
          <p:cNvPr id="22" name="Text 20"/>
          <p:cNvSpPr/>
          <p:nvPr/>
        </p:nvSpPr>
        <p:spPr>
          <a:xfrm>
            <a:off x="6720840" y="2331720"/>
            <a:ext cx="1828800" cy="548640"/>
          </a:xfrm>
          <a:prstGeom prst="rect">
            <a:avLst/>
          </a:prstGeom>
          <a:noFill/>
          <a:ln/>
        </p:spPr>
        <p:txBody>
          <a:bodyPr wrap="square"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App Program A</a:t>
            </a:r>
            <a:endParaRPr lang="en-US" sz="1100" dirty="0"/>
          </a:p>
        </p:txBody>
      </p:sp>
      <p:sp>
        <p:nvSpPr>
          <p:cNvPr id="23" name="Shape 21"/>
          <p:cNvSpPr/>
          <p:nvPr/>
        </p:nvSpPr>
        <p:spPr>
          <a:xfrm>
            <a:off x="8778240" y="2331720"/>
            <a:ext cx="1920240" cy="548640"/>
          </a:xfrm>
          <a:prstGeom prst="roundRect">
            <a:avLst>
              <a:gd name="adj" fmla="val 13333"/>
            </a:avLst>
          </a:prstGeom>
          <a:solidFill>
            <a:srgbClr val="2E6BB8"/>
          </a:solidFill>
          <a:ln/>
          <a:effectLst>
            <a:outerShdw sx="100000" sy="100000" kx="0" ky="0" algn="bl" rotWithShape="0" blurRad="63500" dist="25400" dir="5400000">
              <a:srgbClr val="13253F">
                <a:alpha val="15000"/>
              </a:srgbClr>
            </a:outerShdw>
          </a:effectLst>
        </p:spPr>
      </p:sp>
      <p:sp>
        <p:nvSpPr>
          <p:cNvPr id="24" name="Text 22"/>
          <p:cNvSpPr/>
          <p:nvPr/>
        </p:nvSpPr>
        <p:spPr>
          <a:xfrm>
            <a:off x="8823960" y="2331720"/>
            <a:ext cx="1828800" cy="548640"/>
          </a:xfrm>
          <a:prstGeom prst="rect">
            <a:avLst/>
          </a:prstGeom>
          <a:noFill/>
          <a:ln/>
        </p:spPr>
        <p:txBody>
          <a:bodyPr wrap="square"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App Program B</a:t>
            </a:r>
            <a:endParaRPr lang="en-US" sz="1100" dirty="0"/>
          </a:p>
        </p:txBody>
      </p:sp>
      <p:sp>
        <p:nvSpPr>
          <p:cNvPr id="25" name="Shape 23"/>
          <p:cNvSpPr/>
          <p:nvPr/>
        </p:nvSpPr>
        <p:spPr>
          <a:xfrm>
            <a:off x="7443216" y="2926080"/>
            <a:ext cx="201168" cy="228600"/>
          </a:xfrm>
          <a:prstGeom prst="downArrow">
            <a:avLst/>
          </a:prstGeom>
          <a:solidFill>
            <a:srgbClr val="4C6076"/>
          </a:solidFill>
          <a:ln/>
        </p:spPr>
      </p:sp>
      <p:sp>
        <p:nvSpPr>
          <p:cNvPr id="26" name="Shape 24"/>
          <p:cNvSpPr/>
          <p:nvPr/>
        </p:nvSpPr>
        <p:spPr>
          <a:xfrm>
            <a:off x="9546336" y="2926080"/>
            <a:ext cx="201168" cy="228600"/>
          </a:xfrm>
          <a:prstGeom prst="downArrow">
            <a:avLst/>
          </a:prstGeom>
          <a:solidFill>
            <a:srgbClr val="4C6076"/>
          </a:solidFill>
          <a:ln/>
        </p:spPr>
      </p:sp>
      <p:sp>
        <p:nvSpPr>
          <p:cNvPr id="27" name="Shape 25"/>
          <p:cNvSpPr/>
          <p:nvPr/>
        </p:nvSpPr>
        <p:spPr>
          <a:xfrm>
            <a:off x="6675120" y="3200400"/>
            <a:ext cx="4023360" cy="548640"/>
          </a:xfrm>
          <a:prstGeom prst="roundRect">
            <a:avLst>
              <a:gd name="adj" fmla="val 13333"/>
            </a:avLst>
          </a:prstGeom>
          <a:solidFill>
            <a:srgbClr val="0B2545"/>
          </a:solidFill>
          <a:ln/>
          <a:effectLst>
            <a:outerShdw sx="100000" sy="100000" kx="0" ky="0" algn="bl" rotWithShape="0" blurRad="63500" dist="25400" dir="5400000">
              <a:srgbClr val="13253F">
                <a:alpha val="15000"/>
              </a:srgbClr>
            </a:outerShdw>
          </a:effectLst>
        </p:spPr>
      </p:sp>
      <p:sp>
        <p:nvSpPr>
          <p:cNvPr id="28" name="Text 26"/>
          <p:cNvSpPr/>
          <p:nvPr/>
        </p:nvSpPr>
        <p:spPr>
          <a:xfrm>
            <a:off x="6720840" y="3200400"/>
            <a:ext cx="3931920" cy="548640"/>
          </a:xfrm>
          <a:prstGeom prst="rect">
            <a:avLst/>
          </a:prstGeom>
          <a:noFill/>
          <a:ln/>
        </p:spPr>
        <p:txBody>
          <a:bodyPr wrap="square"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DBMS  (single control layer)</a:t>
            </a:r>
            <a:endParaRPr lang="en-US" sz="1150" dirty="0"/>
          </a:p>
        </p:txBody>
      </p:sp>
      <p:sp>
        <p:nvSpPr>
          <p:cNvPr id="29" name="Shape 27"/>
          <p:cNvSpPr/>
          <p:nvPr/>
        </p:nvSpPr>
        <p:spPr>
          <a:xfrm>
            <a:off x="8494776" y="3794760"/>
            <a:ext cx="201168" cy="228600"/>
          </a:xfrm>
          <a:prstGeom prst="downArrow">
            <a:avLst/>
          </a:prstGeom>
          <a:solidFill>
            <a:srgbClr val="4C6076"/>
          </a:solidFill>
          <a:ln/>
        </p:spPr>
      </p:sp>
      <p:sp>
        <p:nvSpPr>
          <p:cNvPr id="30" name="Shape 28"/>
          <p:cNvSpPr/>
          <p:nvPr/>
        </p:nvSpPr>
        <p:spPr>
          <a:xfrm>
            <a:off x="6675120" y="4069080"/>
            <a:ext cx="4023360" cy="548640"/>
          </a:xfrm>
          <a:prstGeom prst="roundRect">
            <a:avLst>
              <a:gd name="adj" fmla="val 13333"/>
            </a:avLst>
          </a:prstGeom>
          <a:solidFill>
            <a:srgbClr val="5B9BD5"/>
          </a:solidFill>
          <a:ln/>
          <a:effectLst>
            <a:outerShdw sx="100000" sy="100000" kx="0" ky="0" algn="bl" rotWithShape="0" blurRad="63500" dist="25400" dir="5400000">
              <a:srgbClr val="13253F">
                <a:alpha val="15000"/>
              </a:srgbClr>
            </a:outerShdw>
          </a:effectLst>
        </p:spPr>
      </p:sp>
      <p:sp>
        <p:nvSpPr>
          <p:cNvPr id="31" name="Text 29"/>
          <p:cNvSpPr/>
          <p:nvPr/>
        </p:nvSpPr>
        <p:spPr>
          <a:xfrm>
            <a:off x="6720840" y="4069080"/>
            <a:ext cx="3931920" cy="548640"/>
          </a:xfrm>
          <a:prstGeom prst="rect">
            <a:avLst/>
          </a:prstGeom>
          <a:noFill/>
          <a:ln/>
        </p:spPr>
        <p:txBody>
          <a:bodyPr wrap="square"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Shared Database</a:t>
            </a:r>
            <a:endParaRPr lang="en-US" sz="1150" dirty="0"/>
          </a:p>
        </p:txBody>
      </p:sp>
      <p:sp>
        <p:nvSpPr>
          <p:cNvPr id="32" name="Shape 30"/>
          <p:cNvSpPr/>
          <p:nvPr/>
        </p:nvSpPr>
        <p:spPr>
          <a:xfrm>
            <a:off x="6537960" y="5074920"/>
            <a:ext cx="4846320" cy="777240"/>
          </a:xfrm>
          <a:prstGeom prst="rect">
            <a:avLst/>
          </a:prstGeom>
          <a:solidFill>
            <a:srgbClr val="FFFFFF"/>
          </a:solidFill>
          <a:ln w="12700">
            <a:solidFill>
              <a:srgbClr val="2E8B57"/>
            </a:solidFill>
            <a:prstDash val="solid"/>
          </a:ln>
        </p:spPr>
      </p:sp>
      <p:sp>
        <p:nvSpPr>
          <p:cNvPr id="33" name="Text 31"/>
          <p:cNvSpPr/>
          <p:nvPr/>
        </p:nvSpPr>
        <p:spPr>
          <a:xfrm>
            <a:off x="6629400" y="5074920"/>
            <a:ext cx="4663440" cy="777240"/>
          </a:xfrm>
          <a:prstGeom prst="rect">
            <a:avLst/>
          </a:prstGeom>
          <a:noFill/>
          <a:ln/>
        </p:spPr>
        <p:txBody>
          <a:bodyPr wrap="square" rtlCol="0" anchor="ctr"/>
          <a:lstStyle/>
          <a:p>
            <a:pPr algn="ctr" indent="0" marL="0">
              <a:buNone/>
            </a:pPr>
            <a:r>
              <a:rPr lang="en-US" sz="1050" b="1" i="1" dirty="0">
                <a:solidFill>
                  <a:srgbClr val="1E6B3A"/>
                </a:solidFill>
                <a:latin typeface="Calibri" pitchFamily="34" charset="0"/>
                <a:ea typeface="Calibri" pitchFamily="34" charset="-122"/>
                <a:cs typeface="Calibri" pitchFamily="34" charset="-120"/>
              </a:rPr>
              <a:t>Result: one consistent, controlled, secure data source</a:t>
            </a:r>
            <a:endParaRPr lang="en-US" sz="1050" dirty="0"/>
          </a:p>
        </p:txBody>
      </p:sp>
      <p:sp>
        <p:nvSpPr>
          <p:cNvPr id="34" name="Text 3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02  ·  File-Based System vs DBMS</a:t>
            </a:r>
            <a:endParaRPr lang="en-US" sz="950" dirty="0"/>
          </a:p>
        </p:txBody>
      </p:sp>
      <p:sp>
        <p:nvSpPr>
          <p:cNvPr id="35" name="Text 3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6</a:t>
            </a:r>
            <a:endParaRPr lang="en-US" sz="950" dirty="0"/>
          </a:p>
        </p:txBody>
      </p:sp>
      <p:sp>
        <p:nvSpPr>
          <p:cNvPr id="36" name="Shape 34"/>
          <p:cNvSpPr/>
          <p:nvPr/>
        </p:nvSpPr>
        <p:spPr>
          <a:xfrm>
            <a:off x="502920" y="6473952"/>
            <a:ext cx="11185855" cy="10973"/>
          </a:xfrm>
          <a:prstGeom prst="rect">
            <a:avLst/>
          </a:prstGeom>
          <a:solidFill>
            <a:srgbClr val="D4E4F7"/>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02  ·  FILE-BASED SYSTEM VS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Advantages &amp; Disadvantages</a:t>
            </a:r>
            <a:endParaRPr lang="en-US" sz="3000" dirty="0"/>
          </a:p>
        </p:txBody>
      </p:sp>
      <p:sp>
        <p:nvSpPr>
          <p:cNvPr id="4" name="Shape 2"/>
          <p:cNvSpPr/>
          <p:nvPr/>
        </p:nvSpPr>
        <p:spPr>
          <a:xfrm>
            <a:off x="502920" y="1645920"/>
            <a:ext cx="5394960" cy="4434840"/>
          </a:xfrm>
          <a:prstGeom prst="roundRect">
            <a:avLst>
              <a:gd name="adj" fmla="val 2887"/>
            </a:avLst>
          </a:prstGeom>
          <a:solidFill>
            <a:srgbClr val="EAF2FB"/>
          </a:solidFill>
          <a:ln/>
        </p:spPr>
      </p:sp>
      <p:sp>
        <p:nvSpPr>
          <p:cNvPr id="5" name="Shape 3"/>
          <p:cNvSpPr/>
          <p:nvPr/>
        </p:nvSpPr>
        <p:spPr>
          <a:xfrm>
            <a:off x="777240" y="1828800"/>
            <a:ext cx="896112" cy="292608"/>
          </a:xfrm>
          <a:prstGeom prst="roundRect">
            <a:avLst>
              <a:gd name="adj" fmla="val 50000"/>
            </a:avLst>
          </a:prstGeom>
          <a:solidFill>
            <a:srgbClr val="1E5AA8"/>
          </a:solidFill>
          <a:ln/>
        </p:spPr>
      </p:sp>
      <p:sp>
        <p:nvSpPr>
          <p:cNvPr id="6" name="Text 4"/>
          <p:cNvSpPr/>
          <p:nvPr/>
        </p:nvSpPr>
        <p:spPr>
          <a:xfrm>
            <a:off x="777240" y="1828800"/>
            <a:ext cx="896112"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FILE-BASED</a:t>
            </a:r>
            <a:endParaRPr lang="en-US" sz="1050" dirty="0"/>
          </a:p>
        </p:txBody>
      </p:sp>
      <p:sp>
        <p:nvSpPr>
          <p:cNvPr id="7" name="Text 5"/>
          <p:cNvSpPr/>
          <p:nvPr/>
        </p:nvSpPr>
        <p:spPr>
          <a:xfrm>
            <a:off x="777240" y="2240280"/>
            <a:ext cx="484632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Advantages</a:t>
            </a:r>
            <a:endParaRPr lang="en-US" sz="1300" dirty="0"/>
          </a:p>
        </p:txBody>
      </p:sp>
      <p:sp>
        <p:nvSpPr>
          <p:cNvPr id="8" name="Text 6"/>
          <p:cNvSpPr/>
          <p:nvPr/>
        </p:nvSpPr>
        <p:spPr>
          <a:xfrm>
            <a:off x="777240" y="2560320"/>
            <a:ext cx="4846320" cy="1280160"/>
          </a:xfrm>
          <a:prstGeom prst="rect">
            <a:avLst/>
          </a:prstGeom>
          <a:noFill/>
          <a:ln/>
        </p:spPr>
        <p:txBody>
          <a:bodyPr wrap="square" rtlCol="0" anchor="t"/>
          <a:lstStyle/>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Simple to build for small, single-purpose tasks</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No specialized DBMS software or licensing needed</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Low hardware and setup overhead</a:t>
            </a:r>
            <a:endParaRPr lang="en-US" sz="1150" dirty="0"/>
          </a:p>
        </p:txBody>
      </p:sp>
      <p:sp>
        <p:nvSpPr>
          <p:cNvPr id="9" name="Text 7"/>
          <p:cNvSpPr/>
          <p:nvPr/>
        </p:nvSpPr>
        <p:spPr>
          <a:xfrm>
            <a:off x="777240" y="3886200"/>
            <a:ext cx="4846320" cy="320040"/>
          </a:xfrm>
          <a:prstGeom prst="rect">
            <a:avLst/>
          </a:prstGeom>
          <a:noFill/>
          <a:ln/>
        </p:spPr>
        <p:txBody>
          <a:bodyPr wrap="square" rtlCol="0" anchor="ctr"/>
          <a:lstStyle/>
          <a:p>
            <a:pPr indent="0" marL="0">
              <a:buNone/>
            </a:pPr>
            <a:r>
              <a:rPr lang="en-US" sz="1300" b="1" dirty="0">
                <a:solidFill>
                  <a:srgbClr val="B03A2E"/>
                </a:solidFill>
                <a:latin typeface="Calibri" pitchFamily="34" charset="0"/>
                <a:ea typeface="Calibri" pitchFamily="34" charset="-122"/>
                <a:cs typeface="Calibri" pitchFamily="34" charset="-120"/>
              </a:rPr>
              <a:t>Disadvantages</a:t>
            </a:r>
            <a:endParaRPr lang="en-US" sz="1300" dirty="0"/>
          </a:p>
        </p:txBody>
      </p:sp>
      <p:sp>
        <p:nvSpPr>
          <p:cNvPr id="10" name="Text 8"/>
          <p:cNvSpPr/>
          <p:nvPr/>
        </p:nvSpPr>
        <p:spPr>
          <a:xfrm>
            <a:off x="777240" y="4206240"/>
            <a:ext cx="4846320" cy="1737360"/>
          </a:xfrm>
          <a:prstGeom prst="rect">
            <a:avLst/>
          </a:prstGeom>
          <a:noFill/>
          <a:ln/>
        </p:spPr>
        <p:txBody>
          <a:bodyPr wrap="square" rtlCol="0" anchor="t"/>
          <a:lstStyle/>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Data redundancy and inconsistency across files</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Difficult to enforce integrity or security</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Poor concurrent access; limited scalability</a:t>
            </a:r>
            <a:endParaRPr lang="en-US" sz="1150" dirty="0"/>
          </a:p>
        </p:txBody>
      </p:sp>
      <p:sp>
        <p:nvSpPr>
          <p:cNvPr id="11" name="Shape 9"/>
          <p:cNvSpPr/>
          <p:nvPr/>
        </p:nvSpPr>
        <p:spPr>
          <a:xfrm>
            <a:off x="6263640" y="1645920"/>
            <a:ext cx="5422392" cy="4434840"/>
          </a:xfrm>
          <a:prstGeom prst="roundRect">
            <a:avLst>
              <a:gd name="adj" fmla="val 2887"/>
            </a:avLst>
          </a:prstGeom>
          <a:solidFill>
            <a:srgbClr val="EAF2FB"/>
          </a:solidFill>
          <a:ln/>
        </p:spPr>
      </p:sp>
      <p:sp>
        <p:nvSpPr>
          <p:cNvPr id="12" name="Shape 10"/>
          <p:cNvSpPr/>
          <p:nvPr/>
        </p:nvSpPr>
        <p:spPr>
          <a:xfrm>
            <a:off x="6537960" y="1828800"/>
            <a:ext cx="446227" cy="292608"/>
          </a:xfrm>
          <a:prstGeom prst="roundRect">
            <a:avLst>
              <a:gd name="adj" fmla="val 50000"/>
            </a:avLst>
          </a:prstGeom>
          <a:solidFill>
            <a:srgbClr val="0B2545"/>
          </a:solidFill>
          <a:ln/>
        </p:spPr>
      </p:sp>
      <p:sp>
        <p:nvSpPr>
          <p:cNvPr id="13" name="Text 11"/>
          <p:cNvSpPr/>
          <p:nvPr/>
        </p:nvSpPr>
        <p:spPr>
          <a:xfrm>
            <a:off x="6537960" y="1828800"/>
            <a:ext cx="446227"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DBMS</a:t>
            </a:r>
            <a:endParaRPr lang="en-US" sz="1050" dirty="0"/>
          </a:p>
        </p:txBody>
      </p:sp>
      <p:sp>
        <p:nvSpPr>
          <p:cNvPr id="14" name="Text 12"/>
          <p:cNvSpPr/>
          <p:nvPr/>
        </p:nvSpPr>
        <p:spPr>
          <a:xfrm>
            <a:off x="6537960" y="2240280"/>
            <a:ext cx="484632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Advantages</a:t>
            </a:r>
            <a:endParaRPr lang="en-US" sz="1300" dirty="0"/>
          </a:p>
        </p:txBody>
      </p:sp>
      <p:sp>
        <p:nvSpPr>
          <p:cNvPr id="15" name="Text 13"/>
          <p:cNvSpPr/>
          <p:nvPr/>
        </p:nvSpPr>
        <p:spPr>
          <a:xfrm>
            <a:off x="6537960" y="2560320"/>
            <a:ext cx="4846320" cy="1280160"/>
          </a:xfrm>
          <a:prstGeom prst="rect">
            <a:avLst/>
          </a:prstGeom>
          <a:noFill/>
          <a:ln/>
        </p:spPr>
        <p:txBody>
          <a:bodyPr wrap="square" rtlCol="0" anchor="t"/>
          <a:lstStyle/>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Centralized, consistent, and secure shared data</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Strong integrity, concurrency, and recovery support</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Scales to large multi-user applications</a:t>
            </a:r>
            <a:endParaRPr lang="en-US" sz="1150" dirty="0"/>
          </a:p>
        </p:txBody>
      </p:sp>
      <p:sp>
        <p:nvSpPr>
          <p:cNvPr id="16" name="Text 14"/>
          <p:cNvSpPr/>
          <p:nvPr/>
        </p:nvSpPr>
        <p:spPr>
          <a:xfrm>
            <a:off x="6537960" y="3886200"/>
            <a:ext cx="4846320" cy="320040"/>
          </a:xfrm>
          <a:prstGeom prst="rect">
            <a:avLst/>
          </a:prstGeom>
          <a:noFill/>
          <a:ln/>
        </p:spPr>
        <p:txBody>
          <a:bodyPr wrap="square" rtlCol="0" anchor="ctr"/>
          <a:lstStyle/>
          <a:p>
            <a:pPr indent="0" marL="0">
              <a:buNone/>
            </a:pPr>
            <a:r>
              <a:rPr lang="en-US" sz="1300" b="1" dirty="0">
                <a:solidFill>
                  <a:srgbClr val="B03A2E"/>
                </a:solidFill>
                <a:latin typeface="Calibri" pitchFamily="34" charset="0"/>
                <a:ea typeface="Calibri" pitchFamily="34" charset="-122"/>
                <a:cs typeface="Calibri" pitchFamily="34" charset="-120"/>
              </a:rPr>
              <a:t>Disadvantages</a:t>
            </a:r>
            <a:endParaRPr lang="en-US" sz="1300" dirty="0"/>
          </a:p>
        </p:txBody>
      </p:sp>
      <p:sp>
        <p:nvSpPr>
          <p:cNvPr id="17" name="Text 15"/>
          <p:cNvSpPr/>
          <p:nvPr/>
        </p:nvSpPr>
        <p:spPr>
          <a:xfrm>
            <a:off x="6537960" y="4206240"/>
            <a:ext cx="4846320" cy="1737360"/>
          </a:xfrm>
          <a:prstGeom prst="rect">
            <a:avLst/>
          </a:prstGeom>
          <a:noFill/>
          <a:ln/>
        </p:spPr>
        <p:txBody>
          <a:bodyPr wrap="square" rtlCol="0" anchor="t"/>
          <a:lstStyle/>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Higher cost of software, hardware, and licensing</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Requires skilled database administrators (DBAs)</a:t>
            </a:r>
            <a:endParaRPr lang="en-US" sz="1150" dirty="0"/>
          </a:p>
          <a:p>
            <a:pPr marL="228600" indent="-228600">
              <a:lnSpc>
                <a:spcPct val="108000"/>
              </a:lnSpc>
              <a:spcAft>
                <a:spcPts val="600"/>
              </a:spcAft>
              <a:buSzPct val="100000"/>
              <a:buChar char="▪"/>
            </a:pPr>
            <a:r>
              <a:rPr lang="en-US" sz="1150" dirty="0">
                <a:solidFill>
                  <a:srgbClr val="13253F"/>
                </a:solidFill>
                <a:latin typeface="Calibri" pitchFamily="34" charset="0"/>
                <a:ea typeface="Calibri" pitchFamily="34" charset="-122"/>
                <a:cs typeface="Calibri" pitchFamily="34" charset="-120"/>
              </a:rPr>
              <a:t>Added complexity for very simple use cases</a:t>
            </a:r>
            <a:endParaRPr lang="en-US" sz="1150" dirty="0"/>
          </a:p>
        </p:txBody>
      </p:sp>
      <p:sp>
        <p:nvSpPr>
          <p:cNvPr id="18" name="Text 1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02  ·  File-Based System vs DBMS</a:t>
            </a:r>
            <a:endParaRPr lang="en-US" sz="9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7</a:t>
            </a:r>
            <a:endParaRPr lang="en-US" sz="950" dirty="0"/>
          </a:p>
        </p:txBody>
      </p:sp>
      <p:sp>
        <p:nvSpPr>
          <p:cNvPr id="20" name="Shape 18"/>
          <p:cNvSpPr/>
          <p:nvPr/>
        </p:nvSpPr>
        <p:spPr>
          <a:xfrm>
            <a:off x="502920" y="6473952"/>
            <a:ext cx="11185855" cy="10973"/>
          </a:xfrm>
          <a:prstGeom prst="rect">
            <a:avLst/>
          </a:prstGeom>
          <a:solidFill>
            <a:srgbClr val="D4E4F7"/>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02  ·  FILE-BASED SYSTEM VS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Case Study: Banking Sector</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bank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From Ledgers to DBMS</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Legacy branch files replaced by one core banking database</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Legacy problem: each branch kept separate account files, risking mismatched balances.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A DBMS centralizes all accounts, so balance updates are instantly visible bank-wide.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Transaction management (ACID) ensures a fund transfer either fully completes or fully rolls back.</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Concurrency control lets thousands of ATMs and tellers transact simultaneously without conflicts.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Security and audit trails satisfy strict regulatory and compliance requirements.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Real-time reporting supports fraud detection and risk analysis.</a:t>
            </a:r>
            <a:endParaRPr lang="en-US" sz="13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02  ·  File-Based System vs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8</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02  ·  FILE-BASED SYSTEM VS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Case Study: Healthcare Sector</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hospital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Electronic Health Records</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One patient record shared safely across departments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Legacy problem: paper or per-department files scattered patient history across silos.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A DBMS unifies records so doctors, labs, and pharmacies see the same patient data.</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Access control restricts sensitive fields (e.g. diagnoses) to authorized staff only.</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Data integrity rules prevent conflicting drug or allergy entries that could harm patients.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Backup and recovery protect life-critical records from loss or corruption.</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Supports analytics for outbreak tracking, treatment outcomes, and resource planning.</a:t>
            </a:r>
            <a:endParaRPr lang="en-US" sz="13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02  ·  File-Based System vs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9</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02  ·  FILE-BASED SYSTEM VS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File-Based System vs DBMS — At a Glance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817352" cy="914400"/>
        </p:xfrm>
        <a:graphic>
          <a:graphicData uri="http://schemas.openxmlformats.org/drawingml/2006/table">
            <a:tbl>
              <a:tblPr/>
              <a:tblGrid>
                <a:gridCol w="2926080"/>
                <a:gridCol w="3941064"/>
                <a:gridCol w="3941064"/>
              </a:tblGrid>
              <a:tr h="47548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Criteria</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File-Based System</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DBMS</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Data Redundancy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High — duplicated across files</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Low — centralized storage</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Data Integrity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Hard to enforce</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Enforced via constraints</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Data Security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Minimal, per-file only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Role-based access control</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Concurrent Access</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Very limited</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Fully supported</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Backup &amp; Recovery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Manual, unreliable</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Automated, reliable</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Query Capability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Custom program per query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Declarative query language (SQL)</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475488">
                <a:tc>
                  <a:txBody>
                    <a:bodyPr/>
                    <a:lstStyle/>
                    <a:p>
                      <a:pPr algn="l" indent="0" marL="0">
                        <a:buNone/>
                      </a:pPr>
                      <a:r>
                        <a:rPr lang="en-US" sz="1250" b="1" dirty="0">
                          <a:solidFill>
                            <a:srgbClr val="0B2545"/>
                          </a:solidFill>
                          <a:latin typeface="Calibri" pitchFamily="34" charset="0"/>
                          <a:ea typeface="Calibri" pitchFamily="34" charset="-122"/>
                          <a:cs typeface="Calibri" pitchFamily="34" charset="-120"/>
                        </a:rPr>
                        <a:t>Scalability</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Poor for large systems</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53F"/>
                          </a:solidFill>
                          <a:latin typeface="Calibri" pitchFamily="34" charset="0"/>
                          <a:ea typeface="Calibri" pitchFamily="34" charset="-122"/>
                          <a:cs typeface="Calibri" pitchFamily="34" charset="-120"/>
                        </a:rPr>
                        <a:t>Designed for scale</a:t>
                      </a:r>
                      <a:endParaRPr lang="en-US" sz="12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02  ·  File-Based System vs DBMS</a:t>
            </a:r>
            <a:endParaRPr lang="en-US" sz="9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10</a:t>
            </a:r>
            <a:endParaRPr lang="en-US" sz="950" dirty="0"/>
          </a:p>
        </p:txBody>
      </p:sp>
      <p:sp>
        <p:nvSpPr>
          <p:cNvPr id="7" name="Shape 4"/>
          <p:cNvSpPr/>
          <p:nvPr/>
        </p:nvSpPr>
        <p:spPr>
          <a:xfrm>
            <a:off x="502920" y="6473952"/>
            <a:ext cx="11185855" cy="10973"/>
          </a:xfrm>
          <a:prstGeom prst="rect">
            <a:avLst/>
          </a:prstGeom>
          <a:solidFill>
            <a:srgbClr val="D4E4F7"/>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03  ·  ANSI/SPARC THREE-LEVEL ARCHITECTURE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External Level (View Level)</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eye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User Views</a:t>
            </a:r>
            <a:endParaRPr lang="en-US" sz="1250" dirty="0"/>
          </a:p>
        </p:txBody>
      </p:sp>
      <p:sp>
        <p:nvSpPr>
          <p:cNvPr id="8" name="Text 5"/>
          <p:cNvSpPr/>
          <p:nvPr/>
        </p:nvSpPr>
        <p:spPr>
          <a:xfrm>
            <a:off x="685800" y="4160520"/>
            <a:ext cx="2651760" cy="73152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Topmost, closest to individual end users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The highest level of abstraction — describes only the part of the database relevant to a specific user or application.</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Each user group gets a tailored "view" (e.g. a teller sees accounts, not employee salaries).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Hides irrelevant data and simplifies interaction for each user role.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Multiple external views can exist simultaneously over the same conceptual schema.</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Implemented in SQL using VIEW definitions.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Changes to a view do not affect other users or the underlying schema.</a:t>
            </a:r>
            <a:endParaRPr lang="en-US" sz="13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03  ·  ANSI/SPARC Three-Level Architecture</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11</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03  ·  ANSI/SPARC THREE-LEVEL ARCHITECTURE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Conceptual Level (Logical Level)</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layers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Community View</a:t>
            </a:r>
            <a:endParaRPr lang="en-US" sz="125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The single shared logical structure of the whole database</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Describes the complete logical structure of the database for the entire organization.</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Defines all entities, attributes, relationships, and constraints — independent of storage.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Acts as the single "community view" that unifies every external view.</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Hides physical storage details from users while hiding user-specific views from storage.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Managed by the Database Administrator (DBA) via the conceptual schema.</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Provides logical data independence — the middle layer of the architecture.</a:t>
            </a:r>
            <a:endParaRPr lang="en-US" sz="13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03  ·  ANSI/SPARC Three-Level Architecture</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12</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03  ·  ANSI/SPARC THREE-LEVEL ARCHITECTURE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Internal Level (Physical Level)</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server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Physical Storage</a:t>
            </a:r>
            <a:endParaRPr lang="en-US" sz="125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Lowest level — how data is actually stored on disk</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The lowest level of abstraction, closest to the physical storage hardware.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Describes how data is physically stored: files, indexes, block sizes, pointers.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Specifies storage allocation, compression, encryption, and access paths.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Optimized for performance — fast retrieval and efficient space usage.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Completely hidden from conceptual and external levels above it.</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Provides physical data independence — storage can change without affecting the schema.</a:t>
            </a:r>
            <a:endParaRPr lang="en-US" sz="135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03  ·  ANSI/SPARC Three-Level Architecture</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13</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03  ·  ANSI/SPARC THREE-LEVEL ARCHITECTURE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Three-Level Architecture</a:t>
            </a:r>
            <a:endParaRPr lang="en-US" sz="3000" dirty="0"/>
          </a:p>
        </p:txBody>
      </p:sp>
      <p:sp>
        <p:nvSpPr>
          <p:cNvPr id="4" name="Shape 2"/>
          <p:cNvSpPr/>
          <p:nvPr/>
        </p:nvSpPr>
        <p:spPr>
          <a:xfrm>
            <a:off x="1463040" y="1600200"/>
            <a:ext cx="1737360" cy="566928"/>
          </a:xfrm>
          <a:prstGeom prst="roundRect">
            <a:avLst>
              <a:gd name="adj" fmla="val 12903"/>
            </a:avLst>
          </a:prstGeom>
          <a:solidFill>
            <a:srgbClr val="5B9BD5"/>
          </a:solidFill>
          <a:ln/>
          <a:effectLst>
            <a:outerShdw sx="100000" sy="100000" kx="0" ky="0" algn="bl" rotWithShape="0" blurRad="63500" dist="25400" dir="5400000">
              <a:srgbClr val="13253F">
                <a:alpha val="15000"/>
              </a:srgbClr>
            </a:outerShdw>
          </a:effectLst>
        </p:spPr>
      </p:sp>
      <p:sp>
        <p:nvSpPr>
          <p:cNvPr id="5" name="Text 3"/>
          <p:cNvSpPr/>
          <p:nvPr/>
        </p:nvSpPr>
        <p:spPr>
          <a:xfrm>
            <a:off x="1508760" y="1600200"/>
            <a:ext cx="1645920" cy="566928"/>
          </a:xfrm>
          <a:prstGeom prst="rect">
            <a:avLst/>
          </a:prstGeom>
          <a:noFill/>
          <a:ln/>
        </p:spPr>
        <p:txBody>
          <a:bodyPr wrap="square" rtlCol="0" anchor="ctr"/>
          <a:lstStyle/>
          <a:p>
            <a:pPr algn="ctr" indent="0" marL="0">
              <a:lnSpc>
                <a:spcPct val="100000"/>
              </a:lnSpc>
              <a:buNone/>
            </a:pPr>
            <a:r>
              <a:rPr lang="en-US" sz="1050" b="1" dirty="0">
                <a:solidFill>
                  <a:srgbClr val="0B2545"/>
                </a:solidFill>
                <a:latin typeface="Calibri" pitchFamily="34" charset="0"/>
                <a:ea typeface="Calibri" pitchFamily="34" charset="-122"/>
                <a:cs typeface="Calibri" pitchFamily="34" charset="-120"/>
              </a:rPr>
              <a:t>View 1 — (Teller)</a:t>
            </a:r>
            <a:endParaRPr lang="en-US" sz="1050" dirty="0"/>
          </a:p>
        </p:txBody>
      </p:sp>
      <p:sp>
        <p:nvSpPr>
          <p:cNvPr id="6" name="Shape 4"/>
          <p:cNvSpPr/>
          <p:nvPr/>
        </p:nvSpPr>
        <p:spPr>
          <a:xfrm>
            <a:off x="5227168" y="1600200"/>
            <a:ext cx="1737360" cy="566928"/>
          </a:xfrm>
          <a:prstGeom prst="roundRect">
            <a:avLst>
              <a:gd name="adj" fmla="val 12903"/>
            </a:avLst>
          </a:prstGeom>
          <a:solidFill>
            <a:srgbClr val="5B9BD5"/>
          </a:solidFill>
          <a:ln/>
          <a:effectLst>
            <a:outerShdw sx="100000" sy="100000" kx="0" ky="0" algn="bl" rotWithShape="0" blurRad="63500" dist="25400" dir="5400000">
              <a:srgbClr val="13253F">
                <a:alpha val="15000"/>
              </a:srgbClr>
            </a:outerShdw>
          </a:effectLst>
        </p:spPr>
      </p:sp>
      <p:sp>
        <p:nvSpPr>
          <p:cNvPr id="7" name="Text 5"/>
          <p:cNvSpPr/>
          <p:nvPr/>
        </p:nvSpPr>
        <p:spPr>
          <a:xfrm>
            <a:off x="5272888" y="1600200"/>
            <a:ext cx="1645920" cy="566928"/>
          </a:xfrm>
          <a:prstGeom prst="rect">
            <a:avLst/>
          </a:prstGeom>
          <a:noFill/>
          <a:ln/>
        </p:spPr>
        <p:txBody>
          <a:bodyPr wrap="square" rtlCol="0" anchor="ctr"/>
          <a:lstStyle/>
          <a:p>
            <a:pPr algn="ctr" indent="0" marL="0">
              <a:lnSpc>
                <a:spcPct val="100000"/>
              </a:lnSpc>
              <a:buNone/>
            </a:pPr>
            <a:r>
              <a:rPr lang="en-US" sz="1050" b="1" dirty="0">
                <a:solidFill>
                  <a:srgbClr val="0B2545"/>
                </a:solidFill>
                <a:latin typeface="Calibri" pitchFamily="34" charset="0"/>
                <a:ea typeface="Calibri" pitchFamily="34" charset="-122"/>
                <a:cs typeface="Calibri" pitchFamily="34" charset="-120"/>
              </a:rPr>
              <a:t>View 2 — (Manager)</a:t>
            </a:r>
            <a:endParaRPr lang="en-US" sz="1050" dirty="0"/>
          </a:p>
        </p:txBody>
      </p:sp>
      <p:sp>
        <p:nvSpPr>
          <p:cNvPr id="8" name="Shape 6"/>
          <p:cNvSpPr/>
          <p:nvPr/>
        </p:nvSpPr>
        <p:spPr>
          <a:xfrm>
            <a:off x="9418320" y="1600200"/>
            <a:ext cx="1737360" cy="566928"/>
          </a:xfrm>
          <a:prstGeom prst="roundRect">
            <a:avLst>
              <a:gd name="adj" fmla="val 12903"/>
            </a:avLst>
          </a:prstGeom>
          <a:solidFill>
            <a:srgbClr val="5B9BD5"/>
          </a:solidFill>
          <a:ln/>
          <a:effectLst>
            <a:outerShdw sx="100000" sy="100000" kx="0" ky="0" algn="bl" rotWithShape="0" blurRad="63500" dist="25400" dir="5400000">
              <a:srgbClr val="13253F">
                <a:alpha val="15000"/>
              </a:srgbClr>
            </a:outerShdw>
          </a:effectLst>
        </p:spPr>
      </p:sp>
      <p:sp>
        <p:nvSpPr>
          <p:cNvPr id="9" name="Text 7"/>
          <p:cNvSpPr/>
          <p:nvPr/>
        </p:nvSpPr>
        <p:spPr>
          <a:xfrm>
            <a:off x="9464040" y="1600200"/>
            <a:ext cx="1645920" cy="566928"/>
          </a:xfrm>
          <a:prstGeom prst="rect">
            <a:avLst/>
          </a:prstGeom>
          <a:noFill/>
          <a:ln/>
        </p:spPr>
        <p:txBody>
          <a:bodyPr wrap="square" rtlCol="0" anchor="ctr"/>
          <a:lstStyle/>
          <a:p>
            <a:pPr algn="ctr" indent="0" marL="0">
              <a:lnSpc>
                <a:spcPct val="100000"/>
              </a:lnSpc>
              <a:buNone/>
            </a:pPr>
            <a:r>
              <a:rPr lang="en-US" sz="1050" b="1" dirty="0">
                <a:solidFill>
                  <a:srgbClr val="0B2545"/>
                </a:solidFill>
                <a:latin typeface="Calibri" pitchFamily="34" charset="0"/>
                <a:ea typeface="Calibri" pitchFamily="34" charset="-122"/>
                <a:cs typeface="Calibri" pitchFamily="34" charset="-120"/>
              </a:rPr>
              <a:t>View 3 — (Auditor)</a:t>
            </a:r>
            <a:endParaRPr lang="en-US" sz="1050" dirty="0"/>
          </a:p>
        </p:txBody>
      </p:sp>
      <p:sp>
        <p:nvSpPr>
          <p:cNvPr id="10" name="Shape 8"/>
          <p:cNvSpPr/>
          <p:nvPr/>
        </p:nvSpPr>
        <p:spPr>
          <a:xfrm>
            <a:off x="2331720" y="2167128"/>
            <a:ext cx="3764128" cy="530352"/>
          </a:xfrm>
          <a:prstGeom prst="line">
            <a:avLst/>
          </a:prstGeom>
          <a:noFill/>
          <a:ln w="15875">
            <a:solidFill>
              <a:srgbClr val="4C6076"/>
            </a:solidFill>
            <a:prstDash val="solid"/>
          </a:ln>
        </p:spPr>
      </p:sp>
      <p:sp>
        <p:nvSpPr>
          <p:cNvPr id="11" name="Shape 9"/>
          <p:cNvSpPr/>
          <p:nvPr/>
        </p:nvSpPr>
        <p:spPr>
          <a:xfrm>
            <a:off x="6095848" y="2167128"/>
            <a:ext cx="9144" cy="530352"/>
          </a:xfrm>
          <a:prstGeom prst="line">
            <a:avLst/>
          </a:prstGeom>
          <a:noFill/>
          <a:ln w="15875">
            <a:solidFill>
              <a:srgbClr val="4C6076"/>
            </a:solidFill>
            <a:prstDash val="solid"/>
          </a:ln>
        </p:spPr>
      </p:sp>
      <p:sp>
        <p:nvSpPr>
          <p:cNvPr id="12" name="Shape 10"/>
          <p:cNvSpPr/>
          <p:nvPr/>
        </p:nvSpPr>
        <p:spPr>
          <a:xfrm flipH="1">
            <a:off x="6095848" y="2167128"/>
            <a:ext cx="4191152" cy="530352"/>
          </a:xfrm>
          <a:prstGeom prst="line">
            <a:avLst/>
          </a:prstGeom>
          <a:noFill/>
          <a:ln w="15875">
            <a:solidFill>
              <a:srgbClr val="4C6076"/>
            </a:solidFill>
            <a:prstDash val="solid"/>
          </a:ln>
        </p:spPr>
      </p:sp>
      <p:sp>
        <p:nvSpPr>
          <p:cNvPr id="13" name="Shape 11"/>
          <p:cNvSpPr/>
          <p:nvPr/>
        </p:nvSpPr>
        <p:spPr>
          <a:xfrm>
            <a:off x="3718408" y="2697480"/>
            <a:ext cx="4754880" cy="685800"/>
          </a:xfrm>
          <a:prstGeom prst="roundRect">
            <a:avLst>
              <a:gd name="adj" fmla="val 10667"/>
            </a:avLst>
          </a:prstGeom>
          <a:solidFill>
            <a:srgbClr val="1E5AA8"/>
          </a:solidFill>
          <a:ln/>
          <a:effectLst>
            <a:outerShdw sx="100000" sy="100000" kx="0" ky="0" algn="bl" rotWithShape="0" blurRad="63500" dist="25400" dir="5400000">
              <a:srgbClr val="13253F">
                <a:alpha val="15000"/>
              </a:srgbClr>
            </a:outerShdw>
          </a:effectLst>
        </p:spPr>
      </p:sp>
      <p:sp>
        <p:nvSpPr>
          <p:cNvPr id="14" name="Text 12"/>
          <p:cNvSpPr/>
          <p:nvPr/>
        </p:nvSpPr>
        <p:spPr>
          <a:xfrm>
            <a:off x="3764128" y="2697480"/>
            <a:ext cx="4663440" cy="685800"/>
          </a:xfrm>
          <a:prstGeom prst="rect">
            <a:avLst/>
          </a:prstGeom>
          <a:noFill/>
          <a:ln/>
        </p:spPr>
        <p:txBody>
          <a:bodyPr wrap="square"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EXTERNAL LEVEL  (Views)</a:t>
            </a:r>
            <a:endParaRPr lang="en-US" sz="1300" dirty="0"/>
          </a:p>
        </p:txBody>
      </p:sp>
      <p:sp>
        <p:nvSpPr>
          <p:cNvPr id="15" name="Shape 13"/>
          <p:cNvSpPr/>
          <p:nvPr/>
        </p:nvSpPr>
        <p:spPr>
          <a:xfrm>
            <a:off x="5995264" y="3456432"/>
            <a:ext cx="201168" cy="256032"/>
          </a:xfrm>
          <a:prstGeom prst="downArrow">
            <a:avLst/>
          </a:prstGeom>
          <a:solidFill>
            <a:srgbClr val="1E5AA8"/>
          </a:solidFill>
          <a:ln/>
        </p:spPr>
      </p:sp>
      <p:sp>
        <p:nvSpPr>
          <p:cNvPr id="16" name="Text 14"/>
          <p:cNvSpPr/>
          <p:nvPr/>
        </p:nvSpPr>
        <p:spPr>
          <a:xfrm>
            <a:off x="6260440" y="3456432"/>
            <a:ext cx="1097280" cy="256032"/>
          </a:xfrm>
          <a:prstGeom prst="rect">
            <a:avLst/>
          </a:prstGeom>
          <a:noFill/>
          <a:ln/>
        </p:spPr>
        <p:txBody>
          <a:bodyPr wrap="square" rtlCol="0" anchor="ctr"/>
          <a:lstStyle/>
          <a:p>
            <a:pPr indent="0" marL="0">
              <a:buNone/>
            </a:pPr>
            <a:r>
              <a:rPr lang="en-US" sz="900" i="1" dirty="0">
                <a:solidFill>
                  <a:srgbClr val="4C6076"/>
                </a:solidFill>
                <a:latin typeface="Calibri" pitchFamily="34" charset="0"/>
                <a:ea typeface="Calibri" pitchFamily="34" charset="-122"/>
                <a:cs typeface="Calibri" pitchFamily="34" charset="-120"/>
              </a:rPr>
              <a:t>mapping</a:t>
            </a:r>
            <a:endParaRPr lang="en-US" sz="900" dirty="0"/>
          </a:p>
        </p:txBody>
      </p:sp>
      <p:sp>
        <p:nvSpPr>
          <p:cNvPr id="17" name="Shape 15"/>
          <p:cNvSpPr/>
          <p:nvPr/>
        </p:nvSpPr>
        <p:spPr>
          <a:xfrm>
            <a:off x="2986888" y="3794760"/>
            <a:ext cx="6217920" cy="685800"/>
          </a:xfrm>
          <a:prstGeom prst="roundRect">
            <a:avLst>
              <a:gd name="adj" fmla="val 10667"/>
            </a:avLst>
          </a:prstGeom>
          <a:solidFill>
            <a:srgbClr val="0B2545"/>
          </a:solidFill>
          <a:ln/>
          <a:effectLst>
            <a:outerShdw sx="100000" sy="100000" kx="0" ky="0" algn="bl" rotWithShape="0" blurRad="63500" dist="25400" dir="5400000">
              <a:srgbClr val="13253F">
                <a:alpha val="15000"/>
              </a:srgbClr>
            </a:outerShdw>
          </a:effectLst>
        </p:spPr>
      </p:sp>
      <p:sp>
        <p:nvSpPr>
          <p:cNvPr id="18" name="Text 16"/>
          <p:cNvSpPr/>
          <p:nvPr/>
        </p:nvSpPr>
        <p:spPr>
          <a:xfrm>
            <a:off x="3032608" y="3794760"/>
            <a:ext cx="6126480" cy="685800"/>
          </a:xfrm>
          <a:prstGeom prst="rect">
            <a:avLst/>
          </a:prstGeom>
          <a:noFill/>
          <a:ln/>
        </p:spPr>
        <p:txBody>
          <a:bodyPr wrap="square"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CONCEPTUAL LEVEL  (Logical Schema)</a:t>
            </a:r>
            <a:endParaRPr lang="en-US" sz="1300" dirty="0"/>
          </a:p>
        </p:txBody>
      </p:sp>
      <p:sp>
        <p:nvSpPr>
          <p:cNvPr id="19" name="Shape 17"/>
          <p:cNvSpPr/>
          <p:nvPr/>
        </p:nvSpPr>
        <p:spPr>
          <a:xfrm>
            <a:off x="5995264" y="4553712"/>
            <a:ext cx="201168" cy="256032"/>
          </a:xfrm>
          <a:prstGeom prst="downArrow">
            <a:avLst/>
          </a:prstGeom>
          <a:solidFill>
            <a:srgbClr val="1E5AA8"/>
          </a:solidFill>
          <a:ln/>
        </p:spPr>
      </p:sp>
      <p:sp>
        <p:nvSpPr>
          <p:cNvPr id="20" name="Text 18"/>
          <p:cNvSpPr/>
          <p:nvPr/>
        </p:nvSpPr>
        <p:spPr>
          <a:xfrm>
            <a:off x="6260440" y="4553712"/>
            <a:ext cx="1097280" cy="256032"/>
          </a:xfrm>
          <a:prstGeom prst="rect">
            <a:avLst/>
          </a:prstGeom>
          <a:noFill/>
          <a:ln/>
        </p:spPr>
        <p:txBody>
          <a:bodyPr wrap="square" rtlCol="0" anchor="ctr"/>
          <a:lstStyle/>
          <a:p>
            <a:pPr indent="0" marL="0">
              <a:buNone/>
            </a:pPr>
            <a:r>
              <a:rPr lang="en-US" sz="900" i="1" dirty="0">
                <a:solidFill>
                  <a:srgbClr val="4C6076"/>
                </a:solidFill>
                <a:latin typeface="Calibri" pitchFamily="34" charset="0"/>
                <a:ea typeface="Calibri" pitchFamily="34" charset="-122"/>
                <a:cs typeface="Calibri" pitchFamily="34" charset="-120"/>
              </a:rPr>
              <a:t>mapping</a:t>
            </a:r>
            <a:endParaRPr lang="en-US" sz="900" dirty="0"/>
          </a:p>
        </p:txBody>
      </p:sp>
      <p:sp>
        <p:nvSpPr>
          <p:cNvPr id="21" name="Shape 19"/>
          <p:cNvSpPr/>
          <p:nvPr/>
        </p:nvSpPr>
        <p:spPr>
          <a:xfrm>
            <a:off x="2255368" y="4892040"/>
            <a:ext cx="7680960" cy="685800"/>
          </a:xfrm>
          <a:prstGeom prst="roundRect">
            <a:avLst>
              <a:gd name="adj" fmla="val 10667"/>
            </a:avLst>
          </a:prstGeom>
          <a:solidFill>
            <a:srgbClr val="13355C"/>
          </a:solidFill>
          <a:ln/>
          <a:effectLst>
            <a:outerShdw sx="100000" sy="100000" kx="0" ky="0" algn="bl" rotWithShape="0" blurRad="63500" dist="25400" dir="5400000">
              <a:srgbClr val="13253F">
                <a:alpha val="15000"/>
              </a:srgbClr>
            </a:outerShdw>
          </a:effectLst>
        </p:spPr>
      </p:sp>
      <p:sp>
        <p:nvSpPr>
          <p:cNvPr id="22" name="Text 20"/>
          <p:cNvSpPr/>
          <p:nvPr/>
        </p:nvSpPr>
        <p:spPr>
          <a:xfrm>
            <a:off x="2301088" y="4892040"/>
            <a:ext cx="7589520" cy="685800"/>
          </a:xfrm>
          <a:prstGeom prst="rect">
            <a:avLst/>
          </a:prstGeom>
          <a:noFill/>
          <a:ln/>
        </p:spPr>
        <p:txBody>
          <a:bodyPr wrap="square"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INTERNAL LEVEL  (Physical Storage)</a:t>
            </a:r>
            <a:endParaRPr lang="en-US" sz="1300" dirty="0"/>
          </a:p>
        </p:txBody>
      </p:sp>
      <p:sp>
        <p:nvSpPr>
          <p:cNvPr id="23" name="Shape 21"/>
          <p:cNvSpPr/>
          <p:nvPr/>
        </p:nvSpPr>
        <p:spPr>
          <a:xfrm>
            <a:off x="1889608" y="5742432"/>
            <a:ext cx="8412480" cy="566928"/>
          </a:xfrm>
          <a:prstGeom prst="roundRect">
            <a:avLst>
              <a:gd name="adj" fmla="val 16129"/>
            </a:avLst>
          </a:prstGeom>
          <a:solidFill>
            <a:srgbClr val="EAF2FB"/>
          </a:solidFill>
          <a:ln/>
        </p:spPr>
      </p:sp>
      <p:sp>
        <p:nvSpPr>
          <p:cNvPr id="24" name="Text 22"/>
          <p:cNvSpPr/>
          <p:nvPr/>
        </p:nvSpPr>
        <p:spPr>
          <a:xfrm>
            <a:off x="1981048" y="5742432"/>
            <a:ext cx="8229600" cy="566928"/>
          </a:xfrm>
          <a:prstGeom prst="rect">
            <a:avLst/>
          </a:prstGeom>
          <a:noFill/>
          <a:ln/>
        </p:spPr>
        <p:txBody>
          <a:bodyPr wrap="square" rtlCol="0" anchor="ctr"/>
          <a:lstStyle/>
          <a:p>
            <a:pPr algn="ctr" indent="0" marL="0">
              <a:buNone/>
            </a:pPr>
            <a:r>
              <a:rPr lang="en-US" sz="1050" i="1" dirty="0">
                <a:solidFill>
                  <a:srgbClr val="0B2545"/>
                </a:solidFill>
                <a:latin typeface="Calibri" pitchFamily="34" charset="0"/>
                <a:ea typeface="Calibri" pitchFamily="34" charset="-122"/>
                <a:cs typeface="Calibri" pitchFamily="34" charset="-120"/>
              </a:rPr>
              <a:t>Two mapping layers give data independence: change storage without touching the schema; change the schema without breaking every view.</a:t>
            </a:r>
            <a:endParaRPr lang="en-US" sz="1050" dirty="0"/>
          </a:p>
        </p:txBody>
      </p:sp>
      <p:sp>
        <p:nvSpPr>
          <p:cNvPr id="25" name="Text 23"/>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03  ·  ANSI/SPARC Three-Level Architecture</a:t>
            </a:r>
            <a:endParaRPr lang="en-US" sz="950" dirty="0"/>
          </a:p>
        </p:txBody>
      </p:sp>
      <p:sp>
        <p:nvSpPr>
          <p:cNvPr id="26" name="Text 24"/>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14</a:t>
            </a:r>
            <a:endParaRPr lang="en-US" sz="950" dirty="0"/>
          </a:p>
        </p:txBody>
      </p:sp>
      <p:sp>
        <p:nvSpPr>
          <p:cNvPr id="27" name="Shape 25"/>
          <p:cNvSpPr/>
          <p:nvPr/>
        </p:nvSpPr>
        <p:spPr>
          <a:xfrm>
            <a:off x="502920" y="6473952"/>
            <a:ext cx="11185855" cy="10973"/>
          </a:xfrm>
          <a:prstGeom prst="rect">
            <a:avLst/>
          </a:prstGeom>
          <a:solidFill>
            <a:srgbClr val="D4E4F7"/>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03  ·  ANSI/SPARC THREE-LEVEL ARCHITECTURE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Practical Examples by Level</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17352" cy="914400"/>
        </p:xfrm>
        <a:graphic>
          <a:graphicData uri="http://schemas.openxmlformats.org/drawingml/2006/table">
            <a:tbl>
              <a:tblPr/>
              <a:tblGrid>
                <a:gridCol w="2103120"/>
                <a:gridCol w="3200400"/>
                <a:gridCol w="5513832"/>
              </a:tblGrid>
              <a:tr h="8686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Concern</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Example</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86868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External</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What a specific user sees</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A "Customer Portal" SQL view showing only order history, no internal cost data</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86868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Conceptual</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Overall logical structure</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ER schema defining Customer, Order, Product tables and their relationships</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86868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Internal</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Physical storage details</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B-tree index on Order.customer_id stored across 4KB disk blocks</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bl>
          </a:graphicData>
        </a:graphic>
      </p:graphicFrame>
      <p:sp>
        <p:nvSpPr>
          <p:cNvPr id="5" name="Text 2"/>
          <p:cNvSpPr/>
          <p:nvPr/>
        </p:nvSpPr>
        <p:spPr>
          <a:xfrm>
            <a:off x="685800" y="4892040"/>
            <a:ext cx="10817352" cy="822960"/>
          </a:xfrm>
          <a:prstGeom prst="rect">
            <a:avLst/>
          </a:prstGeom>
          <a:noFill/>
          <a:ln/>
        </p:spPr>
        <p:txBody>
          <a:bodyPr wrap="square" rtlCol="0" anchor="ctr"/>
          <a:lstStyle/>
          <a:p>
            <a:pPr indent="0" marL="0">
              <a:lnSpc>
                <a:spcPct val="120000"/>
              </a:lnSpc>
              <a:buNone/>
            </a:pPr>
            <a:r>
              <a:rPr lang="en-US" sz="1200" i="1" dirty="0">
                <a:solidFill>
                  <a:srgbClr val="4C6076"/>
                </a:solidFill>
                <a:latin typeface="Calibri" pitchFamily="34" charset="0"/>
                <a:ea typeface="Calibri" pitchFamily="34" charset="-122"/>
                <a:cs typeface="Calibri" pitchFamily="34" charset="-120"/>
              </a:rPr>
              <a:t>Changing the index type at the Internal level (e.g. B-tree to hash index) does not require altering the Conceptual schema or any External view — this is data independence in action.</a:t>
            </a:r>
            <a:endParaRPr lang="en-US" sz="1200" dirty="0"/>
          </a:p>
        </p:txBody>
      </p:sp>
      <p:sp>
        <p:nvSpPr>
          <p:cNvPr id="6" name="Text 3"/>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03  ·  ANSI/SPARC Three-Level Architecture</a:t>
            </a:r>
            <a:endParaRPr lang="en-US" sz="950" dirty="0"/>
          </a:p>
        </p:txBody>
      </p:sp>
      <p:sp>
        <p:nvSpPr>
          <p:cNvPr id="7" name="Text 4"/>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15</a:t>
            </a:r>
            <a:endParaRPr lang="en-US" sz="950" dirty="0"/>
          </a:p>
        </p:txBody>
      </p:sp>
      <p:sp>
        <p:nvSpPr>
          <p:cNvPr id="8" name="Shape 5"/>
          <p:cNvSpPr/>
          <p:nvPr/>
        </p:nvSpPr>
        <p:spPr>
          <a:xfrm>
            <a:off x="502920" y="6473952"/>
            <a:ext cx="11185855" cy="10973"/>
          </a:xfrm>
          <a:prstGeom prst="rect">
            <a:avLst/>
          </a:prstGeom>
          <a:solidFill>
            <a:srgbClr val="D4E4F7"/>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04  ·  DATA MODELS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Hierarchical Data Model</a:t>
            </a:r>
            <a:endParaRPr lang="en-US" sz="3000" dirty="0"/>
          </a:p>
        </p:txBody>
      </p:sp>
      <p:sp>
        <p:nvSpPr>
          <p:cNvPr id="4" name="Shape 2"/>
          <p:cNvSpPr/>
          <p:nvPr/>
        </p:nvSpPr>
        <p:spPr>
          <a:xfrm>
            <a:off x="8138160" y="1737360"/>
            <a:ext cx="2377440" cy="502920"/>
          </a:xfrm>
          <a:prstGeom prst="roundRect">
            <a:avLst>
              <a:gd name="adj" fmla="val 14545"/>
            </a:avLst>
          </a:prstGeom>
          <a:solidFill>
            <a:srgbClr val="0B2545"/>
          </a:solidFill>
          <a:ln/>
          <a:effectLst>
            <a:outerShdw sx="100000" sy="100000" kx="0" ky="0" algn="bl" rotWithShape="0" blurRad="63500" dist="25400" dir="5400000">
              <a:srgbClr val="13253F">
                <a:alpha val="15000"/>
              </a:srgbClr>
            </a:outerShdw>
          </a:effectLst>
        </p:spPr>
      </p:sp>
      <p:sp>
        <p:nvSpPr>
          <p:cNvPr id="5" name="Text 3"/>
          <p:cNvSpPr/>
          <p:nvPr/>
        </p:nvSpPr>
        <p:spPr>
          <a:xfrm>
            <a:off x="8183880" y="1737360"/>
            <a:ext cx="2286000" cy="502920"/>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Company</a:t>
            </a:r>
            <a:endParaRPr lang="en-US" sz="1200" dirty="0"/>
          </a:p>
        </p:txBody>
      </p:sp>
      <p:sp>
        <p:nvSpPr>
          <p:cNvPr id="6" name="Shape 4"/>
          <p:cNvSpPr/>
          <p:nvPr/>
        </p:nvSpPr>
        <p:spPr>
          <a:xfrm flipH="1">
            <a:off x="8778240" y="2240280"/>
            <a:ext cx="548640" cy="548640"/>
          </a:xfrm>
          <a:prstGeom prst="line">
            <a:avLst/>
          </a:prstGeom>
          <a:noFill/>
          <a:ln w="19050">
            <a:solidFill>
              <a:srgbClr val="4C6076"/>
            </a:solidFill>
            <a:prstDash val="solid"/>
          </a:ln>
        </p:spPr>
      </p:sp>
      <p:sp>
        <p:nvSpPr>
          <p:cNvPr id="7" name="Shape 5"/>
          <p:cNvSpPr/>
          <p:nvPr/>
        </p:nvSpPr>
        <p:spPr>
          <a:xfrm>
            <a:off x="9326880" y="2240280"/>
            <a:ext cx="640080" cy="548640"/>
          </a:xfrm>
          <a:prstGeom prst="line">
            <a:avLst/>
          </a:prstGeom>
          <a:noFill/>
          <a:ln w="19050">
            <a:solidFill>
              <a:srgbClr val="4C6076"/>
            </a:solidFill>
            <a:prstDash val="solid"/>
          </a:ln>
        </p:spPr>
      </p:sp>
      <p:sp>
        <p:nvSpPr>
          <p:cNvPr id="8" name="Shape 6"/>
          <p:cNvSpPr/>
          <p:nvPr/>
        </p:nvSpPr>
        <p:spPr>
          <a:xfrm>
            <a:off x="7589520" y="2788920"/>
            <a:ext cx="1920240" cy="457200"/>
          </a:xfrm>
          <a:prstGeom prst="roundRect">
            <a:avLst>
              <a:gd name="adj" fmla="val 16000"/>
            </a:avLst>
          </a:prstGeom>
          <a:solidFill>
            <a:srgbClr val="1E5AA8"/>
          </a:solidFill>
          <a:ln/>
          <a:effectLst>
            <a:outerShdw sx="100000" sy="100000" kx="0" ky="0" algn="bl" rotWithShape="0" blurRad="63500" dist="25400" dir="5400000">
              <a:srgbClr val="13253F">
                <a:alpha val="15000"/>
              </a:srgbClr>
            </a:outerShdw>
          </a:effectLst>
        </p:spPr>
      </p:sp>
      <p:sp>
        <p:nvSpPr>
          <p:cNvPr id="9" name="Text 7"/>
          <p:cNvSpPr/>
          <p:nvPr/>
        </p:nvSpPr>
        <p:spPr>
          <a:xfrm>
            <a:off x="7635240" y="2788920"/>
            <a:ext cx="1828800" cy="45720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Department</a:t>
            </a:r>
            <a:endParaRPr lang="en-US" sz="1050" dirty="0"/>
          </a:p>
        </p:txBody>
      </p:sp>
      <p:sp>
        <p:nvSpPr>
          <p:cNvPr id="10" name="Shape 8"/>
          <p:cNvSpPr/>
          <p:nvPr/>
        </p:nvSpPr>
        <p:spPr>
          <a:xfrm>
            <a:off x="9738360" y="2788920"/>
            <a:ext cx="1920240" cy="457200"/>
          </a:xfrm>
          <a:prstGeom prst="roundRect">
            <a:avLst>
              <a:gd name="adj" fmla="val 16000"/>
            </a:avLst>
          </a:prstGeom>
          <a:solidFill>
            <a:srgbClr val="1E5AA8"/>
          </a:solidFill>
          <a:ln/>
          <a:effectLst>
            <a:outerShdw sx="100000" sy="100000" kx="0" ky="0" algn="bl" rotWithShape="0" blurRad="63500" dist="25400" dir="5400000">
              <a:srgbClr val="13253F">
                <a:alpha val="15000"/>
              </a:srgbClr>
            </a:outerShdw>
          </a:effectLst>
        </p:spPr>
      </p:sp>
      <p:sp>
        <p:nvSpPr>
          <p:cNvPr id="11" name="Text 9"/>
          <p:cNvSpPr/>
          <p:nvPr/>
        </p:nvSpPr>
        <p:spPr>
          <a:xfrm>
            <a:off x="9784080" y="2788920"/>
            <a:ext cx="1828800" cy="45720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Department</a:t>
            </a:r>
            <a:endParaRPr lang="en-US" sz="1050" dirty="0"/>
          </a:p>
        </p:txBody>
      </p:sp>
      <p:sp>
        <p:nvSpPr>
          <p:cNvPr id="12" name="Shape 10"/>
          <p:cNvSpPr/>
          <p:nvPr/>
        </p:nvSpPr>
        <p:spPr>
          <a:xfrm flipH="1">
            <a:off x="7955280" y="3246120"/>
            <a:ext cx="594360" cy="457200"/>
          </a:xfrm>
          <a:prstGeom prst="line">
            <a:avLst/>
          </a:prstGeom>
          <a:noFill/>
          <a:ln w="19050">
            <a:solidFill>
              <a:srgbClr val="4C6076"/>
            </a:solidFill>
            <a:prstDash val="solid"/>
          </a:ln>
        </p:spPr>
      </p:sp>
      <p:sp>
        <p:nvSpPr>
          <p:cNvPr id="13" name="Shape 11"/>
          <p:cNvSpPr/>
          <p:nvPr/>
        </p:nvSpPr>
        <p:spPr>
          <a:xfrm>
            <a:off x="8549640" y="3246120"/>
            <a:ext cx="594360" cy="457200"/>
          </a:xfrm>
          <a:prstGeom prst="line">
            <a:avLst/>
          </a:prstGeom>
          <a:noFill/>
          <a:ln w="19050">
            <a:solidFill>
              <a:srgbClr val="4C6076"/>
            </a:solidFill>
            <a:prstDash val="solid"/>
          </a:ln>
        </p:spPr>
      </p:sp>
      <p:sp>
        <p:nvSpPr>
          <p:cNvPr id="14" name="Shape 12"/>
          <p:cNvSpPr/>
          <p:nvPr/>
        </p:nvSpPr>
        <p:spPr>
          <a:xfrm>
            <a:off x="7360920" y="3703320"/>
            <a:ext cx="1463040" cy="411480"/>
          </a:xfrm>
          <a:prstGeom prst="roundRect">
            <a:avLst>
              <a:gd name="adj" fmla="val 17778"/>
            </a:avLst>
          </a:prstGeom>
          <a:solidFill>
            <a:srgbClr val="5B9BD5"/>
          </a:solidFill>
          <a:ln/>
          <a:effectLst>
            <a:outerShdw sx="100000" sy="100000" kx="0" ky="0" algn="bl" rotWithShape="0" blurRad="63500" dist="25400" dir="5400000">
              <a:srgbClr val="13253F">
                <a:alpha val="15000"/>
              </a:srgbClr>
            </a:outerShdw>
          </a:effectLst>
        </p:spPr>
      </p:sp>
      <p:sp>
        <p:nvSpPr>
          <p:cNvPr id="15" name="Text 13"/>
          <p:cNvSpPr/>
          <p:nvPr/>
        </p:nvSpPr>
        <p:spPr>
          <a:xfrm>
            <a:off x="7406640" y="3703320"/>
            <a:ext cx="1371600" cy="411480"/>
          </a:xfrm>
          <a:prstGeom prst="rect">
            <a:avLst/>
          </a:prstGeom>
          <a:noFill/>
          <a:ln/>
        </p:spPr>
        <p:txBody>
          <a:bodyPr wrap="square" rtlCol="0" anchor="ctr"/>
          <a:lstStyle/>
          <a:p>
            <a:pPr algn="ctr" indent="0" marL="0">
              <a:lnSpc>
                <a:spcPct val="100000"/>
              </a:lnSpc>
              <a:buNone/>
            </a:pPr>
            <a:r>
              <a:rPr lang="en-US" sz="950" b="1" dirty="0">
                <a:solidFill>
                  <a:srgbClr val="0B2545"/>
                </a:solidFill>
                <a:latin typeface="Calibri" pitchFamily="34" charset="0"/>
                <a:ea typeface="Calibri" pitchFamily="34" charset="-122"/>
                <a:cs typeface="Calibri" pitchFamily="34" charset="-120"/>
              </a:rPr>
              <a:t>Employee</a:t>
            </a:r>
            <a:endParaRPr lang="en-US" sz="950" dirty="0"/>
          </a:p>
        </p:txBody>
      </p:sp>
      <p:sp>
        <p:nvSpPr>
          <p:cNvPr id="16" name="Shape 14"/>
          <p:cNvSpPr/>
          <p:nvPr/>
        </p:nvSpPr>
        <p:spPr>
          <a:xfrm>
            <a:off x="8915400" y="3703320"/>
            <a:ext cx="1463040" cy="411480"/>
          </a:xfrm>
          <a:prstGeom prst="roundRect">
            <a:avLst>
              <a:gd name="adj" fmla="val 17778"/>
            </a:avLst>
          </a:prstGeom>
          <a:solidFill>
            <a:srgbClr val="5B9BD5"/>
          </a:solidFill>
          <a:ln/>
          <a:effectLst>
            <a:outerShdw sx="100000" sy="100000" kx="0" ky="0" algn="bl" rotWithShape="0" blurRad="63500" dist="25400" dir="5400000">
              <a:srgbClr val="13253F">
                <a:alpha val="15000"/>
              </a:srgbClr>
            </a:outerShdw>
          </a:effectLst>
        </p:spPr>
      </p:sp>
      <p:sp>
        <p:nvSpPr>
          <p:cNvPr id="17" name="Text 15"/>
          <p:cNvSpPr/>
          <p:nvPr/>
        </p:nvSpPr>
        <p:spPr>
          <a:xfrm>
            <a:off x="8961120" y="3703320"/>
            <a:ext cx="1371600" cy="411480"/>
          </a:xfrm>
          <a:prstGeom prst="rect">
            <a:avLst/>
          </a:prstGeom>
          <a:noFill/>
          <a:ln/>
        </p:spPr>
        <p:txBody>
          <a:bodyPr wrap="square" rtlCol="0" anchor="ctr"/>
          <a:lstStyle/>
          <a:p>
            <a:pPr algn="ctr" indent="0" marL="0">
              <a:lnSpc>
                <a:spcPct val="100000"/>
              </a:lnSpc>
              <a:buNone/>
            </a:pPr>
            <a:r>
              <a:rPr lang="en-US" sz="950" b="1" dirty="0">
                <a:solidFill>
                  <a:srgbClr val="0B2545"/>
                </a:solidFill>
                <a:latin typeface="Calibri" pitchFamily="34" charset="0"/>
                <a:ea typeface="Calibri" pitchFamily="34" charset="-122"/>
                <a:cs typeface="Calibri" pitchFamily="34" charset="-120"/>
              </a:rPr>
              <a:t>Employee</a:t>
            </a:r>
            <a:endParaRPr lang="en-US" sz="950" dirty="0"/>
          </a:p>
        </p:txBody>
      </p:sp>
      <p:sp>
        <p:nvSpPr>
          <p:cNvPr id="18" name="Text 16"/>
          <p:cNvSpPr/>
          <p:nvPr/>
        </p:nvSpPr>
        <p:spPr>
          <a:xfrm>
            <a:off x="7360920" y="4251960"/>
            <a:ext cx="411480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One parent, many children — a single tree</a:t>
            </a:r>
            <a:endParaRPr lang="en-US" sz="1000" dirty="0"/>
          </a:p>
        </p:txBody>
      </p:sp>
      <p:sp>
        <p:nvSpPr>
          <p:cNvPr id="19" name="Text 17"/>
          <p:cNvSpPr/>
          <p:nvPr/>
        </p:nvSpPr>
        <p:spPr>
          <a:xfrm>
            <a:off x="502920" y="1737360"/>
            <a:ext cx="7315200" cy="274320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Organizes data in a tree-like, parent-child structure.</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Each child record has exactly one parent (one-to-many relationships only).</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Fast retrieval when navigating top-down along known paths.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Rigid structure — poorly suited to many-to-many relationships.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Historic example: IBM Information Management System (IMS).</a:t>
            </a:r>
            <a:endParaRPr lang="en-US" sz="1350" dirty="0"/>
          </a:p>
        </p:txBody>
      </p:sp>
      <p:sp>
        <p:nvSpPr>
          <p:cNvPr id="20" name="Text 18"/>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04  ·  Data Models</a:t>
            </a:r>
            <a:endParaRPr lang="en-US" sz="950" dirty="0"/>
          </a:p>
        </p:txBody>
      </p:sp>
      <p:sp>
        <p:nvSpPr>
          <p:cNvPr id="21" name="Text 19"/>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16</a:t>
            </a:r>
            <a:endParaRPr lang="en-US" sz="950" dirty="0"/>
          </a:p>
        </p:txBody>
      </p:sp>
      <p:sp>
        <p:nvSpPr>
          <p:cNvPr id="22" name="Shape 20"/>
          <p:cNvSpPr/>
          <p:nvPr/>
        </p:nvSpPr>
        <p:spPr>
          <a:xfrm>
            <a:off x="502920" y="6473952"/>
            <a:ext cx="11185855" cy="10973"/>
          </a:xfrm>
          <a:prstGeom prst="rect">
            <a:avLst/>
          </a:prstGeom>
          <a:solidFill>
            <a:srgbClr val="D4E4F7"/>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04  ·  DATA MODELS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Network Data Model</a:t>
            </a:r>
            <a:endParaRPr lang="en-US" sz="3000" dirty="0"/>
          </a:p>
        </p:txBody>
      </p:sp>
      <p:sp>
        <p:nvSpPr>
          <p:cNvPr id="4" name="Shape 2"/>
          <p:cNvSpPr/>
          <p:nvPr/>
        </p:nvSpPr>
        <p:spPr>
          <a:xfrm>
            <a:off x="8778240" y="1737360"/>
            <a:ext cx="1828800" cy="457200"/>
          </a:xfrm>
          <a:prstGeom prst="roundRect">
            <a:avLst>
              <a:gd name="adj" fmla="val 16000"/>
            </a:avLst>
          </a:prstGeom>
          <a:solidFill>
            <a:srgbClr val="0B2545"/>
          </a:solidFill>
          <a:ln/>
          <a:effectLst>
            <a:outerShdw sx="100000" sy="100000" kx="0" ky="0" algn="bl" rotWithShape="0" blurRad="63500" dist="25400" dir="5400000">
              <a:srgbClr val="13253F">
                <a:alpha val="15000"/>
              </a:srgbClr>
            </a:outerShdw>
          </a:effectLst>
        </p:spPr>
      </p:sp>
      <p:sp>
        <p:nvSpPr>
          <p:cNvPr id="5" name="Text 3"/>
          <p:cNvSpPr/>
          <p:nvPr/>
        </p:nvSpPr>
        <p:spPr>
          <a:xfrm>
            <a:off x="8823960" y="1737360"/>
            <a:ext cx="1737360" cy="457200"/>
          </a:xfrm>
          <a:prstGeom prst="rect">
            <a:avLst/>
          </a:prstGeom>
          <a:noFill/>
          <a:ln/>
        </p:spPr>
        <p:txBody>
          <a:bodyPr wrap="square"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Student</a:t>
            </a:r>
            <a:endParaRPr lang="en-US" sz="1100" dirty="0"/>
          </a:p>
        </p:txBody>
      </p:sp>
      <p:sp>
        <p:nvSpPr>
          <p:cNvPr id="6" name="Shape 4"/>
          <p:cNvSpPr/>
          <p:nvPr/>
        </p:nvSpPr>
        <p:spPr>
          <a:xfrm>
            <a:off x="7589520" y="3017520"/>
            <a:ext cx="1737360" cy="457200"/>
          </a:xfrm>
          <a:prstGeom prst="roundRect">
            <a:avLst>
              <a:gd name="adj" fmla="val 16000"/>
            </a:avLst>
          </a:prstGeom>
          <a:solidFill>
            <a:srgbClr val="1E5AA8"/>
          </a:solidFill>
          <a:ln/>
          <a:effectLst>
            <a:outerShdw sx="100000" sy="100000" kx="0" ky="0" algn="bl" rotWithShape="0" blurRad="63500" dist="25400" dir="5400000">
              <a:srgbClr val="13253F">
                <a:alpha val="15000"/>
              </a:srgbClr>
            </a:outerShdw>
          </a:effectLst>
        </p:spPr>
      </p:sp>
      <p:sp>
        <p:nvSpPr>
          <p:cNvPr id="7" name="Text 5"/>
          <p:cNvSpPr/>
          <p:nvPr/>
        </p:nvSpPr>
        <p:spPr>
          <a:xfrm>
            <a:off x="7635240" y="3017520"/>
            <a:ext cx="1645920" cy="45720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Course A</a:t>
            </a:r>
            <a:endParaRPr lang="en-US" sz="1050" dirty="0"/>
          </a:p>
        </p:txBody>
      </p:sp>
      <p:sp>
        <p:nvSpPr>
          <p:cNvPr id="8" name="Shape 6"/>
          <p:cNvSpPr/>
          <p:nvPr/>
        </p:nvSpPr>
        <p:spPr>
          <a:xfrm>
            <a:off x="9966960" y="3017520"/>
            <a:ext cx="1737360" cy="457200"/>
          </a:xfrm>
          <a:prstGeom prst="roundRect">
            <a:avLst>
              <a:gd name="adj" fmla="val 16000"/>
            </a:avLst>
          </a:prstGeom>
          <a:solidFill>
            <a:srgbClr val="1E5AA8"/>
          </a:solidFill>
          <a:ln/>
          <a:effectLst>
            <a:outerShdw sx="100000" sy="100000" kx="0" ky="0" algn="bl" rotWithShape="0" blurRad="63500" dist="25400" dir="5400000">
              <a:srgbClr val="13253F">
                <a:alpha val="15000"/>
              </a:srgbClr>
            </a:outerShdw>
          </a:effectLst>
        </p:spPr>
      </p:sp>
      <p:sp>
        <p:nvSpPr>
          <p:cNvPr id="9" name="Text 7"/>
          <p:cNvSpPr/>
          <p:nvPr/>
        </p:nvSpPr>
        <p:spPr>
          <a:xfrm>
            <a:off x="10012680" y="3017520"/>
            <a:ext cx="1645920" cy="45720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Course B</a:t>
            </a:r>
            <a:endParaRPr lang="en-US" sz="1050" dirty="0"/>
          </a:p>
        </p:txBody>
      </p:sp>
      <p:sp>
        <p:nvSpPr>
          <p:cNvPr id="10" name="Shape 8"/>
          <p:cNvSpPr/>
          <p:nvPr/>
        </p:nvSpPr>
        <p:spPr>
          <a:xfrm>
            <a:off x="8778240" y="4251960"/>
            <a:ext cx="1828800" cy="457200"/>
          </a:xfrm>
          <a:prstGeom prst="roundRect">
            <a:avLst>
              <a:gd name="adj" fmla="val 16000"/>
            </a:avLst>
          </a:prstGeom>
          <a:solidFill>
            <a:srgbClr val="5B9BD5"/>
          </a:solidFill>
          <a:ln/>
          <a:effectLst>
            <a:outerShdw sx="100000" sy="100000" kx="0" ky="0" algn="bl" rotWithShape="0" blurRad="63500" dist="25400" dir="5400000">
              <a:srgbClr val="13253F">
                <a:alpha val="15000"/>
              </a:srgbClr>
            </a:outerShdw>
          </a:effectLst>
        </p:spPr>
      </p:sp>
      <p:sp>
        <p:nvSpPr>
          <p:cNvPr id="11" name="Text 9"/>
          <p:cNvSpPr/>
          <p:nvPr/>
        </p:nvSpPr>
        <p:spPr>
          <a:xfrm>
            <a:off x="8823960" y="4251960"/>
            <a:ext cx="1737360" cy="457200"/>
          </a:xfrm>
          <a:prstGeom prst="rect">
            <a:avLst/>
          </a:prstGeom>
          <a:noFill/>
          <a:ln/>
        </p:spPr>
        <p:txBody>
          <a:bodyPr wrap="square" rtlCol="0" anchor="ctr"/>
          <a:lstStyle/>
          <a:p>
            <a:pPr algn="ctr" indent="0" marL="0">
              <a:lnSpc>
                <a:spcPct val="100000"/>
              </a:lnSpc>
              <a:buNone/>
            </a:pPr>
            <a:r>
              <a:rPr lang="en-US" sz="1050" b="1" dirty="0">
                <a:solidFill>
                  <a:srgbClr val="0B2545"/>
                </a:solidFill>
                <a:latin typeface="Calibri" pitchFamily="34" charset="0"/>
                <a:ea typeface="Calibri" pitchFamily="34" charset="-122"/>
                <a:cs typeface="Calibri" pitchFamily="34" charset="-120"/>
              </a:rPr>
              <a:t>Instructor</a:t>
            </a:r>
            <a:endParaRPr lang="en-US" sz="1050" dirty="0"/>
          </a:p>
        </p:txBody>
      </p:sp>
      <p:sp>
        <p:nvSpPr>
          <p:cNvPr id="12" name="Shape 10"/>
          <p:cNvSpPr/>
          <p:nvPr/>
        </p:nvSpPr>
        <p:spPr>
          <a:xfrm flipH="1">
            <a:off x="8366760" y="2194560"/>
            <a:ext cx="685800" cy="822960"/>
          </a:xfrm>
          <a:prstGeom prst="line">
            <a:avLst/>
          </a:prstGeom>
          <a:noFill/>
          <a:ln w="19050">
            <a:solidFill>
              <a:srgbClr val="4C6076"/>
            </a:solidFill>
            <a:prstDash val="solid"/>
          </a:ln>
        </p:spPr>
      </p:sp>
      <p:sp>
        <p:nvSpPr>
          <p:cNvPr id="13" name="Shape 11"/>
          <p:cNvSpPr/>
          <p:nvPr/>
        </p:nvSpPr>
        <p:spPr>
          <a:xfrm>
            <a:off x="9509760" y="2194560"/>
            <a:ext cx="1051560" cy="822960"/>
          </a:xfrm>
          <a:prstGeom prst="line">
            <a:avLst/>
          </a:prstGeom>
          <a:noFill/>
          <a:ln w="19050">
            <a:solidFill>
              <a:srgbClr val="4C6076"/>
            </a:solidFill>
            <a:prstDash val="solid"/>
          </a:ln>
        </p:spPr>
      </p:sp>
      <p:sp>
        <p:nvSpPr>
          <p:cNvPr id="14" name="Shape 12"/>
          <p:cNvSpPr/>
          <p:nvPr/>
        </p:nvSpPr>
        <p:spPr>
          <a:xfrm>
            <a:off x="9052560" y="2194560"/>
            <a:ext cx="1508760" cy="822960"/>
          </a:xfrm>
          <a:prstGeom prst="line">
            <a:avLst/>
          </a:prstGeom>
          <a:noFill/>
          <a:ln w="19050">
            <a:solidFill>
              <a:srgbClr val="4C6076"/>
            </a:solidFill>
            <a:prstDash val="dash"/>
          </a:ln>
        </p:spPr>
      </p:sp>
      <p:sp>
        <p:nvSpPr>
          <p:cNvPr id="15" name="Shape 13"/>
          <p:cNvSpPr/>
          <p:nvPr/>
        </p:nvSpPr>
        <p:spPr>
          <a:xfrm>
            <a:off x="8366760" y="3474720"/>
            <a:ext cx="1143000" cy="777240"/>
          </a:xfrm>
          <a:prstGeom prst="line">
            <a:avLst/>
          </a:prstGeom>
          <a:noFill/>
          <a:ln w="19050">
            <a:solidFill>
              <a:srgbClr val="4C6076"/>
            </a:solidFill>
            <a:prstDash val="solid"/>
          </a:ln>
        </p:spPr>
      </p:sp>
      <p:sp>
        <p:nvSpPr>
          <p:cNvPr id="16" name="Shape 14"/>
          <p:cNvSpPr/>
          <p:nvPr/>
        </p:nvSpPr>
        <p:spPr>
          <a:xfrm flipH="1">
            <a:off x="9692640" y="3474720"/>
            <a:ext cx="868680" cy="777240"/>
          </a:xfrm>
          <a:prstGeom prst="line">
            <a:avLst/>
          </a:prstGeom>
          <a:noFill/>
          <a:ln w="19050">
            <a:solidFill>
              <a:srgbClr val="4C6076"/>
            </a:solidFill>
            <a:prstDash val="solid"/>
          </a:ln>
        </p:spPr>
      </p:sp>
      <p:sp>
        <p:nvSpPr>
          <p:cNvPr id="17" name="Text 15"/>
          <p:cNvSpPr/>
          <p:nvPr/>
        </p:nvSpPr>
        <p:spPr>
          <a:xfrm>
            <a:off x="7360920" y="4800600"/>
            <a:ext cx="411480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Many-to-many links — a graph, not a strict tree</a:t>
            </a:r>
            <a:endParaRPr lang="en-US" sz="1000" dirty="0"/>
          </a:p>
        </p:txBody>
      </p:sp>
      <p:sp>
        <p:nvSpPr>
          <p:cNvPr id="18" name="Text 16"/>
          <p:cNvSpPr/>
          <p:nvPr/>
        </p:nvSpPr>
        <p:spPr>
          <a:xfrm>
            <a:off x="502920" y="1737360"/>
            <a:ext cx="7315200" cy="274320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Extends the hierarchical model by allowing a child to have multiple parents.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Represents data as a graph of records connected by "sets" (owner-member links).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Efficiently models many-to-many relationships, e.g. Students ↔ Courses.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More flexible than hierarchical, but navigation is complex to program.</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Historic example: Integrated Data Store (IDS), CODASYL systems.</a:t>
            </a:r>
            <a:endParaRPr lang="en-US" sz="1350" dirty="0"/>
          </a:p>
        </p:txBody>
      </p:sp>
      <p:sp>
        <p:nvSpPr>
          <p:cNvPr id="19" name="Text 1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04  ·  Data Models</a:t>
            </a:r>
            <a:endParaRPr lang="en-US" sz="950" dirty="0"/>
          </a:p>
        </p:txBody>
      </p:sp>
      <p:sp>
        <p:nvSpPr>
          <p:cNvPr id="20" name="Text 1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17</a:t>
            </a:r>
            <a:endParaRPr lang="en-US" sz="950" dirty="0"/>
          </a:p>
        </p:txBody>
      </p:sp>
      <p:sp>
        <p:nvSpPr>
          <p:cNvPr id="21" name="Shape 19"/>
          <p:cNvSpPr/>
          <p:nvPr/>
        </p:nvSpPr>
        <p:spPr>
          <a:xfrm>
            <a:off x="502920" y="6473952"/>
            <a:ext cx="11185855" cy="10973"/>
          </a:xfrm>
          <a:prstGeom prst="rect">
            <a:avLst/>
          </a:prstGeom>
          <a:solidFill>
            <a:srgbClr val="D4E4F7"/>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04  ·  DATA MODELS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Relational Data Model</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60920" y="1783080"/>
          <a:ext cx="4343400" cy="914400"/>
        </p:xfrm>
        <a:graphic>
          <a:graphicData uri="http://schemas.openxmlformats.org/drawingml/2006/table">
            <a:tbl>
              <a:tblPr/>
              <a:tblGrid>
                <a:gridCol w="1371600"/>
                <a:gridCol w="1828800"/>
                <a:gridCol w="11430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StudentID</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DeptID</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347472">
                <a:tc>
                  <a:txBody>
                    <a:bodyPr/>
                    <a:lstStyle/>
                    <a:p>
                      <a:pPr algn="l" indent="0" marL="0">
                        <a:buNone/>
                      </a:pPr>
                      <a:r>
                        <a:rPr lang="en-US" sz="1000" b="1" dirty="0">
                          <a:solidFill>
                            <a:srgbClr val="0B2545"/>
                          </a:solidFill>
                          <a:latin typeface="Calibri" pitchFamily="34" charset="0"/>
                          <a:ea typeface="Calibri" pitchFamily="34" charset="-122"/>
                          <a:cs typeface="Calibri" pitchFamily="34" charset="-120"/>
                        </a:rPr>
                        <a:t>S01</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253F"/>
                          </a:solidFill>
                          <a:latin typeface="Calibri" pitchFamily="34" charset="0"/>
                          <a:ea typeface="Calibri" pitchFamily="34" charset="-122"/>
                          <a:cs typeface="Calibri" pitchFamily="34" charset="-120"/>
                        </a:rPr>
                        <a:t>Aditi</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253F"/>
                          </a:solidFill>
                          <a:latin typeface="Calibri" pitchFamily="34" charset="0"/>
                          <a:ea typeface="Calibri" pitchFamily="34" charset="-122"/>
                          <a:cs typeface="Calibri" pitchFamily="34" charset="-120"/>
                        </a:rPr>
                        <a:t>D1</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545"/>
                          </a:solidFill>
                          <a:latin typeface="Calibri" pitchFamily="34" charset="0"/>
                          <a:ea typeface="Calibri" pitchFamily="34" charset="-122"/>
                          <a:cs typeface="Calibri" pitchFamily="34" charset="-120"/>
                        </a:rPr>
                        <a:t>S02</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000" dirty="0">
                          <a:solidFill>
                            <a:srgbClr val="13253F"/>
                          </a:solidFill>
                          <a:latin typeface="Calibri" pitchFamily="34" charset="0"/>
                          <a:ea typeface="Calibri" pitchFamily="34" charset="-122"/>
                          <a:cs typeface="Calibri" pitchFamily="34" charset="-120"/>
                        </a:rPr>
                        <a:t>Rahul</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000" dirty="0">
                          <a:solidFill>
                            <a:srgbClr val="13253F"/>
                          </a:solidFill>
                          <a:latin typeface="Calibri" pitchFamily="34" charset="0"/>
                          <a:ea typeface="Calibri" pitchFamily="34" charset="-122"/>
                          <a:cs typeface="Calibri" pitchFamily="34" charset="-120"/>
                        </a:rPr>
                        <a:t>D2</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7360920" y="3337560"/>
          <a:ext cx="4343400" cy="914400"/>
        </p:xfrm>
        <a:graphic>
          <a:graphicData uri="http://schemas.openxmlformats.org/drawingml/2006/table">
            <a:tbl>
              <a:tblPr/>
              <a:tblGrid>
                <a:gridCol w="1371600"/>
                <a:gridCol w="29718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DeptID</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DeptName</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347472">
                <a:tc>
                  <a:txBody>
                    <a:bodyPr/>
                    <a:lstStyle/>
                    <a:p>
                      <a:pPr algn="l" indent="0" marL="0">
                        <a:buNone/>
                      </a:pPr>
                      <a:r>
                        <a:rPr lang="en-US" sz="1000" b="1" dirty="0">
                          <a:solidFill>
                            <a:srgbClr val="0B2545"/>
                          </a:solidFill>
                          <a:latin typeface="Calibri" pitchFamily="34" charset="0"/>
                          <a:ea typeface="Calibri" pitchFamily="34" charset="-122"/>
                          <a:cs typeface="Calibri" pitchFamily="34" charset="-120"/>
                        </a:rPr>
                        <a:t>D1</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253F"/>
                          </a:solidFill>
                          <a:latin typeface="Calibri" pitchFamily="34" charset="0"/>
                          <a:ea typeface="Calibri" pitchFamily="34" charset="-122"/>
                          <a:cs typeface="Calibri" pitchFamily="34" charset="-120"/>
                        </a:rPr>
                        <a:t>Computer Sci.</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0B2545"/>
                          </a:solidFill>
                          <a:latin typeface="Calibri" pitchFamily="34" charset="0"/>
                          <a:ea typeface="Calibri" pitchFamily="34" charset="-122"/>
                          <a:cs typeface="Calibri" pitchFamily="34" charset="-120"/>
                        </a:rPr>
                        <a:t>D2</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000" dirty="0">
                          <a:solidFill>
                            <a:srgbClr val="13253F"/>
                          </a:solidFill>
                          <a:latin typeface="Calibri" pitchFamily="34" charset="0"/>
                          <a:ea typeface="Calibri" pitchFamily="34" charset="-122"/>
                          <a:cs typeface="Calibri" pitchFamily="34" charset="-120"/>
                        </a:rPr>
                        <a:t>Mechanical</a:t>
                      </a:r>
                      <a:endParaRPr lang="en-US" sz="10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bl>
          </a:graphicData>
        </a:graphic>
      </p:graphicFrame>
      <p:sp>
        <p:nvSpPr>
          <p:cNvPr id="6" name="Text 2"/>
          <p:cNvSpPr/>
          <p:nvPr/>
        </p:nvSpPr>
        <p:spPr>
          <a:xfrm>
            <a:off x="7360920" y="4434840"/>
            <a:ext cx="434340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Tables linked by common key columns (DeptID)</a:t>
            </a:r>
            <a:endParaRPr lang="en-US" sz="1000" dirty="0"/>
          </a:p>
        </p:txBody>
      </p:sp>
      <p:sp>
        <p:nvSpPr>
          <p:cNvPr id="7" name="Text 3"/>
          <p:cNvSpPr/>
          <p:nvPr/>
        </p:nvSpPr>
        <p:spPr>
          <a:xfrm>
            <a:off x="502920" y="1737360"/>
            <a:ext cx="6675120" cy="2743200"/>
          </a:xfrm>
          <a:prstGeom prst="rect">
            <a:avLst/>
          </a:prstGeom>
          <a:noFill/>
          <a:ln/>
        </p:spPr>
        <p:txBody>
          <a:bodyPr wrap="square" rtlCol="0" anchor="t"/>
          <a:lstStyle/>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Organizes data into two-dimensional tables (relations) of rows and columns.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Tables are linked using common key columns — primary and foreign keys.</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Backed by strong mathematical foundations (set theory, relational algebra).</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Queried with a simple, declarative language — SQL.</a:t>
            </a:r>
            <a:endParaRPr lang="en-US" sz="1350" dirty="0"/>
          </a:p>
          <a:p>
            <a:pPr marL="228600" indent="-228600">
              <a:lnSpc>
                <a:spcPct val="108000"/>
              </a:lnSpc>
              <a:spcAft>
                <a:spcPts val="900"/>
              </a:spcAft>
              <a:buSzPct val="100000"/>
              <a:buChar char="▪"/>
            </a:pPr>
            <a:r>
              <a:rPr lang="en-US" sz="1350" dirty="0">
                <a:solidFill>
                  <a:srgbClr val="13253F"/>
                </a:solidFill>
                <a:latin typeface="Calibri" pitchFamily="34" charset="0"/>
                <a:ea typeface="Calibri" pitchFamily="34" charset="-122"/>
                <a:cs typeface="Calibri" pitchFamily="34" charset="-120"/>
              </a:rPr>
              <a:t>The dominant model today: MySQL, PostgreSQL, Oracle, SQL Server.</a:t>
            </a:r>
            <a:endParaRPr lang="en-US" sz="1350" dirty="0"/>
          </a:p>
        </p:txBody>
      </p:sp>
      <p:sp>
        <p:nvSpPr>
          <p:cNvPr id="8" name="Text 4"/>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04  ·  Data Models</a:t>
            </a:r>
            <a:endParaRPr lang="en-US" sz="950" dirty="0"/>
          </a:p>
        </p:txBody>
      </p:sp>
      <p:sp>
        <p:nvSpPr>
          <p:cNvPr id="9" name="Text 5"/>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18</a:t>
            </a:r>
            <a:endParaRPr lang="en-US" sz="950" dirty="0"/>
          </a:p>
        </p:txBody>
      </p:sp>
      <p:sp>
        <p:nvSpPr>
          <p:cNvPr id="10" name="Shape 6"/>
          <p:cNvSpPr/>
          <p:nvPr/>
        </p:nvSpPr>
        <p:spPr>
          <a:xfrm>
            <a:off x="502920" y="6473952"/>
            <a:ext cx="11185855" cy="10973"/>
          </a:xfrm>
          <a:prstGeom prst="rect">
            <a:avLst/>
          </a:prstGeom>
          <a:solidFill>
            <a:srgbClr val="D4E4F7"/>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04  ·  DATA MODELS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Data Models Compared</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17352" cy="914400"/>
        </p:xfrm>
        <a:graphic>
          <a:graphicData uri="http://schemas.openxmlformats.org/drawingml/2006/table">
            <a:tbl>
              <a:tblPr/>
              <a:tblGrid>
                <a:gridCol w="2377440"/>
                <a:gridCol w="2816352"/>
                <a:gridCol w="2816352"/>
                <a:gridCol w="2807208"/>
              </a:tblGrid>
              <a:tr h="566928">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Criteria</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Hierarchical</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Relational</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566928">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Structure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Tree (1 parent)</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Graph (multi-parent)</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Tables (rows/cols)</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Relationship types</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One-to-many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Many-to-many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All types, via keys</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566928">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Ease of use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Simple but rigid</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Complex navigation</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Simple, declarative (SQL)</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Flexibility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566928">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Example system</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IBM IMS</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IDS / CODASYL</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MySQL, Oracle, PostgreSQL</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04  ·  Data Models</a:t>
            </a:r>
            <a:endParaRPr lang="en-US" sz="9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19</a:t>
            </a:r>
            <a:endParaRPr lang="en-US" sz="950" dirty="0"/>
          </a:p>
        </p:txBody>
      </p:sp>
      <p:sp>
        <p:nvSpPr>
          <p:cNvPr id="7" name="Shape 4"/>
          <p:cNvSpPr/>
          <p:nvPr/>
        </p:nvSpPr>
        <p:spPr>
          <a:xfrm>
            <a:off x="502920" y="6473952"/>
            <a:ext cx="11185855" cy="10973"/>
          </a:xfrm>
          <a:prstGeom prst="rect">
            <a:avLst/>
          </a:prstGeom>
          <a:solidFill>
            <a:srgbClr val="D4E4F7"/>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04  ·  DATA MODELS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Industry Use Cases by Model</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filealt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Hierarchical: File Systems</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Directory trees, XML documents, legacy mainframe banking.</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network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Network: Telecom Routing</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Complex interconnected network topology and CAD systems.</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table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Relational: ERP &amp; Banking</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SAP, core banking, e-commerce order and inventory systems.</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cloud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Relational: Web Backends</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Most modern web and mobile applications use SQL databases.</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sitemap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Hierarchical: DNS</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The Domain Name System is organized as a strict tree.</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random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Network: BOM Systems</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Manufacturing bill-of-materials with shared sub-components.</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04  ·  Data Models</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20</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05  ·  ER MODEL — ONLINE LIBRARY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Case Study: Online Library System</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book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Modelling a Real System</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We will build its ER model step by step across this module</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The Entity-Relationship (ER) Model represents data as entities, their attributes, and the relationships among them.</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Our running example: an Online Library System used to design a real database.</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Members search the catalog, borrow and return books, and pay fines.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Authors write books, which are published by publishers, and organized by category.</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Librarians manage the catalog and process loan transactions.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Over the next four slides we identify entities, attributes, relationships, and assemble the complete ER diagram.</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05  ·  ER Model — Online Library System</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21</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05  ·  ER MODEL — ONLINE LIBRARY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Step 1 — Identifying Entities</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book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Book</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A physical or digital item in the catalog.</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idcard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Member</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A registered library user who can borrow books.</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grad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Author</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The person(s) who wrote a book.</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building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Publisher</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The organization that published a book.</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clipboard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Loan</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A borrowing transaction linking Member and Book.</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usertie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Librarian</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Staff member who manages loans and the catalog.</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05  ·  ER Model — Online Library System</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22</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05  ·  ER MODEL — ONLINE LIBRARY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Step 2 — Defining Attributes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17352" cy="914400"/>
        </p:xfrm>
        <a:graphic>
          <a:graphicData uri="http://schemas.openxmlformats.org/drawingml/2006/table">
            <a:tbl>
              <a:tblPr/>
              <a:tblGrid>
                <a:gridCol w="2194560"/>
                <a:gridCol w="2560320"/>
                <a:gridCol w="6062472"/>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Entity</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Key Attribute</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Other Attributes</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566928">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Book</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ISBN (PK)</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Title, Category, Copies Available</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Member</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MemberID (PK)</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Name, Email, Phone, Join Date</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566928">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Author</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AuthorID (PK)</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Name, Nationality</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Publisher</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PublisherID (PK)</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Name, Address</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566928">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Loan</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LoanID (PK)</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3253F"/>
                          </a:solidFill>
                          <a:latin typeface="Calibri" pitchFamily="34" charset="0"/>
                          <a:ea typeface="Calibri" pitchFamily="34" charset="-122"/>
                          <a:cs typeface="Calibri" pitchFamily="34" charset="-120"/>
                        </a:rPr>
                        <a:t>IssueDate, DueDate, ReturnDate, Fine</a:t>
                      </a:r>
                      <a:endParaRPr lang="en-US" sz="12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bl>
          </a:graphicData>
        </a:graphic>
      </p:graphicFrame>
      <p:sp>
        <p:nvSpPr>
          <p:cNvPr id="5" name="Text 2"/>
          <p:cNvSpPr/>
          <p:nvPr/>
        </p:nvSpPr>
        <p:spPr>
          <a:xfrm>
            <a:off x="685800" y="4983480"/>
            <a:ext cx="10817352" cy="365760"/>
          </a:xfrm>
          <a:prstGeom prst="rect">
            <a:avLst/>
          </a:prstGeom>
          <a:noFill/>
          <a:ln/>
        </p:spPr>
        <p:txBody>
          <a:bodyPr wrap="square" rtlCol="0" anchor="ctr"/>
          <a:lstStyle/>
          <a:p>
            <a:pPr indent="0" marL="0">
              <a:buNone/>
            </a:pPr>
            <a:r>
              <a:rPr lang="en-US" sz="1100" i="1" dirty="0">
                <a:solidFill>
                  <a:srgbClr val="4C6076"/>
                </a:solidFill>
                <a:latin typeface="Calibri" pitchFamily="34" charset="0"/>
                <a:ea typeface="Calibri" pitchFamily="34" charset="-122"/>
                <a:cs typeface="Calibri" pitchFamily="34" charset="-120"/>
              </a:rPr>
              <a:t>PK = Primary Key — an attribute that uniquely identifies each record of that entity.</a:t>
            </a:r>
            <a:endParaRPr lang="en-US" sz="1100" dirty="0"/>
          </a:p>
        </p:txBody>
      </p:sp>
      <p:sp>
        <p:nvSpPr>
          <p:cNvPr id="6" name="Text 3"/>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05  ·  ER Model — Online Library System</a:t>
            </a:r>
            <a:endParaRPr lang="en-US" sz="950" dirty="0"/>
          </a:p>
        </p:txBody>
      </p:sp>
      <p:sp>
        <p:nvSpPr>
          <p:cNvPr id="7" name="Text 4"/>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23</a:t>
            </a:r>
            <a:endParaRPr lang="en-US" sz="950" dirty="0"/>
          </a:p>
        </p:txBody>
      </p:sp>
      <p:sp>
        <p:nvSpPr>
          <p:cNvPr id="8" name="Shape 5"/>
          <p:cNvSpPr/>
          <p:nvPr/>
        </p:nvSpPr>
        <p:spPr>
          <a:xfrm>
            <a:off x="502920" y="6473952"/>
            <a:ext cx="11185855" cy="10973"/>
          </a:xfrm>
          <a:prstGeom prst="rect">
            <a:avLst/>
          </a:prstGeom>
          <a:solidFill>
            <a:srgbClr val="D4E4F7"/>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05  ·  ER MODEL — ONLINE LIBRARY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Step 3 — Relationships Between Entities</a:t>
            </a:r>
            <a:endParaRPr lang="en-US" sz="3000" dirty="0"/>
          </a:p>
        </p:txBody>
      </p:sp>
      <p:sp>
        <p:nvSpPr>
          <p:cNvPr id="4" name="Shape 2"/>
          <p:cNvSpPr/>
          <p:nvPr/>
        </p:nvSpPr>
        <p:spPr>
          <a:xfrm>
            <a:off x="7772400" y="1783080"/>
            <a:ext cx="1737360" cy="54864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7772400" y="1783080"/>
            <a:ext cx="1737360" cy="54864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Member</a:t>
            </a:r>
            <a:endParaRPr lang="en-US" sz="1200" dirty="0"/>
          </a:p>
        </p:txBody>
      </p:sp>
      <p:sp>
        <p:nvSpPr>
          <p:cNvPr id="6" name="Shape 4"/>
          <p:cNvSpPr/>
          <p:nvPr/>
        </p:nvSpPr>
        <p:spPr>
          <a:xfrm>
            <a:off x="7772400" y="4480560"/>
            <a:ext cx="1737360" cy="54864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7772400" y="4480560"/>
            <a:ext cx="1737360" cy="54864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Book</a:t>
            </a:r>
            <a:endParaRPr lang="en-US" sz="1200" dirty="0"/>
          </a:p>
        </p:txBody>
      </p:sp>
      <p:sp>
        <p:nvSpPr>
          <p:cNvPr id="8" name="Shape 6"/>
          <p:cNvSpPr/>
          <p:nvPr/>
        </p:nvSpPr>
        <p:spPr>
          <a:xfrm>
            <a:off x="7452360" y="2971800"/>
            <a:ext cx="2377440" cy="77724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9" name="Text 7"/>
          <p:cNvSpPr/>
          <p:nvPr/>
        </p:nvSpPr>
        <p:spPr>
          <a:xfrm>
            <a:off x="7452360" y="2971800"/>
            <a:ext cx="2377440" cy="7772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BORROWS</a:t>
            </a:r>
            <a:endParaRPr lang="en-US" sz="1050" dirty="0"/>
          </a:p>
        </p:txBody>
      </p:sp>
      <p:sp>
        <p:nvSpPr>
          <p:cNvPr id="10" name="Shape 8"/>
          <p:cNvSpPr/>
          <p:nvPr/>
        </p:nvSpPr>
        <p:spPr>
          <a:xfrm>
            <a:off x="8641080" y="2331720"/>
            <a:ext cx="9144" cy="640080"/>
          </a:xfrm>
          <a:prstGeom prst="line">
            <a:avLst/>
          </a:prstGeom>
          <a:noFill/>
          <a:ln w="19050">
            <a:solidFill>
              <a:srgbClr val="4C6076"/>
            </a:solidFill>
            <a:prstDash val="solid"/>
          </a:ln>
        </p:spPr>
      </p:sp>
      <p:sp>
        <p:nvSpPr>
          <p:cNvPr id="11" name="Shape 9"/>
          <p:cNvSpPr/>
          <p:nvPr/>
        </p:nvSpPr>
        <p:spPr>
          <a:xfrm>
            <a:off x="8641080" y="3749040"/>
            <a:ext cx="9144" cy="731520"/>
          </a:xfrm>
          <a:prstGeom prst="line">
            <a:avLst/>
          </a:prstGeom>
          <a:noFill/>
          <a:ln w="19050">
            <a:solidFill>
              <a:srgbClr val="4C6076"/>
            </a:solidFill>
            <a:prstDash val="solid"/>
          </a:ln>
        </p:spPr>
      </p:sp>
      <p:sp>
        <p:nvSpPr>
          <p:cNvPr id="12" name="Text 10"/>
          <p:cNvSpPr/>
          <p:nvPr/>
        </p:nvSpPr>
        <p:spPr>
          <a:xfrm>
            <a:off x="8686800" y="2377440"/>
            <a:ext cx="274320" cy="274320"/>
          </a:xfrm>
          <a:prstGeom prst="rect">
            <a:avLst/>
          </a:prstGeom>
          <a:noFill/>
          <a:ln/>
        </p:spPr>
        <p:txBody>
          <a:bodyPr wrap="square"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M</a:t>
            </a:r>
            <a:endParaRPr lang="en-US" sz="1000" dirty="0"/>
          </a:p>
        </p:txBody>
      </p:sp>
      <p:sp>
        <p:nvSpPr>
          <p:cNvPr id="13" name="Text 11"/>
          <p:cNvSpPr/>
          <p:nvPr/>
        </p:nvSpPr>
        <p:spPr>
          <a:xfrm>
            <a:off x="8686800" y="4160520"/>
            <a:ext cx="274320" cy="274320"/>
          </a:xfrm>
          <a:prstGeom prst="rect">
            <a:avLst/>
          </a:prstGeom>
          <a:noFill/>
          <a:ln/>
        </p:spPr>
        <p:txBody>
          <a:bodyPr wrap="square"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N</a:t>
            </a:r>
            <a:endParaRPr lang="en-US" sz="1000" dirty="0"/>
          </a:p>
        </p:txBody>
      </p:sp>
      <p:sp>
        <p:nvSpPr>
          <p:cNvPr id="14" name="Text 12"/>
          <p:cNvSpPr/>
          <p:nvPr/>
        </p:nvSpPr>
        <p:spPr>
          <a:xfrm>
            <a:off x="7360920" y="5166360"/>
            <a:ext cx="411480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Many-to-Many, resolved via the Loan entity</a:t>
            </a:r>
            <a:endParaRPr lang="en-US" sz="1000" dirty="0"/>
          </a:p>
        </p:txBody>
      </p:sp>
      <p:sp>
        <p:nvSpPr>
          <p:cNvPr id="15" name="Text 13"/>
          <p:cNvSpPr/>
          <p:nvPr/>
        </p:nvSpPr>
        <p:spPr>
          <a:xfrm>
            <a:off x="502920" y="1737360"/>
            <a:ext cx="6675120" cy="3291840"/>
          </a:xfrm>
          <a:prstGeom prst="rect">
            <a:avLst/>
          </a:prstGeom>
          <a:noFill/>
          <a:ln/>
        </p:spPr>
        <p:txBody>
          <a:bodyPr wrap="square" rtlCol="0" anchor="t"/>
          <a:lstStyle/>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A relationship shows how two or more entities are meaningfully associated.</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Member BORROWS Book — a many-to-many (M:N) relationship: one member borrows many books; one book is borrowed by many members over time.</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Author WRITES Book — many-to-many, since a book may have multiple authors.</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Publisher PUBLISHES Book — one-to-many: one publisher, many books.</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Librarian PROCESSES Loan — one-to-many: one librarian handles many loans.</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Cardinality (1:1, 1:N, M:N) defines how many instances participate on each side.</a:t>
            </a:r>
            <a:endParaRPr lang="en-US" sz="1250" dirty="0"/>
          </a:p>
        </p:txBody>
      </p:sp>
      <p:sp>
        <p:nvSpPr>
          <p:cNvPr id="16" name="Text 14"/>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05  ·  ER Model — Online Library System</a:t>
            </a:r>
            <a:endParaRPr lang="en-US" sz="950" dirty="0"/>
          </a:p>
        </p:txBody>
      </p:sp>
      <p:sp>
        <p:nvSpPr>
          <p:cNvPr id="17" name="Text 15"/>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24</a:t>
            </a:r>
            <a:endParaRPr lang="en-US" sz="950" dirty="0"/>
          </a:p>
        </p:txBody>
      </p:sp>
      <p:sp>
        <p:nvSpPr>
          <p:cNvPr id="18" name="Shape 16"/>
          <p:cNvSpPr/>
          <p:nvPr/>
        </p:nvSpPr>
        <p:spPr>
          <a:xfrm>
            <a:off x="502920" y="6473952"/>
            <a:ext cx="11185855" cy="10973"/>
          </a:xfrm>
          <a:prstGeom prst="rect">
            <a:avLst/>
          </a:prstGeom>
          <a:solidFill>
            <a:srgbClr val="D4E4F7"/>
          </a:soli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05  ·  ER MODEL — ONLINE LIBRARY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Complete ER Diagram — Online Library System</a:t>
            </a:r>
            <a:endParaRPr lang="en-US" sz="3000" dirty="0"/>
          </a:p>
        </p:txBody>
      </p:sp>
      <p:sp>
        <p:nvSpPr>
          <p:cNvPr id="4" name="Shape 2"/>
          <p:cNvSpPr/>
          <p:nvPr/>
        </p:nvSpPr>
        <p:spPr>
          <a:xfrm>
            <a:off x="640080" y="192024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640080" y="1920240"/>
            <a:ext cx="173736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Author</a:t>
            </a:r>
            <a:endParaRPr lang="en-US" sz="1100" dirty="0"/>
          </a:p>
        </p:txBody>
      </p:sp>
      <p:sp>
        <p:nvSpPr>
          <p:cNvPr id="6" name="Shape 4"/>
          <p:cNvSpPr/>
          <p:nvPr/>
        </p:nvSpPr>
        <p:spPr>
          <a:xfrm>
            <a:off x="640080" y="420624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640080" y="4206240"/>
            <a:ext cx="173736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Publisher</a:t>
            </a:r>
            <a:endParaRPr lang="en-US" sz="1100" dirty="0"/>
          </a:p>
        </p:txBody>
      </p:sp>
      <p:sp>
        <p:nvSpPr>
          <p:cNvPr id="8" name="Shape 6"/>
          <p:cNvSpPr/>
          <p:nvPr/>
        </p:nvSpPr>
        <p:spPr>
          <a:xfrm>
            <a:off x="4480560" y="306324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9" name="Text 7"/>
          <p:cNvSpPr/>
          <p:nvPr/>
        </p:nvSpPr>
        <p:spPr>
          <a:xfrm>
            <a:off x="4480560" y="3063240"/>
            <a:ext cx="173736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Book</a:t>
            </a:r>
            <a:endParaRPr lang="en-US" sz="1100" dirty="0"/>
          </a:p>
        </p:txBody>
      </p:sp>
      <p:sp>
        <p:nvSpPr>
          <p:cNvPr id="10" name="Shape 8"/>
          <p:cNvSpPr/>
          <p:nvPr/>
        </p:nvSpPr>
        <p:spPr>
          <a:xfrm>
            <a:off x="8321040" y="192024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1" name="Text 9"/>
          <p:cNvSpPr/>
          <p:nvPr/>
        </p:nvSpPr>
        <p:spPr>
          <a:xfrm>
            <a:off x="8321040" y="1920240"/>
            <a:ext cx="173736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Member</a:t>
            </a:r>
            <a:endParaRPr lang="en-US" sz="1100" dirty="0"/>
          </a:p>
        </p:txBody>
      </p:sp>
      <p:sp>
        <p:nvSpPr>
          <p:cNvPr id="12" name="Shape 10"/>
          <p:cNvSpPr/>
          <p:nvPr/>
        </p:nvSpPr>
        <p:spPr>
          <a:xfrm>
            <a:off x="8321040" y="4206240"/>
            <a:ext cx="182880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3" name="Text 11"/>
          <p:cNvSpPr/>
          <p:nvPr/>
        </p:nvSpPr>
        <p:spPr>
          <a:xfrm>
            <a:off x="8321040" y="4206240"/>
            <a:ext cx="182880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Librarian</a:t>
            </a:r>
            <a:endParaRPr lang="en-US" sz="1100" dirty="0"/>
          </a:p>
        </p:txBody>
      </p:sp>
      <p:sp>
        <p:nvSpPr>
          <p:cNvPr id="14" name="Shape 12"/>
          <p:cNvSpPr/>
          <p:nvPr/>
        </p:nvSpPr>
        <p:spPr>
          <a:xfrm>
            <a:off x="2606040" y="1965960"/>
            <a:ext cx="1600200" cy="59436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5" name="Text 13"/>
          <p:cNvSpPr/>
          <p:nvPr/>
        </p:nvSpPr>
        <p:spPr>
          <a:xfrm>
            <a:off x="2606040" y="1965960"/>
            <a:ext cx="1600200" cy="5943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WRITES</a:t>
            </a:r>
            <a:endParaRPr lang="en-US" sz="1000" dirty="0"/>
          </a:p>
        </p:txBody>
      </p:sp>
      <p:sp>
        <p:nvSpPr>
          <p:cNvPr id="16" name="Shape 14"/>
          <p:cNvSpPr/>
          <p:nvPr/>
        </p:nvSpPr>
        <p:spPr>
          <a:xfrm>
            <a:off x="2606040" y="4251960"/>
            <a:ext cx="1600200" cy="59436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7" name="Text 15"/>
          <p:cNvSpPr/>
          <p:nvPr/>
        </p:nvSpPr>
        <p:spPr>
          <a:xfrm>
            <a:off x="2606040" y="4251960"/>
            <a:ext cx="1600200" cy="5943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PUBLISHES</a:t>
            </a:r>
            <a:endParaRPr lang="en-US" sz="950" dirty="0"/>
          </a:p>
        </p:txBody>
      </p:sp>
      <p:sp>
        <p:nvSpPr>
          <p:cNvPr id="18" name="Shape 16"/>
          <p:cNvSpPr/>
          <p:nvPr/>
        </p:nvSpPr>
        <p:spPr>
          <a:xfrm>
            <a:off x="6400800" y="2651760"/>
            <a:ext cx="1691640" cy="59436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9" name="Text 17"/>
          <p:cNvSpPr/>
          <p:nvPr/>
        </p:nvSpPr>
        <p:spPr>
          <a:xfrm>
            <a:off x="6400800" y="2651760"/>
            <a:ext cx="1691640" cy="5943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BORROWS</a:t>
            </a:r>
            <a:endParaRPr lang="en-US" sz="1000" dirty="0"/>
          </a:p>
        </p:txBody>
      </p:sp>
      <p:sp>
        <p:nvSpPr>
          <p:cNvPr id="20" name="Shape 18"/>
          <p:cNvSpPr/>
          <p:nvPr/>
        </p:nvSpPr>
        <p:spPr>
          <a:xfrm>
            <a:off x="8458200" y="3337560"/>
            <a:ext cx="1691640" cy="59436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21" name="Text 19"/>
          <p:cNvSpPr/>
          <p:nvPr/>
        </p:nvSpPr>
        <p:spPr>
          <a:xfrm>
            <a:off x="8458200" y="3337560"/>
            <a:ext cx="1691640" cy="5943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PROCESSES</a:t>
            </a:r>
            <a:endParaRPr lang="en-US" sz="950" dirty="0"/>
          </a:p>
        </p:txBody>
      </p:sp>
      <p:sp>
        <p:nvSpPr>
          <p:cNvPr id="22" name="Shape 20"/>
          <p:cNvSpPr/>
          <p:nvPr/>
        </p:nvSpPr>
        <p:spPr>
          <a:xfrm>
            <a:off x="2377440" y="2194560"/>
            <a:ext cx="228600" cy="45720"/>
          </a:xfrm>
          <a:prstGeom prst="line">
            <a:avLst/>
          </a:prstGeom>
          <a:noFill/>
          <a:ln w="19050">
            <a:solidFill>
              <a:srgbClr val="4C6076"/>
            </a:solidFill>
            <a:prstDash val="solid"/>
          </a:ln>
        </p:spPr>
      </p:sp>
      <p:sp>
        <p:nvSpPr>
          <p:cNvPr id="23" name="Shape 21"/>
          <p:cNvSpPr/>
          <p:nvPr/>
        </p:nvSpPr>
        <p:spPr>
          <a:xfrm>
            <a:off x="4206240" y="2240280"/>
            <a:ext cx="274320" cy="960120"/>
          </a:xfrm>
          <a:prstGeom prst="line">
            <a:avLst/>
          </a:prstGeom>
          <a:noFill/>
          <a:ln w="19050">
            <a:solidFill>
              <a:srgbClr val="4C6076"/>
            </a:solidFill>
            <a:prstDash val="solid"/>
          </a:ln>
        </p:spPr>
      </p:sp>
      <p:sp>
        <p:nvSpPr>
          <p:cNvPr id="24" name="Shape 22"/>
          <p:cNvSpPr/>
          <p:nvPr/>
        </p:nvSpPr>
        <p:spPr>
          <a:xfrm>
            <a:off x="2377440" y="4434840"/>
            <a:ext cx="228600" cy="91440"/>
          </a:xfrm>
          <a:prstGeom prst="line">
            <a:avLst/>
          </a:prstGeom>
          <a:noFill/>
          <a:ln w="19050">
            <a:solidFill>
              <a:srgbClr val="4C6076"/>
            </a:solidFill>
            <a:prstDash val="solid"/>
          </a:ln>
        </p:spPr>
      </p:sp>
      <p:sp>
        <p:nvSpPr>
          <p:cNvPr id="25" name="Shape 23"/>
          <p:cNvSpPr/>
          <p:nvPr/>
        </p:nvSpPr>
        <p:spPr>
          <a:xfrm flipV="1">
            <a:off x="4206240" y="3383280"/>
            <a:ext cx="274320" cy="1143000"/>
          </a:xfrm>
          <a:prstGeom prst="line">
            <a:avLst/>
          </a:prstGeom>
          <a:noFill/>
          <a:ln w="19050">
            <a:solidFill>
              <a:srgbClr val="4C6076"/>
            </a:solidFill>
            <a:prstDash val="solid"/>
          </a:ln>
        </p:spPr>
      </p:sp>
      <p:sp>
        <p:nvSpPr>
          <p:cNvPr id="26" name="Shape 24"/>
          <p:cNvSpPr/>
          <p:nvPr/>
        </p:nvSpPr>
        <p:spPr>
          <a:xfrm flipV="1">
            <a:off x="6217920" y="2926080"/>
            <a:ext cx="182880" cy="320040"/>
          </a:xfrm>
          <a:prstGeom prst="line">
            <a:avLst/>
          </a:prstGeom>
          <a:noFill/>
          <a:ln w="19050">
            <a:solidFill>
              <a:srgbClr val="4C6076"/>
            </a:solidFill>
            <a:prstDash val="solid"/>
          </a:ln>
        </p:spPr>
      </p:sp>
      <p:sp>
        <p:nvSpPr>
          <p:cNvPr id="27" name="Shape 25"/>
          <p:cNvSpPr/>
          <p:nvPr/>
        </p:nvSpPr>
        <p:spPr>
          <a:xfrm flipV="1">
            <a:off x="8092440" y="2377440"/>
            <a:ext cx="228600" cy="548640"/>
          </a:xfrm>
          <a:prstGeom prst="line">
            <a:avLst/>
          </a:prstGeom>
          <a:noFill/>
          <a:ln w="19050">
            <a:solidFill>
              <a:srgbClr val="4C6076"/>
            </a:solidFill>
            <a:prstDash val="solid"/>
          </a:ln>
        </p:spPr>
      </p:sp>
      <p:sp>
        <p:nvSpPr>
          <p:cNvPr id="28" name="Shape 26"/>
          <p:cNvSpPr/>
          <p:nvPr/>
        </p:nvSpPr>
        <p:spPr>
          <a:xfrm flipV="1">
            <a:off x="8321040" y="3657600"/>
            <a:ext cx="137160" cy="548640"/>
          </a:xfrm>
          <a:prstGeom prst="line">
            <a:avLst/>
          </a:prstGeom>
          <a:noFill/>
          <a:ln w="19050">
            <a:solidFill>
              <a:srgbClr val="4C6076"/>
            </a:solidFill>
            <a:prstDash val="solid"/>
          </a:ln>
        </p:spPr>
      </p:sp>
      <p:sp>
        <p:nvSpPr>
          <p:cNvPr id="29" name="Shape 27"/>
          <p:cNvSpPr/>
          <p:nvPr/>
        </p:nvSpPr>
        <p:spPr>
          <a:xfrm flipH="1">
            <a:off x="9235440" y="3337560"/>
            <a:ext cx="45720" cy="868680"/>
          </a:xfrm>
          <a:prstGeom prst="line">
            <a:avLst/>
          </a:prstGeom>
          <a:noFill/>
          <a:ln w="19050">
            <a:solidFill>
              <a:srgbClr val="4C6076"/>
            </a:solidFill>
            <a:prstDash val="solid"/>
          </a:ln>
        </p:spPr>
      </p:sp>
      <p:sp>
        <p:nvSpPr>
          <p:cNvPr id="30" name="Shape 28"/>
          <p:cNvSpPr/>
          <p:nvPr/>
        </p:nvSpPr>
        <p:spPr>
          <a:xfrm>
            <a:off x="6355080" y="4754880"/>
            <a:ext cx="1737360" cy="502920"/>
          </a:xfrm>
          <a:prstGeom prst="rect">
            <a:avLst/>
          </a:prstGeom>
          <a:solidFill>
            <a:srgbClr val="FFF3E0"/>
          </a:solidFill>
          <a:ln w="25400">
            <a:solidFill>
              <a:srgbClr val="C9861B"/>
            </a:solidFill>
            <a:prstDash val="solid"/>
          </a:ln>
          <a:effectLst>
            <a:outerShdw sx="100000" sy="100000" kx="0" ky="0" algn="bl" rotWithShape="0" blurRad="50800" dist="12700" dir="5400000">
              <a:srgbClr val="13253F">
                <a:alpha val="12000"/>
              </a:srgbClr>
            </a:outerShdw>
          </a:effectLst>
        </p:spPr>
      </p:sp>
      <p:sp>
        <p:nvSpPr>
          <p:cNvPr id="31" name="Text 29"/>
          <p:cNvSpPr/>
          <p:nvPr/>
        </p:nvSpPr>
        <p:spPr>
          <a:xfrm>
            <a:off x="6355080" y="4754880"/>
            <a:ext cx="173736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Loan</a:t>
            </a:r>
            <a:endParaRPr lang="en-US" sz="1100" dirty="0"/>
          </a:p>
        </p:txBody>
      </p:sp>
      <p:sp>
        <p:nvSpPr>
          <p:cNvPr id="32" name="Shape 30"/>
          <p:cNvSpPr/>
          <p:nvPr/>
        </p:nvSpPr>
        <p:spPr>
          <a:xfrm>
            <a:off x="7223760" y="3246120"/>
            <a:ext cx="9144" cy="1508760"/>
          </a:xfrm>
          <a:prstGeom prst="line">
            <a:avLst/>
          </a:prstGeom>
          <a:noFill/>
          <a:ln w="19050">
            <a:solidFill>
              <a:srgbClr val="C9861B"/>
            </a:solidFill>
            <a:prstDash val="dash"/>
          </a:ln>
        </p:spPr>
      </p:sp>
      <p:sp>
        <p:nvSpPr>
          <p:cNvPr id="33" name="Text 31"/>
          <p:cNvSpPr/>
          <p:nvPr/>
        </p:nvSpPr>
        <p:spPr>
          <a:xfrm>
            <a:off x="6903720" y="2331720"/>
            <a:ext cx="228600" cy="228600"/>
          </a:xfrm>
          <a:prstGeom prst="rect">
            <a:avLst/>
          </a:prstGeom>
          <a:noFill/>
          <a:ln/>
        </p:spPr>
        <p:txBody>
          <a:bodyPr wrap="square"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M</a:t>
            </a:r>
            <a:endParaRPr lang="en-US" sz="900" dirty="0"/>
          </a:p>
        </p:txBody>
      </p:sp>
      <p:sp>
        <p:nvSpPr>
          <p:cNvPr id="34" name="Text 32"/>
          <p:cNvSpPr/>
          <p:nvPr/>
        </p:nvSpPr>
        <p:spPr>
          <a:xfrm>
            <a:off x="8001000" y="2331720"/>
            <a:ext cx="228600" cy="228600"/>
          </a:xfrm>
          <a:prstGeom prst="rect">
            <a:avLst/>
          </a:prstGeom>
          <a:noFill/>
          <a:ln/>
        </p:spPr>
        <p:txBody>
          <a:bodyPr wrap="square" rtlCol="0" anchor="ctr"/>
          <a:lstStyle/>
          <a:p>
            <a:pPr indent="0" marL="0">
              <a:buNone/>
            </a:pPr>
            <a:r>
              <a:rPr lang="en-US" sz="900" b="1" dirty="0">
                <a:solidFill>
                  <a:srgbClr val="000000"/>
                </a:solidFill>
                <a:latin typeface="Calibri" pitchFamily="34" charset="0"/>
                <a:ea typeface="Calibri" pitchFamily="34" charset="-122"/>
                <a:cs typeface="Calibri" pitchFamily="34" charset="-120"/>
              </a:rPr>
              <a:t>N</a:t>
            </a:r>
            <a:endParaRPr lang="en-US" sz="900" dirty="0"/>
          </a:p>
        </p:txBody>
      </p:sp>
      <p:sp>
        <p:nvSpPr>
          <p:cNvPr id="35" name="Shape 33"/>
          <p:cNvSpPr/>
          <p:nvPr/>
        </p:nvSpPr>
        <p:spPr>
          <a:xfrm>
            <a:off x="502920" y="5486400"/>
            <a:ext cx="10817352" cy="777240"/>
          </a:xfrm>
          <a:prstGeom prst="roundRect">
            <a:avLst>
              <a:gd name="adj" fmla="val 11765"/>
            </a:avLst>
          </a:prstGeom>
          <a:solidFill>
            <a:srgbClr val="EAF2FB"/>
          </a:solidFill>
          <a:ln/>
        </p:spPr>
      </p:sp>
      <p:sp>
        <p:nvSpPr>
          <p:cNvPr id="36" name="Text 34"/>
          <p:cNvSpPr/>
          <p:nvPr/>
        </p:nvSpPr>
        <p:spPr>
          <a:xfrm>
            <a:off x="685800" y="5486400"/>
            <a:ext cx="10451592" cy="777240"/>
          </a:xfrm>
          <a:prstGeom prst="rect">
            <a:avLst/>
          </a:prstGeom>
          <a:noFill/>
          <a:ln/>
        </p:spPr>
        <p:txBody>
          <a:bodyPr wrap="square" rtlCol="0" anchor="ctr"/>
          <a:lstStyle/>
          <a:p>
            <a:pPr algn="ctr" indent="0" marL="0">
              <a:buNone/>
            </a:pPr>
            <a:r>
              <a:rPr lang="en-US" sz="1100" i="1" dirty="0">
                <a:solidFill>
                  <a:srgbClr val="0B2545"/>
                </a:solidFill>
                <a:latin typeface="Calibri" pitchFamily="34" charset="0"/>
                <a:ea typeface="Calibri" pitchFamily="34" charset="-122"/>
                <a:cs typeface="Calibri" pitchFamily="34" charset="-120"/>
              </a:rPr>
              <a:t>Rectangles = entities   ·   Diamonds = relationships   ·   Loan captures the details of each Member–Book borrowing event, resolving the many-to-many BORROWS relationship.</a:t>
            </a:r>
            <a:endParaRPr lang="en-US" sz="1100" dirty="0"/>
          </a:p>
        </p:txBody>
      </p:sp>
      <p:sp>
        <p:nvSpPr>
          <p:cNvPr id="37" name="Text 35"/>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05  ·  ER Model — Online Library System</a:t>
            </a:r>
            <a:endParaRPr lang="en-US" sz="950" dirty="0"/>
          </a:p>
        </p:txBody>
      </p:sp>
      <p:sp>
        <p:nvSpPr>
          <p:cNvPr id="38" name="Text 36"/>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25</a:t>
            </a:r>
            <a:endParaRPr lang="en-US" sz="950" dirty="0"/>
          </a:p>
        </p:txBody>
      </p:sp>
      <p:sp>
        <p:nvSpPr>
          <p:cNvPr id="39" name="Shape 37"/>
          <p:cNvSpPr/>
          <p:nvPr/>
        </p:nvSpPr>
        <p:spPr>
          <a:xfrm>
            <a:off x="502920" y="6473952"/>
            <a:ext cx="11185855" cy="10973"/>
          </a:xfrm>
          <a:prstGeom prst="rect">
            <a:avLst/>
          </a:prstGeom>
          <a:solidFill>
            <a:srgbClr val="D4E4F7"/>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06  ·  ENHANCED ER (EER) MODEL</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Generalization (Bottom-Up)</a:t>
            </a:r>
            <a:endParaRPr lang="en-US" sz="3000" dirty="0"/>
          </a:p>
        </p:txBody>
      </p:sp>
      <p:sp>
        <p:nvSpPr>
          <p:cNvPr id="4" name="Shape 2"/>
          <p:cNvSpPr/>
          <p:nvPr/>
        </p:nvSpPr>
        <p:spPr>
          <a:xfrm>
            <a:off x="7315200" y="4297680"/>
            <a:ext cx="164592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7315200" y="4297680"/>
            <a:ext cx="164592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Car</a:t>
            </a:r>
            <a:endParaRPr lang="en-US" sz="1100" dirty="0"/>
          </a:p>
        </p:txBody>
      </p:sp>
      <p:sp>
        <p:nvSpPr>
          <p:cNvPr id="6" name="Shape 4"/>
          <p:cNvSpPr/>
          <p:nvPr/>
        </p:nvSpPr>
        <p:spPr>
          <a:xfrm>
            <a:off x="9235440" y="4297680"/>
            <a:ext cx="164592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9235440" y="4297680"/>
            <a:ext cx="164592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Truck</a:t>
            </a:r>
            <a:endParaRPr lang="en-US" sz="1100" dirty="0"/>
          </a:p>
        </p:txBody>
      </p:sp>
      <p:sp>
        <p:nvSpPr>
          <p:cNvPr id="8" name="Shape 6"/>
          <p:cNvSpPr/>
          <p:nvPr/>
        </p:nvSpPr>
        <p:spPr>
          <a:xfrm flipV="1">
            <a:off x="8138160" y="3520440"/>
            <a:ext cx="548640" cy="777240"/>
          </a:xfrm>
          <a:prstGeom prst="line">
            <a:avLst/>
          </a:prstGeom>
          <a:noFill/>
          <a:ln w="19050">
            <a:solidFill>
              <a:srgbClr val="4C6076"/>
            </a:solidFill>
            <a:prstDash val="solid"/>
          </a:ln>
        </p:spPr>
      </p:sp>
      <p:sp>
        <p:nvSpPr>
          <p:cNvPr id="9" name="Shape 7"/>
          <p:cNvSpPr/>
          <p:nvPr/>
        </p:nvSpPr>
        <p:spPr>
          <a:xfrm flipH="1" flipV="1">
            <a:off x="9052560" y="3520440"/>
            <a:ext cx="1005840" cy="777240"/>
          </a:xfrm>
          <a:prstGeom prst="line">
            <a:avLst/>
          </a:prstGeom>
          <a:noFill/>
          <a:ln w="19050">
            <a:solidFill>
              <a:srgbClr val="4C6076"/>
            </a:solidFill>
            <a:prstDash val="solid"/>
          </a:ln>
        </p:spPr>
      </p:sp>
      <p:sp>
        <p:nvSpPr>
          <p:cNvPr id="10" name="Shape 8"/>
          <p:cNvSpPr/>
          <p:nvPr/>
        </p:nvSpPr>
        <p:spPr>
          <a:xfrm>
            <a:off x="8092440" y="3063240"/>
            <a:ext cx="1188720" cy="50292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1" name="Text 9"/>
          <p:cNvSpPr/>
          <p:nvPr/>
        </p:nvSpPr>
        <p:spPr>
          <a:xfrm>
            <a:off x="8092440" y="3063240"/>
            <a:ext cx="11887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ISA</a:t>
            </a:r>
            <a:endParaRPr lang="en-US" sz="1000" dirty="0"/>
          </a:p>
        </p:txBody>
      </p:sp>
      <p:sp>
        <p:nvSpPr>
          <p:cNvPr id="12" name="Shape 10"/>
          <p:cNvSpPr/>
          <p:nvPr/>
        </p:nvSpPr>
        <p:spPr>
          <a:xfrm flipV="1">
            <a:off x="8686800" y="2423160"/>
            <a:ext cx="9144" cy="640080"/>
          </a:xfrm>
          <a:prstGeom prst="line">
            <a:avLst/>
          </a:prstGeom>
          <a:noFill/>
          <a:ln w="19050">
            <a:solidFill>
              <a:srgbClr val="4C6076"/>
            </a:solidFill>
            <a:prstDash val="solid"/>
          </a:ln>
        </p:spPr>
      </p:sp>
      <p:sp>
        <p:nvSpPr>
          <p:cNvPr id="13" name="Shape 11"/>
          <p:cNvSpPr/>
          <p:nvPr/>
        </p:nvSpPr>
        <p:spPr>
          <a:xfrm>
            <a:off x="7818120" y="1874520"/>
            <a:ext cx="1737360" cy="502920"/>
          </a:xfrm>
          <a:prstGeom prst="rect">
            <a:avLst/>
          </a:prstGeom>
          <a:solidFill>
            <a:srgbClr val="0B2545"/>
          </a:solidFill>
          <a:ln w="25400">
            <a:solidFill>
              <a:srgbClr val="0B2545"/>
            </a:solidFill>
            <a:prstDash val="solid"/>
          </a:ln>
          <a:effectLst>
            <a:outerShdw sx="100000" sy="100000" kx="0" ky="0" algn="bl" rotWithShape="0" blurRad="50800" dist="12700" dir="5400000">
              <a:srgbClr val="13253F">
                <a:alpha val="12000"/>
              </a:srgbClr>
            </a:outerShdw>
          </a:effectLst>
        </p:spPr>
      </p:sp>
      <p:sp>
        <p:nvSpPr>
          <p:cNvPr id="14" name="Text 12"/>
          <p:cNvSpPr/>
          <p:nvPr/>
        </p:nvSpPr>
        <p:spPr>
          <a:xfrm>
            <a:off x="7818120" y="1874520"/>
            <a:ext cx="173736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Vehicle</a:t>
            </a:r>
            <a:endParaRPr lang="en-US" sz="1100" dirty="0"/>
          </a:p>
        </p:txBody>
      </p:sp>
      <p:sp>
        <p:nvSpPr>
          <p:cNvPr id="15" name="Text 13"/>
          <p:cNvSpPr/>
          <p:nvPr/>
        </p:nvSpPr>
        <p:spPr>
          <a:xfrm>
            <a:off x="7818120" y="1508760"/>
            <a:ext cx="1737360" cy="274320"/>
          </a:xfrm>
          <a:prstGeom prst="rect">
            <a:avLst/>
          </a:prstGeom>
          <a:noFill/>
          <a:ln/>
        </p:spPr>
        <p:txBody>
          <a:bodyPr wrap="square" rtlCol="0" anchor="ctr"/>
          <a:lstStyle/>
          <a:p>
            <a:pPr algn="ctr" indent="0" marL="0">
              <a:buNone/>
            </a:pPr>
            <a:r>
              <a:rPr lang="en-US" sz="950" i="1" dirty="0">
                <a:solidFill>
                  <a:srgbClr val="4C6076"/>
                </a:solidFill>
                <a:latin typeface="Calibri" pitchFamily="34" charset="0"/>
                <a:ea typeface="Calibri" pitchFamily="34" charset="-122"/>
                <a:cs typeface="Calibri" pitchFamily="34" charset="-120"/>
              </a:rPr>
              <a:t>Generalized</a:t>
            </a:r>
            <a:endParaRPr lang="en-US" sz="950" dirty="0"/>
          </a:p>
        </p:txBody>
      </p:sp>
      <p:sp>
        <p:nvSpPr>
          <p:cNvPr id="16" name="Text 14"/>
          <p:cNvSpPr/>
          <p:nvPr/>
        </p:nvSpPr>
        <p:spPr>
          <a:xfrm>
            <a:off x="502920" y="1737360"/>
            <a:ext cx="6675120" cy="3108960"/>
          </a:xfrm>
          <a:prstGeom prst="rect">
            <a:avLst/>
          </a:prstGeom>
          <a:noFill/>
          <a:ln/>
        </p:spPr>
        <p:txBody>
          <a:bodyPr wrap="square" rtlCol="0" anchor="t"/>
          <a:lstStyle/>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A bottom-up process: combine common attributes of several entities into one general "supertype" entity.</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Example: Car and Truck share attributes (RegistrationNo, Owner) → generalized into Vehicle.</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Reduces redundancy by storing shared attributes only once, in the supertype.</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The reverse conceptual direction of Specialization (next slide).</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Denoted with an ISA (is-a) relationship pointing upward to the supertype.</a:t>
            </a:r>
            <a:endParaRPr lang="en-US" sz="1300" dirty="0"/>
          </a:p>
        </p:txBody>
      </p:sp>
      <p:sp>
        <p:nvSpPr>
          <p:cNvPr id="17" name="Text 15"/>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06  ·  Enhanced ER (EER) Model</a:t>
            </a:r>
            <a:endParaRPr lang="en-US" sz="950" dirty="0"/>
          </a:p>
        </p:txBody>
      </p:sp>
      <p:sp>
        <p:nvSpPr>
          <p:cNvPr id="18" name="Text 16"/>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26</a:t>
            </a:r>
            <a:endParaRPr lang="en-US" sz="950" dirty="0"/>
          </a:p>
        </p:txBody>
      </p:sp>
      <p:sp>
        <p:nvSpPr>
          <p:cNvPr id="19" name="Shape 17"/>
          <p:cNvSpPr/>
          <p:nvPr/>
        </p:nvSpPr>
        <p:spPr>
          <a:xfrm>
            <a:off x="502920" y="6473952"/>
            <a:ext cx="11185855" cy="10973"/>
          </a:xfrm>
          <a:prstGeom prst="rect">
            <a:avLst/>
          </a:prstGeom>
          <a:solidFill>
            <a:srgbClr val="D4E4F7"/>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06  ·  ENHANCED ER (EER) MODEL</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Specialization (Top-Down)</a:t>
            </a:r>
            <a:endParaRPr lang="en-US" sz="3000" dirty="0"/>
          </a:p>
        </p:txBody>
      </p:sp>
      <p:sp>
        <p:nvSpPr>
          <p:cNvPr id="4" name="Shape 2"/>
          <p:cNvSpPr/>
          <p:nvPr/>
        </p:nvSpPr>
        <p:spPr>
          <a:xfrm>
            <a:off x="8366760" y="1691640"/>
            <a:ext cx="1828800" cy="502920"/>
          </a:xfrm>
          <a:prstGeom prst="rect">
            <a:avLst/>
          </a:prstGeom>
          <a:solidFill>
            <a:srgbClr val="0B2545"/>
          </a:solidFill>
          <a:ln w="25400">
            <a:solidFill>
              <a:srgbClr val="0B2545"/>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8366760" y="1691640"/>
            <a:ext cx="182880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Employee</a:t>
            </a:r>
            <a:endParaRPr lang="en-US" sz="1100" dirty="0"/>
          </a:p>
        </p:txBody>
      </p:sp>
      <p:sp>
        <p:nvSpPr>
          <p:cNvPr id="6" name="Shape 4"/>
          <p:cNvSpPr/>
          <p:nvPr/>
        </p:nvSpPr>
        <p:spPr>
          <a:xfrm>
            <a:off x="8549640" y="2514600"/>
            <a:ext cx="1463040" cy="50292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8549640" y="2514600"/>
            <a:ext cx="146304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ISA</a:t>
            </a:r>
            <a:endParaRPr lang="en-US" sz="1000" dirty="0"/>
          </a:p>
        </p:txBody>
      </p:sp>
      <p:sp>
        <p:nvSpPr>
          <p:cNvPr id="8" name="Shape 6"/>
          <p:cNvSpPr/>
          <p:nvPr/>
        </p:nvSpPr>
        <p:spPr>
          <a:xfrm>
            <a:off x="9281160" y="2194560"/>
            <a:ext cx="9144" cy="320040"/>
          </a:xfrm>
          <a:prstGeom prst="line">
            <a:avLst/>
          </a:prstGeom>
          <a:noFill/>
          <a:ln w="19050">
            <a:solidFill>
              <a:srgbClr val="4C6076"/>
            </a:solidFill>
            <a:prstDash val="solid"/>
          </a:ln>
        </p:spPr>
      </p:sp>
      <p:sp>
        <p:nvSpPr>
          <p:cNvPr id="9" name="Shape 7"/>
          <p:cNvSpPr/>
          <p:nvPr/>
        </p:nvSpPr>
        <p:spPr>
          <a:xfrm flipH="1">
            <a:off x="7863840" y="3017520"/>
            <a:ext cx="914400" cy="548640"/>
          </a:xfrm>
          <a:prstGeom prst="line">
            <a:avLst/>
          </a:prstGeom>
          <a:noFill/>
          <a:ln w="19050">
            <a:solidFill>
              <a:srgbClr val="4C6076"/>
            </a:solidFill>
            <a:prstDash val="solid"/>
          </a:ln>
        </p:spPr>
      </p:sp>
      <p:sp>
        <p:nvSpPr>
          <p:cNvPr id="10" name="Shape 8"/>
          <p:cNvSpPr/>
          <p:nvPr/>
        </p:nvSpPr>
        <p:spPr>
          <a:xfrm>
            <a:off x="9784080" y="3017520"/>
            <a:ext cx="914400" cy="548640"/>
          </a:xfrm>
          <a:prstGeom prst="line">
            <a:avLst/>
          </a:prstGeom>
          <a:noFill/>
          <a:ln w="19050">
            <a:solidFill>
              <a:srgbClr val="4C6076"/>
            </a:solidFill>
            <a:prstDash val="solid"/>
          </a:ln>
        </p:spPr>
      </p:sp>
      <p:sp>
        <p:nvSpPr>
          <p:cNvPr id="11" name="Shape 9"/>
          <p:cNvSpPr/>
          <p:nvPr/>
        </p:nvSpPr>
        <p:spPr>
          <a:xfrm>
            <a:off x="7040880" y="3566160"/>
            <a:ext cx="169164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2" name="Text 10"/>
          <p:cNvSpPr/>
          <p:nvPr/>
        </p:nvSpPr>
        <p:spPr>
          <a:xfrm>
            <a:off x="7040880" y="3566160"/>
            <a:ext cx="169164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Manager</a:t>
            </a:r>
            <a:endParaRPr lang="en-US" sz="1100" dirty="0"/>
          </a:p>
        </p:txBody>
      </p:sp>
      <p:sp>
        <p:nvSpPr>
          <p:cNvPr id="13" name="Shape 11"/>
          <p:cNvSpPr/>
          <p:nvPr/>
        </p:nvSpPr>
        <p:spPr>
          <a:xfrm>
            <a:off x="9829800" y="3566160"/>
            <a:ext cx="169164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4" name="Text 12"/>
          <p:cNvSpPr/>
          <p:nvPr/>
        </p:nvSpPr>
        <p:spPr>
          <a:xfrm>
            <a:off x="9829800" y="3566160"/>
            <a:ext cx="169164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Engineer</a:t>
            </a:r>
            <a:endParaRPr lang="en-US" sz="1100" dirty="0"/>
          </a:p>
        </p:txBody>
      </p:sp>
      <p:sp>
        <p:nvSpPr>
          <p:cNvPr id="15" name="Text 13"/>
          <p:cNvSpPr/>
          <p:nvPr/>
        </p:nvSpPr>
        <p:spPr>
          <a:xfrm>
            <a:off x="8366760" y="4251960"/>
            <a:ext cx="1828800" cy="274320"/>
          </a:xfrm>
          <a:prstGeom prst="rect">
            <a:avLst/>
          </a:prstGeom>
          <a:noFill/>
          <a:ln/>
        </p:spPr>
        <p:txBody>
          <a:bodyPr wrap="square" rtlCol="0" anchor="ctr"/>
          <a:lstStyle/>
          <a:p>
            <a:pPr algn="ctr" indent="0" marL="0">
              <a:buNone/>
            </a:pPr>
            <a:r>
              <a:rPr lang="en-US" sz="950" i="1" dirty="0">
                <a:solidFill>
                  <a:srgbClr val="4C6076"/>
                </a:solidFill>
                <a:latin typeface="Calibri" pitchFamily="34" charset="0"/>
                <a:ea typeface="Calibri" pitchFamily="34" charset="-122"/>
                <a:cs typeface="Calibri" pitchFamily="34" charset="-120"/>
              </a:rPr>
              <a:t>Specialized</a:t>
            </a:r>
            <a:endParaRPr lang="en-US" sz="950" dirty="0"/>
          </a:p>
        </p:txBody>
      </p:sp>
      <p:sp>
        <p:nvSpPr>
          <p:cNvPr id="16" name="Text 14"/>
          <p:cNvSpPr/>
          <p:nvPr/>
        </p:nvSpPr>
        <p:spPr>
          <a:xfrm>
            <a:off x="502920" y="1737360"/>
            <a:ext cx="6675120" cy="3108960"/>
          </a:xfrm>
          <a:prstGeom prst="rect">
            <a:avLst/>
          </a:prstGeom>
          <a:noFill/>
          <a:ln/>
        </p:spPr>
        <p:txBody>
          <a:bodyPr wrap="square" rtlCol="0" anchor="t"/>
          <a:lstStyle/>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A top-down process: divide a general entity into more specific subtypes with distinct attributes.</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Example: Employee specialized into Manager (has TeamSize) and Engineer (has Specialization field).</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Each subtype inherits all attributes of the supertype, plus its own unique attributes.</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Useful when subsets of entities need extra, subtype-specific detail.</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Can be total (every employee must be a subtype) or partial (some may be neither).</a:t>
            </a:r>
            <a:endParaRPr lang="en-US" sz="1300" dirty="0"/>
          </a:p>
        </p:txBody>
      </p:sp>
      <p:sp>
        <p:nvSpPr>
          <p:cNvPr id="17" name="Text 15"/>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06  ·  Enhanced ER (EER) Model</a:t>
            </a:r>
            <a:endParaRPr lang="en-US" sz="950" dirty="0"/>
          </a:p>
        </p:txBody>
      </p:sp>
      <p:sp>
        <p:nvSpPr>
          <p:cNvPr id="18" name="Text 16"/>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27</a:t>
            </a:r>
            <a:endParaRPr lang="en-US" sz="950" dirty="0"/>
          </a:p>
        </p:txBody>
      </p:sp>
      <p:sp>
        <p:nvSpPr>
          <p:cNvPr id="19" name="Shape 17"/>
          <p:cNvSpPr/>
          <p:nvPr/>
        </p:nvSpPr>
        <p:spPr>
          <a:xfrm>
            <a:off x="502920" y="6473952"/>
            <a:ext cx="11185855" cy="10973"/>
          </a:xfrm>
          <a:prstGeom prst="rect">
            <a:avLst/>
          </a:prstGeom>
          <a:solidFill>
            <a:srgbClr val="D4E4F7"/>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06  ·  ENHANCED ER (EER) MODEL</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Aggregation</a:t>
            </a:r>
            <a:endParaRPr lang="en-US" sz="3000" dirty="0"/>
          </a:p>
        </p:txBody>
      </p:sp>
      <p:sp>
        <p:nvSpPr>
          <p:cNvPr id="4" name="Shape 2"/>
          <p:cNvSpPr/>
          <p:nvPr/>
        </p:nvSpPr>
        <p:spPr>
          <a:xfrm>
            <a:off x="7635240" y="1691640"/>
            <a:ext cx="164592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7635240" y="1691640"/>
            <a:ext cx="164592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Employee</a:t>
            </a:r>
            <a:endParaRPr lang="en-US" sz="1050" dirty="0"/>
          </a:p>
        </p:txBody>
      </p:sp>
      <p:sp>
        <p:nvSpPr>
          <p:cNvPr id="6" name="Shape 4"/>
          <p:cNvSpPr/>
          <p:nvPr/>
        </p:nvSpPr>
        <p:spPr>
          <a:xfrm>
            <a:off x="9738360" y="1691640"/>
            <a:ext cx="164592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9738360" y="1691640"/>
            <a:ext cx="164592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Project</a:t>
            </a:r>
            <a:endParaRPr lang="en-US" sz="1050" dirty="0"/>
          </a:p>
        </p:txBody>
      </p:sp>
      <p:sp>
        <p:nvSpPr>
          <p:cNvPr id="8" name="Shape 6"/>
          <p:cNvSpPr/>
          <p:nvPr/>
        </p:nvSpPr>
        <p:spPr>
          <a:xfrm>
            <a:off x="8412480" y="2423160"/>
            <a:ext cx="1737360" cy="59436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9" name="Text 7"/>
          <p:cNvSpPr/>
          <p:nvPr/>
        </p:nvSpPr>
        <p:spPr>
          <a:xfrm>
            <a:off x="8412480" y="2423160"/>
            <a:ext cx="1737360" cy="5943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WORKS-ON</a:t>
            </a:r>
            <a:endParaRPr lang="en-US" sz="950" dirty="0"/>
          </a:p>
        </p:txBody>
      </p:sp>
      <p:sp>
        <p:nvSpPr>
          <p:cNvPr id="10" name="Shape 8"/>
          <p:cNvSpPr/>
          <p:nvPr/>
        </p:nvSpPr>
        <p:spPr>
          <a:xfrm>
            <a:off x="8458200" y="2194560"/>
            <a:ext cx="594360" cy="228600"/>
          </a:xfrm>
          <a:prstGeom prst="line">
            <a:avLst/>
          </a:prstGeom>
          <a:noFill/>
          <a:ln w="19050">
            <a:solidFill>
              <a:srgbClr val="4C6076"/>
            </a:solidFill>
            <a:prstDash val="solid"/>
          </a:ln>
        </p:spPr>
      </p:sp>
      <p:sp>
        <p:nvSpPr>
          <p:cNvPr id="11" name="Shape 9"/>
          <p:cNvSpPr/>
          <p:nvPr/>
        </p:nvSpPr>
        <p:spPr>
          <a:xfrm flipH="1">
            <a:off x="9692640" y="2194560"/>
            <a:ext cx="868680" cy="228600"/>
          </a:xfrm>
          <a:prstGeom prst="line">
            <a:avLst/>
          </a:prstGeom>
          <a:noFill/>
          <a:ln w="19050">
            <a:solidFill>
              <a:srgbClr val="4C6076"/>
            </a:solidFill>
            <a:prstDash val="solid"/>
          </a:ln>
        </p:spPr>
      </p:sp>
      <p:sp>
        <p:nvSpPr>
          <p:cNvPr id="12" name="Shape 10"/>
          <p:cNvSpPr/>
          <p:nvPr/>
        </p:nvSpPr>
        <p:spPr>
          <a:xfrm>
            <a:off x="8138160" y="1508760"/>
            <a:ext cx="3063240" cy="1691640"/>
          </a:xfrm>
          <a:prstGeom prst="rect">
            <a:avLst/>
          </a:prstGeom>
          <a:ln w="19050">
            <a:solidFill>
              <a:srgbClr val="0B2545"/>
            </a:solidFill>
            <a:prstDash val="dash"/>
          </a:ln>
        </p:spPr>
      </p:sp>
      <p:sp>
        <p:nvSpPr>
          <p:cNvPr id="13" name="Shape 11"/>
          <p:cNvSpPr/>
          <p:nvPr/>
        </p:nvSpPr>
        <p:spPr>
          <a:xfrm>
            <a:off x="9281160" y="3200400"/>
            <a:ext cx="9144" cy="548640"/>
          </a:xfrm>
          <a:prstGeom prst="line">
            <a:avLst/>
          </a:prstGeom>
          <a:noFill/>
          <a:ln w="19050">
            <a:solidFill>
              <a:srgbClr val="4C6076"/>
            </a:solidFill>
            <a:prstDash val="solid"/>
          </a:ln>
        </p:spPr>
      </p:sp>
      <p:sp>
        <p:nvSpPr>
          <p:cNvPr id="14" name="Shape 12"/>
          <p:cNvSpPr/>
          <p:nvPr/>
        </p:nvSpPr>
        <p:spPr>
          <a:xfrm>
            <a:off x="8412480" y="3749040"/>
            <a:ext cx="1737360" cy="54864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5" name="Text 13"/>
          <p:cNvSpPr/>
          <p:nvPr/>
        </p:nvSpPr>
        <p:spPr>
          <a:xfrm>
            <a:off x="8412480" y="3749040"/>
            <a:ext cx="1737360" cy="54864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MANAGES</a:t>
            </a:r>
            <a:endParaRPr lang="en-US" sz="950" dirty="0"/>
          </a:p>
        </p:txBody>
      </p:sp>
      <p:sp>
        <p:nvSpPr>
          <p:cNvPr id="16" name="Shape 14"/>
          <p:cNvSpPr/>
          <p:nvPr/>
        </p:nvSpPr>
        <p:spPr>
          <a:xfrm flipH="1">
            <a:off x="7680960" y="4023360"/>
            <a:ext cx="731520" cy="274320"/>
          </a:xfrm>
          <a:prstGeom prst="line">
            <a:avLst/>
          </a:prstGeom>
          <a:noFill/>
          <a:ln w="19050">
            <a:solidFill>
              <a:srgbClr val="4C6076"/>
            </a:solidFill>
            <a:prstDash val="solid"/>
          </a:ln>
        </p:spPr>
      </p:sp>
      <p:sp>
        <p:nvSpPr>
          <p:cNvPr id="17" name="Shape 15"/>
          <p:cNvSpPr/>
          <p:nvPr/>
        </p:nvSpPr>
        <p:spPr>
          <a:xfrm>
            <a:off x="6720840" y="429768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8" name="Text 16"/>
          <p:cNvSpPr/>
          <p:nvPr/>
        </p:nvSpPr>
        <p:spPr>
          <a:xfrm>
            <a:off x="6720840" y="4297680"/>
            <a:ext cx="173736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Manager</a:t>
            </a:r>
            <a:endParaRPr lang="en-US" sz="1050" dirty="0"/>
          </a:p>
        </p:txBody>
      </p:sp>
      <p:sp>
        <p:nvSpPr>
          <p:cNvPr id="19" name="Text 17"/>
          <p:cNvSpPr/>
          <p:nvPr/>
        </p:nvSpPr>
        <p:spPr>
          <a:xfrm>
            <a:off x="6537960" y="4937760"/>
            <a:ext cx="5029200" cy="502920"/>
          </a:xfrm>
          <a:prstGeom prst="rect">
            <a:avLst/>
          </a:prstGeom>
          <a:noFill/>
          <a:ln/>
        </p:spPr>
        <p:txBody>
          <a:bodyPr wrap="square" rtlCol="0" anchor="ctr"/>
          <a:lstStyle/>
          <a:p>
            <a:pPr algn="ctr" indent="0" marL="0">
              <a:buNone/>
            </a:pPr>
            <a:r>
              <a:rPr lang="en-US" sz="950" i="1" dirty="0">
                <a:solidFill>
                  <a:srgbClr val="4C6076"/>
                </a:solidFill>
                <a:latin typeface="Calibri" pitchFamily="34" charset="0"/>
                <a:ea typeface="Calibri" pitchFamily="34" charset="-122"/>
                <a:cs typeface="Calibri" pitchFamily="34" charset="-120"/>
              </a:rPr>
              <a:t>The dashed box (a relationship + its entities) is treated as one higher-level object</a:t>
            </a:r>
            <a:endParaRPr lang="en-US" sz="950" dirty="0"/>
          </a:p>
        </p:txBody>
      </p:sp>
      <p:sp>
        <p:nvSpPr>
          <p:cNvPr id="20" name="Text 18"/>
          <p:cNvSpPr/>
          <p:nvPr/>
        </p:nvSpPr>
        <p:spPr>
          <a:xfrm>
            <a:off x="502920" y="1737360"/>
            <a:ext cx="6675120" cy="3108960"/>
          </a:xfrm>
          <a:prstGeom prst="rect">
            <a:avLst/>
          </a:prstGeom>
          <a:noFill/>
          <a:ln/>
        </p:spPr>
        <p:txBody>
          <a:bodyPr wrap="square" rtlCol="0" anchor="t"/>
          <a:lstStyle/>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Treats a relationship itself as a higher-level "object" that can participate in further relationships.</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Example: Employee WORKS-ON Project is aggregated, then MANAGES links a Manager to that whole relationship.</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Solves the problem where a relationship needs to connect to another relationship, which basic ER cannot express directly.</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Common in project-management and staffing systems.</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Represented by enclosing the relationship and its entities in a dashed boundary.</a:t>
            </a:r>
            <a:endParaRPr lang="en-US" sz="1250" dirty="0"/>
          </a:p>
        </p:txBody>
      </p:sp>
      <p:sp>
        <p:nvSpPr>
          <p:cNvPr id="21" name="Text 19"/>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06  ·  Enhanced ER (EER) Model</a:t>
            </a:r>
            <a:endParaRPr lang="en-US" sz="950" dirty="0"/>
          </a:p>
        </p:txBody>
      </p:sp>
      <p:sp>
        <p:nvSpPr>
          <p:cNvPr id="22" name="Text 20"/>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28</a:t>
            </a:r>
            <a:endParaRPr lang="en-US" sz="950" dirty="0"/>
          </a:p>
        </p:txBody>
      </p:sp>
      <p:sp>
        <p:nvSpPr>
          <p:cNvPr id="23" name="Shape 21"/>
          <p:cNvSpPr/>
          <p:nvPr/>
        </p:nvSpPr>
        <p:spPr>
          <a:xfrm>
            <a:off x="502920" y="6473952"/>
            <a:ext cx="11185855" cy="10973"/>
          </a:xfrm>
          <a:prstGeom prst="rect">
            <a:avLst/>
          </a:prstGeom>
          <a:solidFill>
            <a:srgbClr val="D4E4F7"/>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06  ·  ENHANCED ER (EER) MODEL</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Case Study: University System</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university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Applying EER Concepts</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One case study, all three EER techniques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Person is generalized from shared attributes of Student and Faculty (Name, DOB, Address).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Student is specialized into Undergraduate and Graduate, each with distinct attributes (Major vs Thesis Topic).</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Faculty is specialized into Professor and Lecturer with different contract attributes.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Course ENROLLS Student is aggregated so a Department can be linked to overall enrollment statistics.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This combination of generalization, specialization, and aggregation is typical of real institutional systems.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Result: a rich, accurate model that a plain ER diagram alone could not express cleanly.</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06  ·  Enhanced ER (EER) Model</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29</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06  ·  ENHANCED ER (EER) MODEL</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EER Diagram — University System</a:t>
            </a:r>
            <a:endParaRPr lang="en-US" sz="3000" dirty="0"/>
          </a:p>
        </p:txBody>
      </p:sp>
      <p:sp>
        <p:nvSpPr>
          <p:cNvPr id="4" name="Shape 2"/>
          <p:cNvSpPr/>
          <p:nvPr/>
        </p:nvSpPr>
        <p:spPr>
          <a:xfrm>
            <a:off x="4937760" y="1554480"/>
            <a:ext cx="1920240" cy="502920"/>
          </a:xfrm>
          <a:prstGeom prst="rect">
            <a:avLst/>
          </a:prstGeom>
          <a:solidFill>
            <a:srgbClr val="0B2545"/>
          </a:solidFill>
          <a:ln w="25400">
            <a:solidFill>
              <a:srgbClr val="0B2545"/>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4937760" y="1554480"/>
            <a:ext cx="192024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a:t>
            </a:r>
            <a:endParaRPr lang="en-US" sz="1100" dirty="0"/>
          </a:p>
        </p:txBody>
      </p:sp>
      <p:sp>
        <p:nvSpPr>
          <p:cNvPr id="6" name="Shape 4"/>
          <p:cNvSpPr/>
          <p:nvPr/>
        </p:nvSpPr>
        <p:spPr>
          <a:xfrm>
            <a:off x="5212080" y="2286000"/>
            <a:ext cx="137160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5212080" y="2286000"/>
            <a:ext cx="137160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ISA</a:t>
            </a:r>
            <a:endParaRPr lang="en-US" sz="950" dirty="0"/>
          </a:p>
        </p:txBody>
      </p:sp>
      <p:sp>
        <p:nvSpPr>
          <p:cNvPr id="8" name="Shape 6"/>
          <p:cNvSpPr/>
          <p:nvPr/>
        </p:nvSpPr>
        <p:spPr>
          <a:xfrm>
            <a:off x="5897880" y="2057400"/>
            <a:ext cx="9144" cy="228600"/>
          </a:xfrm>
          <a:prstGeom prst="line">
            <a:avLst/>
          </a:prstGeom>
          <a:noFill/>
          <a:ln w="19050">
            <a:solidFill>
              <a:srgbClr val="4C6076"/>
            </a:solidFill>
            <a:prstDash val="solid"/>
          </a:ln>
        </p:spPr>
      </p:sp>
      <p:sp>
        <p:nvSpPr>
          <p:cNvPr id="9" name="Shape 7"/>
          <p:cNvSpPr/>
          <p:nvPr/>
        </p:nvSpPr>
        <p:spPr>
          <a:xfrm flipH="1">
            <a:off x="3291840" y="2743200"/>
            <a:ext cx="2286000" cy="502920"/>
          </a:xfrm>
          <a:prstGeom prst="line">
            <a:avLst/>
          </a:prstGeom>
          <a:noFill/>
          <a:ln w="19050">
            <a:solidFill>
              <a:srgbClr val="4C6076"/>
            </a:solidFill>
            <a:prstDash val="solid"/>
          </a:ln>
        </p:spPr>
      </p:sp>
      <p:sp>
        <p:nvSpPr>
          <p:cNvPr id="10" name="Shape 8"/>
          <p:cNvSpPr/>
          <p:nvPr/>
        </p:nvSpPr>
        <p:spPr>
          <a:xfrm>
            <a:off x="6217920" y="2743200"/>
            <a:ext cx="2560320" cy="502920"/>
          </a:xfrm>
          <a:prstGeom prst="line">
            <a:avLst/>
          </a:prstGeom>
          <a:noFill/>
          <a:ln w="19050">
            <a:solidFill>
              <a:srgbClr val="4C6076"/>
            </a:solidFill>
            <a:prstDash val="solid"/>
          </a:ln>
        </p:spPr>
      </p:sp>
      <p:sp>
        <p:nvSpPr>
          <p:cNvPr id="11" name="Shape 9"/>
          <p:cNvSpPr/>
          <p:nvPr/>
        </p:nvSpPr>
        <p:spPr>
          <a:xfrm>
            <a:off x="2377440" y="3246120"/>
            <a:ext cx="182880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2" name="Text 10"/>
          <p:cNvSpPr/>
          <p:nvPr/>
        </p:nvSpPr>
        <p:spPr>
          <a:xfrm>
            <a:off x="2377440" y="3246120"/>
            <a:ext cx="182880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Student</a:t>
            </a:r>
            <a:endParaRPr lang="en-US" sz="1100" dirty="0"/>
          </a:p>
        </p:txBody>
      </p:sp>
      <p:sp>
        <p:nvSpPr>
          <p:cNvPr id="13" name="Shape 11"/>
          <p:cNvSpPr/>
          <p:nvPr/>
        </p:nvSpPr>
        <p:spPr>
          <a:xfrm>
            <a:off x="7955280" y="3246120"/>
            <a:ext cx="182880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4" name="Text 12"/>
          <p:cNvSpPr/>
          <p:nvPr/>
        </p:nvSpPr>
        <p:spPr>
          <a:xfrm>
            <a:off x="7955280" y="3246120"/>
            <a:ext cx="182880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Faculty</a:t>
            </a:r>
            <a:endParaRPr lang="en-US" sz="1100" dirty="0"/>
          </a:p>
        </p:txBody>
      </p:sp>
      <p:sp>
        <p:nvSpPr>
          <p:cNvPr id="15" name="Shape 13"/>
          <p:cNvSpPr/>
          <p:nvPr/>
        </p:nvSpPr>
        <p:spPr>
          <a:xfrm>
            <a:off x="2514600" y="3977640"/>
            <a:ext cx="155448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6" name="Text 14"/>
          <p:cNvSpPr/>
          <p:nvPr/>
        </p:nvSpPr>
        <p:spPr>
          <a:xfrm>
            <a:off x="2514600" y="3977640"/>
            <a:ext cx="155448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ISA</a:t>
            </a:r>
            <a:endParaRPr lang="en-US" sz="950" dirty="0"/>
          </a:p>
        </p:txBody>
      </p:sp>
      <p:sp>
        <p:nvSpPr>
          <p:cNvPr id="17" name="Shape 15"/>
          <p:cNvSpPr/>
          <p:nvPr/>
        </p:nvSpPr>
        <p:spPr>
          <a:xfrm>
            <a:off x="3291840" y="3749040"/>
            <a:ext cx="9144" cy="228600"/>
          </a:xfrm>
          <a:prstGeom prst="line">
            <a:avLst/>
          </a:prstGeom>
          <a:noFill/>
          <a:ln w="19050">
            <a:solidFill>
              <a:srgbClr val="4C6076"/>
            </a:solidFill>
            <a:prstDash val="solid"/>
          </a:ln>
        </p:spPr>
      </p:sp>
      <p:sp>
        <p:nvSpPr>
          <p:cNvPr id="18" name="Shape 16"/>
          <p:cNvSpPr/>
          <p:nvPr/>
        </p:nvSpPr>
        <p:spPr>
          <a:xfrm flipH="1">
            <a:off x="1280160" y="4434840"/>
            <a:ext cx="1554480" cy="457200"/>
          </a:xfrm>
          <a:prstGeom prst="line">
            <a:avLst/>
          </a:prstGeom>
          <a:noFill/>
          <a:ln w="19050">
            <a:solidFill>
              <a:srgbClr val="4C6076"/>
            </a:solidFill>
            <a:prstDash val="solid"/>
          </a:ln>
        </p:spPr>
      </p:sp>
      <p:sp>
        <p:nvSpPr>
          <p:cNvPr id="19" name="Shape 17"/>
          <p:cNvSpPr/>
          <p:nvPr/>
        </p:nvSpPr>
        <p:spPr>
          <a:xfrm>
            <a:off x="3291840" y="4434840"/>
            <a:ext cx="1097280" cy="457200"/>
          </a:xfrm>
          <a:prstGeom prst="line">
            <a:avLst/>
          </a:prstGeom>
          <a:noFill/>
          <a:ln w="19050">
            <a:solidFill>
              <a:srgbClr val="4C6076"/>
            </a:solidFill>
            <a:prstDash val="solid"/>
          </a:ln>
        </p:spPr>
      </p:sp>
      <p:sp>
        <p:nvSpPr>
          <p:cNvPr id="20" name="Shape 18"/>
          <p:cNvSpPr/>
          <p:nvPr/>
        </p:nvSpPr>
        <p:spPr>
          <a:xfrm>
            <a:off x="502920" y="4892040"/>
            <a:ext cx="1691640" cy="502920"/>
          </a:xfrm>
          <a:prstGeom prst="rect">
            <a:avLst/>
          </a:prstGeom>
          <a:solidFill>
            <a:srgbClr val="FFFFFF"/>
          </a:solidFill>
          <a:ln w="25400">
            <a:solidFill>
              <a:srgbClr val="5B9BD5"/>
            </a:solidFill>
            <a:prstDash val="solid"/>
          </a:ln>
          <a:effectLst>
            <a:outerShdw sx="100000" sy="100000" kx="0" ky="0" algn="bl" rotWithShape="0" blurRad="50800" dist="12700" dir="5400000">
              <a:srgbClr val="13253F">
                <a:alpha val="12000"/>
              </a:srgbClr>
            </a:outerShdw>
          </a:effectLst>
        </p:spPr>
      </p:sp>
      <p:sp>
        <p:nvSpPr>
          <p:cNvPr id="21" name="Text 19"/>
          <p:cNvSpPr/>
          <p:nvPr/>
        </p:nvSpPr>
        <p:spPr>
          <a:xfrm>
            <a:off x="502920" y="4892040"/>
            <a:ext cx="1691640" cy="502920"/>
          </a:xfrm>
          <a:prstGeom prst="rect">
            <a:avLst/>
          </a:prstGeom>
          <a:noFill/>
          <a:ln/>
        </p:spPr>
        <p:txBody>
          <a:bodyPr wrap="square"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Undergrad</a:t>
            </a:r>
            <a:endParaRPr lang="en-US" sz="1000" dirty="0"/>
          </a:p>
        </p:txBody>
      </p:sp>
      <p:sp>
        <p:nvSpPr>
          <p:cNvPr id="22" name="Shape 20"/>
          <p:cNvSpPr/>
          <p:nvPr/>
        </p:nvSpPr>
        <p:spPr>
          <a:xfrm>
            <a:off x="3566160" y="4892040"/>
            <a:ext cx="1691640" cy="502920"/>
          </a:xfrm>
          <a:prstGeom prst="rect">
            <a:avLst/>
          </a:prstGeom>
          <a:solidFill>
            <a:srgbClr val="FFFFFF"/>
          </a:solidFill>
          <a:ln w="25400">
            <a:solidFill>
              <a:srgbClr val="5B9BD5"/>
            </a:solidFill>
            <a:prstDash val="solid"/>
          </a:ln>
          <a:effectLst>
            <a:outerShdw sx="100000" sy="100000" kx="0" ky="0" algn="bl" rotWithShape="0" blurRad="50800" dist="12700" dir="5400000">
              <a:srgbClr val="13253F">
                <a:alpha val="12000"/>
              </a:srgbClr>
            </a:outerShdw>
          </a:effectLst>
        </p:spPr>
      </p:sp>
      <p:sp>
        <p:nvSpPr>
          <p:cNvPr id="23" name="Text 21"/>
          <p:cNvSpPr/>
          <p:nvPr/>
        </p:nvSpPr>
        <p:spPr>
          <a:xfrm>
            <a:off x="3566160" y="4892040"/>
            <a:ext cx="1691640" cy="502920"/>
          </a:xfrm>
          <a:prstGeom prst="rect">
            <a:avLst/>
          </a:prstGeom>
          <a:noFill/>
          <a:ln/>
        </p:spPr>
        <p:txBody>
          <a:bodyPr wrap="square"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Graduate</a:t>
            </a:r>
            <a:endParaRPr lang="en-US" sz="1000" dirty="0"/>
          </a:p>
        </p:txBody>
      </p:sp>
      <p:sp>
        <p:nvSpPr>
          <p:cNvPr id="24" name="Shape 22"/>
          <p:cNvSpPr/>
          <p:nvPr/>
        </p:nvSpPr>
        <p:spPr>
          <a:xfrm>
            <a:off x="8092440" y="3977640"/>
            <a:ext cx="155448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25" name="Text 23"/>
          <p:cNvSpPr/>
          <p:nvPr/>
        </p:nvSpPr>
        <p:spPr>
          <a:xfrm>
            <a:off x="8092440" y="3977640"/>
            <a:ext cx="155448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ISA</a:t>
            </a:r>
            <a:endParaRPr lang="en-US" sz="950" dirty="0"/>
          </a:p>
        </p:txBody>
      </p:sp>
      <p:sp>
        <p:nvSpPr>
          <p:cNvPr id="26" name="Shape 24"/>
          <p:cNvSpPr/>
          <p:nvPr/>
        </p:nvSpPr>
        <p:spPr>
          <a:xfrm>
            <a:off x="8869680" y="3749040"/>
            <a:ext cx="9144" cy="228600"/>
          </a:xfrm>
          <a:prstGeom prst="line">
            <a:avLst/>
          </a:prstGeom>
          <a:noFill/>
          <a:ln w="19050">
            <a:solidFill>
              <a:srgbClr val="4C6076"/>
            </a:solidFill>
            <a:prstDash val="solid"/>
          </a:ln>
        </p:spPr>
      </p:sp>
      <p:sp>
        <p:nvSpPr>
          <p:cNvPr id="27" name="Shape 25"/>
          <p:cNvSpPr/>
          <p:nvPr/>
        </p:nvSpPr>
        <p:spPr>
          <a:xfrm flipH="1">
            <a:off x="7223760" y="4434840"/>
            <a:ext cx="1188720" cy="457200"/>
          </a:xfrm>
          <a:prstGeom prst="line">
            <a:avLst/>
          </a:prstGeom>
          <a:noFill/>
          <a:ln w="19050">
            <a:solidFill>
              <a:srgbClr val="4C6076"/>
            </a:solidFill>
            <a:prstDash val="solid"/>
          </a:ln>
        </p:spPr>
      </p:sp>
      <p:sp>
        <p:nvSpPr>
          <p:cNvPr id="28" name="Shape 26"/>
          <p:cNvSpPr/>
          <p:nvPr/>
        </p:nvSpPr>
        <p:spPr>
          <a:xfrm>
            <a:off x="8869680" y="4434840"/>
            <a:ext cx="1097280" cy="457200"/>
          </a:xfrm>
          <a:prstGeom prst="line">
            <a:avLst/>
          </a:prstGeom>
          <a:noFill/>
          <a:ln w="19050">
            <a:solidFill>
              <a:srgbClr val="4C6076"/>
            </a:solidFill>
            <a:prstDash val="solid"/>
          </a:ln>
        </p:spPr>
      </p:sp>
      <p:sp>
        <p:nvSpPr>
          <p:cNvPr id="29" name="Shape 27"/>
          <p:cNvSpPr/>
          <p:nvPr/>
        </p:nvSpPr>
        <p:spPr>
          <a:xfrm>
            <a:off x="6446520" y="4892040"/>
            <a:ext cx="1691640" cy="502920"/>
          </a:xfrm>
          <a:prstGeom prst="rect">
            <a:avLst/>
          </a:prstGeom>
          <a:solidFill>
            <a:srgbClr val="FFFFFF"/>
          </a:solidFill>
          <a:ln w="25400">
            <a:solidFill>
              <a:srgbClr val="5B9BD5"/>
            </a:solidFill>
            <a:prstDash val="solid"/>
          </a:ln>
          <a:effectLst>
            <a:outerShdw sx="100000" sy="100000" kx="0" ky="0" algn="bl" rotWithShape="0" blurRad="50800" dist="12700" dir="5400000">
              <a:srgbClr val="13253F">
                <a:alpha val="12000"/>
              </a:srgbClr>
            </a:outerShdw>
          </a:effectLst>
        </p:spPr>
      </p:sp>
      <p:sp>
        <p:nvSpPr>
          <p:cNvPr id="30" name="Text 28"/>
          <p:cNvSpPr/>
          <p:nvPr/>
        </p:nvSpPr>
        <p:spPr>
          <a:xfrm>
            <a:off x="6446520" y="4892040"/>
            <a:ext cx="1691640" cy="502920"/>
          </a:xfrm>
          <a:prstGeom prst="rect">
            <a:avLst/>
          </a:prstGeom>
          <a:noFill/>
          <a:ln/>
        </p:spPr>
        <p:txBody>
          <a:bodyPr wrap="square"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Professor</a:t>
            </a:r>
            <a:endParaRPr lang="en-US" sz="1000" dirty="0"/>
          </a:p>
        </p:txBody>
      </p:sp>
      <p:sp>
        <p:nvSpPr>
          <p:cNvPr id="31" name="Shape 29"/>
          <p:cNvSpPr/>
          <p:nvPr/>
        </p:nvSpPr>
        <p:spPr>
          <a:xfrm>
            <a:off x="9144000" y="4892040"/>
            <a:ext cx="1691640" cy="502920"/>
          </a:xfrm>
          <a:prstGeom prst="rect">
            <a:avLst/>
          </a:prstGeom>
          <a:solidFill>
            <a:srgbClr val="FFFFFF"/>
          </a:solidFill>
          <a:ln w="25400">
            <a:solidFill>
              <a:srgbClr val="5B9BD5"/>
            </a:solidFill>
            <a:prstDash val="solid"/>
          </a:ln>
          <a:effectLst>
            <a:outerShdw sx="100000" sy="100000" kx="0" ky="0" algn="bl" rotWithShape="0" blurRad="50800" dist="12700" dir="5400000">
              <a:srgbClr val="13253F">
                <a:alpha val="12000"/>
              </a:srgbClr>
            </a:outerShdw>
          </a:effectLst>
        </p:spPr>
      </p:sp>
      <p:sp>
        <p:nvSpPr>
          <p:cNvPr id="32" name="Text 30"/>
          <p:cNvSpPr/>
          <p:nvPr/>
        </p:nvSpPr>
        <p:spPr>
          <a:xfrm>
            <a:off x="9144000" y="4892040"/>
            <a:ext cx="1691640" cy="502920"/>
          </a:xfrm>
          <a:prstGeom prst="rect">
            <a:avLst/>
          </a:prstGeom>
          <a:noFill/>
          <a:ln/>
        </p:spPr>
        <p:txBody>
          <a:bodyPr wrap="square"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Lecturer</a:t>
            </a:r>
            <a:endParaRPr lang="en-US" sz="1000" dirty="0"/>
          </a:p>
        </p:txBody>
      </p:sp>
      <p:sp>
        <p:nvSpPr>
          <p:cNvPr id="33" name="Shape 31"/>
          <p:cNvSpPr/>
          <p:nvPr/>
        </p:nvSpPr>
        <p:spPr>
          <a:xfrm>
            <a:off x="502920" y="5623560"/>
            <a:ext cx="10817352" cy="658368"/>
          </a:xfrm>
          <a:prstGeom prst="roundRect">
            <a:avLst>
              <a:gd name="adj" fmla="val 13889"/>
            </a:avLst>
          </a:prstGeom>
          <a:solidFill>
            <a:srgbClr val="EAF2FB"/>
          </a:solidFill>
          <a:ln/>
        </p:spPr>
      </p:sp>
      <p:sp>
        <p:nvSpPr>
          <p:cNvPr id="34" name="Text 32"/>
          <p:cNvSpPr/>
          <p:nvPr/>
        </p:nvSpPr>
        <p:spPr>
          <a:xfrm>
            <a:off x="685800" y="5623560"/>
            <a:ext cx="10451592" cy="658368"/>
          </a:xfrm>
          <a:prstGeom prst="rect">
            <a:avLst/>
          </a:prstGeom>
          <a:noFill/>
          <a:ln/>
        </p:spPr>
        <p:txBody>
          <a:bodyPr wrap="square" rtlCol="0" anchor="ctr"/>
          <a:lstStyle/>
          <a:p>
            <a:pPr algn="ctr" indent="0" marL="0">
              <a:buNone/>
            </a:pPr>
            <a:r>
              <a:rPr lang="en-US" sz="1050" i="1" dirty="0">
                <a:solidFill>
                  <a:srgbClr val="0B2545"/>
                </a:solidFill>
                <a:latin typeface="Calibri" pitchFamily="34" charset="0"/>
                <a:ea typeface="Calibri" pitchFamily="34" charset="-122"/>
                <a:cs typeface="Calibri" pitchFamily="34" charset="-120"/>
              </a:rPr>
              <a:t>Double specialization: Person → {Student, Faculty} → {Undergraduate, Graduate} and {Professor, Lecturer}. Each subtype inherits all attributes of its supertype above it.</a:t>
            </a:r>
            <a:endParaRPr lang="en-US" sz="1050" dirty="0"/>
          </a:p>
        </p:txBody>
      </p:sp>
      <p:sp>
        <p:nvSpPr>
          <p:cNvPr id="35" name="Text 33"/>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06  ·  Enhanced ER (EER) Model</a:t>
            </a:r>
            <a:endParaRPr lang="en-US" sz="950" dirty="0"/>
          </a:p>
        </p:txBody>
      </p:sp>
      <p:sp>
        <p:nvSpPr>
          <p:cNvPr id="36" name="Text 34"/>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30</a:t>
            </a:r>
            <a:endParaRPr lang="en-US" sz="950" dirty="0"/>
          </a:p>
        </p:txBody>
      </p:sp>
      <p:sp>
        <p:nvSpPr>
          <p:cNvPr id="37" name="Shape 35"/>
          <p:cNvSpPr/>
          <p:nvPr/>
        </p:nvSpPr>
        <p:spPr>
          <a:xfrm>
            <a:off x="502920" y="6473952"/>
            <a:ext cx="11185855" cy="10973"/>
          </a:xfrm>
          <a:prstGeom prst="rect">
            <a:avLst/>
          </a:prstGeom>
          <a:solidFill>
            <a:srgbClr val="D4E4F7"/>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07  ·  DATA INDEPENDENCE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Physical Data Independence</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server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Internal ↔ Conceptual</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Storage can change freely below the schema</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The ability to change the internal (physical) schema without affecting the conceptual schema.</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Applications and users remain completely unaffected by storage-level changes.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Examples of changes absorbed: switching file organization, adding new indexes, moving to new storage hardware.</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Achieved through the mapping between the internal and conceptual levels of the ANSI/SPARC architecture.</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Relatively easier to achieve than logical data independence.</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Allows DBAs to tune performance without disrupting application code.</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07  ·  Data Independence</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31</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07  ·  DATA INDEPENDENCE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Logical Data Independence</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sitemap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Conceptual ↔ External</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Schema can evolve without breaking every view</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The ability to change the conceptual schema without requiring changes to external views or application programs.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Examples of changes absorbed: adding a new table, adding a new attribute, restructuring relationships.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Achieved through the mapping between the conceptual and external levels.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Harder to achieve than physical independence, since views are built directly on the conceptual schema.</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Critical for evolving systems: new features can be added without breaking existing applications.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Example: adding an "Email" column to Customer does not break an existing view that never selects it.</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07  ·  Data Independence</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32</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07  ·  DATA INDEPENDENCE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Why Data Independence Matters</a:t>
            </a:r>
            <a:endParaRPr lang="en-US" sz="3000" dirty="0"/>
          </a:p>
        </p:txBody>
      </p:sp>
      <p:sp>
        <p:nvSpPr>
          <p:cNvPr id="4" name="Text 2"/>
          <p:cNvSpPr/>
          <p:nvPr/>
        </p:nvSpPr>
        <p:spPr>
          <a:xfrm>
            <a:off x="640080" y="1691640"/>
            <a:ext cx="10881360" cy="4434840"/>
          </a:xfrm>
          <a:prstGeom prst="rect">
            <a:avLst/>
          </a:prstGeom>
          <a:noFill/>
          <a:ln/>
        </p:spPr>
        <p:txBody>
          <a:bodyPr wrap="square" rtlCol="0" anchor="t"/>
          <a:lstStyle/>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Decouples how data is used from how it is stored and structured — a core software engineering principle applied to databases.</a:t>
            </a:r>
            <a:endParaRPr lang="en-US" sz="1500" dirty="0"/>
          </a:p>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Reduces maintenance cost: storage or schema changes do not cascade into rewriting every application.</a:t>
            </a:r>
            <a:endParaRPr lang="en-US" sz="1500" dirty="0"/>
          </a:p>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Enables database evolution over time as business requirements grow and change.</a:t>
            </a:r>
            <a:endParaRPr lang="en-US" sz="1500" dirty="0"/>
          </a:p>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Protects existing applications from being broken by unrelated changes elsewhere in the system.</a:t>
            </a:r>
            <a:endParaRPr lang="en-US" sz="1500" dirty="0"/>
          </a:p>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Supports the layered ANSI/SPARC architecture — without independence, the three levels would collapse into one rigid structure.</a:t>
            </a:r>
            <a:endParaRPr lang="en-US" sz="1500" dirty="0"/>
          </a:p>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Improves developer productivity: application teams do not need to know physical storage details.</a:t>
            </a:r>
            <a:endParaRPr lang="en-US" sz="1500" dirty="0"/>
          </a:p>
          <a:p>
            <a:pPr marL="228600" indent="-228600">
              <a:lnSpc>
                <a:spcPct val="108000"/>
              </a:lnSpc>
              <a:spcAft>
                <a:spcPts val="1100"/>
              </a:spcAft>
              <a:buSzPct val="100000"/>
              <a:buChar char="▪"/>
            </a:pPr>
            <a:r>
              <a:rPr lang="en-US" sz="1500" dirty="0">
                <a:solidFill>
                  <a:srgbClr val="13253F"/>
                </a:solidFill>
                <a:latin typeface="Calibri" pitchFamily="34" charset="0"/>
                <a:ea typeface="Calibri" pitchFamily="34" charset="-122"/>
                <a:cs typeface="Calibri" pitchFamily="34" charset="-120"/>
              </a:rPr>
              <a:t>Forms the theoretical foundation that justifies using a DBMS instead of flat files at all.</a:t>
            </a:r>
            <a:endParaRPr lang="en-US" sz="1500" dirty="0"/>
          </a:p>
        </p:txBody>
      </p:sp>
      <p:sp>
        <p:nvSpPr>
          <p:cNvPr id="5" name="Text 3"/>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07  ·  Data Independence</a:t>
            </a:r>
            <a:endParaRPr lang="en-US" sz="950" dirty="0"/>
          </a:p>
        </p:txBody>
      </p:sp>
      <p:sp>
        <p:nvSpPr>
          <p:cNvPr id="6" name="Text 4"/>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33</a:t>
            </a:r>
            <a:endParaRPr lang="en-US" sz="950" dirty="0"/>
          </a:p>
        </p:txBody>
      </p:sp>
      <p:sp>
        <p:nvSpPr>
          <p:cNvPr id="7" name="Shape 5"/>
          <p:cNvSpPr/>
          <p:nvPr/>
        </p:nvSpPr>
        <p:spPr>
          <a:xfrm>
            <a:off x="502920" y="6473952"/>
            <a:ext cx="11185855" cy="10973"/>
          </a:xfrm>
          <a:prstGeom prst="rect">
            <a:avLst/>
          </a:prstGeom>
          <a:solidFill>
            <a:srgbClr val="D4E4F7"/>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07  ·  DATA INDEPENDENCE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Advantages of Data Independence</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tools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Easier Maintenance</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Storage and schema updates happen without breaking apps.</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chart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Better Performance Tuning</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DBAs optimize indexes and storage freely.</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puzzle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Flexible Evolution</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New features and tables added without disruption.</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shield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Reduced Risk</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Isolates the impact of any single change.</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money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Lower Cost</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Avoids expensive, large-scale application rewrites.</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clock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Faster Delivery</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Teams work independently at each architectural level.</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07  ·  Data Independence</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34</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07  ·  DATA INDEPENDENCE</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Data Independence — Worked Examples</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17352" cy="914400"/>
        </p:xfrm>
        <a:graphic>
          <a:graphicData uri="http://schemas.openxmlformats.org/drawingml/2006/table">
            <a:tbl>
              <a:tblPr/>
              <a:tblGrid>
                <a:gridCol w="4480560"/>
                <a:gridCol w="2560320"/>
                <a:gridCol w="3776472"/>
              </a:tblGrid>
              <a:tr h="5029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Change Made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Level Affected</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Independence Type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50292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Switch from B-tree to hash index</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Internal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Physical Data Independence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Move database to new disk hardware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Internal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Physical Data Independence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50292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Compress stored files to save space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Internal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Physical Data Independence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Add a new "Loyalty Points" table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Conceptual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Logical Data Independence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50292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Split one table into two normalized tables</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Conceptual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Logical Data Independence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B2545"/>
                          </a:solidFill>
                          <a:latin typeface="Calibri" pitchFamily="34" charset="0"/>
                          <a:ea typeface="Calibri" pitchFamily="34" charset="-122"/>
                          <a:cs typeface="Calibri" pitchFamily="34" charset="-120"/>
                        </a:rPr>
                        <a:t>Add a new attribute not used by existing views</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Conceptual only</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50" dirty="0">
                          <a:solidFill>
                            <a:srgbClr val="13253F"/>
                          </a:solidFill>
                          <a:latin typeface="Calibri" pitchFamily="34" charset="0"/>
                          <a:ea typeface="Calibri" pitchFamily="34" charset="-122"/>
                          <a:cs typeface="Calibri" pitchFamily="34" charset="-120"/>
                        </a:rPr>
                        <a:t>Logical Data Independence</a:t>
                      </a:r>
                      <a:endParaRPr lang="en-US" sz="115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bl>
          </a:graphicData>
        </a:graphic>
      </p:graphicFrame>
      <p:sp>
        <p:nvSpPr>
          <p:cNvPr id="5" name="Text 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07  ·  Data Independence</a:t>
            </a:r>
            <a:endParaRPr lang="en-US" sz="9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35</a:t>
            </a:r>
            <a:endParaRPr lang="en-US" sz="950" dirty="0"/>
          </a:p>
        </p:txBody>
      </p:sp>
      <p:sp>
        <p:nvSpPr>
          <p:cNvPr id="7" name="Shape 4"/>
          <p:cNvSpPr/>
          <p:nvPr/>
        </p:nvSpPr>
        <p:spPr>
          <a:xfrm>
            <a:off x="502920" y="6473952"/>
            <a:ext cx="11185855" cy="10973"/>
          </a:xfrm>
          <a:prstGeom prst="rect">
            <a:avLst/>
          </a:prstGeom>
          <a:solidFill>
            <a:srgbClr val="D4E4F7"/>
          </a:solid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08  ·  SOFTWARE COMPONENTS OF A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Query Processor</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search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SQL In, Results Out</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Translates declarative queries into execution steps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Interprets and executes SQL (or other query language) statements submitted by users.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The DDL interpreter processes schema definitions (CREATE, ALTER).</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The DML compiler translates data manipulation statements into low-level instructions.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The query optimizer evaluates multiple execution plans and picks the most efficient one.</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Works closely with the Storage Manager to actually fetch and modify data.</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Performance-critical: a poor query plan can be orders of magnitude slower.</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08  ·  Software Components of a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36</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08  ·  SOFTWARE COMPONENTS OF A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Storage Manager</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archive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Bridging Logical &amp; Physical</a:t>
            </a:r>
            <a:endParaRPr lang="en-US" sz="115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Manages how and where data actually lives on disk</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Manages the physical storage, retrieval, and update of data on disk.</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Maintains indexes (B-tree, hash) for fast data access paths.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Handles the buffer manager, caching frequently used data pages in memory.</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Enforces integrity constraints defined in the conceptual schema.</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Coordinates with the file manager to allocate and organize storage space.</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Directly implements physical data independence, discussed in Module 7.</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08  ·  Software Components of a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37</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08  ·  SOFTWARE COMPONENTS OF A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Transaction Manager</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exchange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Guaranteeing ACID</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Keeps concurrent operations safe and correct</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Ensures every transaction satisfies Atomicity, Consistency, Isolation, Durability (ACID).</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Concurrency control (e.g. locking) prevents conflicting simultaneous operations.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Recovery manager restores the database to a consistent state after a crash.</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Maintains transaction logs recording every change for rollback and recovery.</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Deadlock detection identifies and resolves transactions stuck waiting on each other.</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Directly powers the banking case study from Module 2 — safe fund transfers.</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08  ·  Software Components of a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38</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08  ·  SOFTWARE COMPONENTS OF A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The Database Manager</a:t>
            </a:r>
            <a:endParaRPr lang="en-US" sz="3000" dirty="0"/>
          </a:p>
        </p:txBody>
      </p:sp>
      <p:sp>
        <p:nvSpPr>
          <p:cNvPr id="4" name="Shape 2"/>
          <p:cNvSpPr/>
          <p:nvPr/>
        </p:nvSpPr>
        <p:spPr>
          <a:xfrm>
            <a:off x="502920" y="1600200"/>
            <a:ext cx="3017520" cy="4434840"/>
          </a:xfrm>
          <a:prstGeom prst="roundRect">
            <a:avLst>
              <a:gd name="adj" fmla="val 4242"/>
            </a:avLst>
          </a:prstGeom>
          <a:solidFill>
            <a:srgbClr val="EAF2FB"/>
          </a:solidFill>
          <a:ln/>
        </p:spPr>
      </p:sp>
      <p:sp>
        <p:nvSpPr>
          <p:cNvPr id="5" name="Shape 3"/>
          <p:cNvSpPr/>
          <p:nvPr/>
        </p:nvSpPr>
        <p:spPr>
          <a:xfrm>
            <a:off x="1325880" y="2148840"/>
            <a:ext cx="1371600" cy="137160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database_white.png">    </p:cNvPr>
          <p:cNvPicPr>
            <a:picLocks noChangeAspect="1"/>
          </p:cNvPicPr>
          <p:nvPr/>
        </p:nvPicPr>
        <p:blipFill>
          <a:blip r:embed="rId1"/>
          <a:stretch>
            <a:fillRect/>
          </a:stretch>
        </p:blipFill>
        <p:spPr>
          <a:xfrm>
            <a:off x="1682496" y="2505456"/>
            <a:ext cx="658368" cy="658368"/>
          </a:xfrm>
          <a:prstGeom prst="rect">
            <a:avLst/>
          </a:prstGeom>
        </p:spPr>
      </p:pic>
      <p:sp>
        <p:nvSpPr>
          <p:cNvPr id="7" name="Text 4"/>
          <p:cNvSpPr/>
          <p:nvPr/>
        </p:nvSpPr>
        <p:spPr>
          <a:xfrm>
            <a:off x="685800" y="3794760"/>
            <a:ext cx="2651760" cy="36576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The Central Coordinator</a:t>
            </a:r>
            <a:endParaRPr lang="en-US" sz="1200" dirty="0"/>
          </a:p>
        </p:txBody>
      </p:sp>
      <p:sp>
        <p:nvSpPr>
          <p:cNvPr id="8" name="Text 5"/>
          <p:cNvSpPr/>
          <p:nvPr/>
        </p:nvSpPr>
        <p:spPr>
          <a:xfrm>
            <a:off x="685800" y="4160520"/>
            <a:ext cx="2651760" cy="822960"/>
          </a:xfrm>
          <a:prstGeom prst="rect">
            <a:avLst/>
          </a:prstGeom>
          <a:noFill/>
          <a:ln/>
        </p:spPr>
        <p:txBody>
          <a:bodyPr wrap="square" rtlCol="0" anchor="ctr"/>
          <a:lstStyle/>
          <a:p>
            <a:pPr algn="ctr" indent="0" marL="0">
              <a:lnSpc>
                <a:spcPct val="110000"/>
              </a:lnSpc>
              <a:buNone/>
            </a:pPr>
            <a:r>
              <a:rPr lang="en-US" sz="1050" dirty="0">
                <a:solidFill>
                  <a:srgbClr val="4C6076"/>
                </a:solidFill>
                <a:latin typeface="Calibri" pitchFamily="34" charset="0"/>
                <a:ea typeface="Calibri" pitchFamily="34" charset="-122"/>
                <a:cs typeface="Calibri" pitchFamily="34" charset="-120"/>
              </a:rPr>
              <a:t>Interfaces between all other components</a:t>
            </a:r>
            <a:endParaRPr lang="en-US" sz="1050" dirty="0"/>
          </a:p>
        </p:txBody>
      </p:sp>
      <p:sp>
        <p:nvSpPr>
          <p:cNvPr id="9" name="Text 6"/>
          <p:cNvSpPr/>
          <p:nvPr/>
        </p:nvSpPr>
        <p:spPr>
          <a:xfrm>
            <a:off x="3794760" y="1691640"/>
            <a:ext cx="7909560" cy="4389120"/>
          </a:xfrm>
          <a:prstGeom prst="rect">
            <a:avLst/>
          </a:prstGeom>
          <a:noFill/>
          <a:ln/>
        </p:spPr>
        <p:txBody>
          <a:bodyPr wrap="square" rtlCol="0" anchor="t"/>
          <a:lstStyle/>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Acts as the interface between the physical database and the query processor.</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Coordinates the query processor, storage manager, and transaction manager together.</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Enforces the overall schema, constraints, and authorization rules.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Manages the data dictionary — metadata describing tables, columns, and relationships.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Handles user authentication and access-control permissions.</a:t>
            </a:r>
            <a:endParaRPr lang="en-US" sz="1300" dirty="0"/>
          </a:p>
          <a:p>
            <a:pPr marL="228600" indent="-228600">
              <a:lnSpc>
                <a:spcPct val="108000"/>
              </a:lnSpc>
              <a:spcAft>
                <a:spcPts val="800"/>
              </a:spcAft>
              <a:buSzPct val="100000"/>
              <a:buChar char="▪"/>
            </a:pPr>
            <a:r>
              <a:rPr lang="en-US" sz="1300" dirty="0">
                <a:solidFill>
                  <a:srgbClr val="13253F"/>
                </a:solidFill>
                <a:latin typeface="Calibri" pitchFamily="34" charset="0"/>
                <a:ea typeface="Calibri" pitchFamily="34" charset="-122"/>
                <a:cs typeface="Calibri" pitchFamily="34" charset="-120"/>
              </a:rPr>
              <a:t>Provides the unified entry point that makes the DBMS behave as one coherent system.</a:t>
            </a:r>
            <a:endParaRPr lang="en-US" sz="1300" dirty="0"/>
          </a:p>
        </p:txBody>
      </p:sp>
      <p:sp>
        <p:nvSpPr>
          <p:cNvPr id="10" name="Text 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08  ·  Software Components of a DBMS</a:t>
            </a:r>
            <a:endParaRPr lang="en-US" sz="950" dirty="0"/>
          </a:p>
        </p:txBody>
      </p:sp>
      <p:sp>
        <p:nvSpPr>
          <p:cNvPr id="11" name="Text 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39</a:t>
            </a:r>
            <a:endParaRPr lang="en-US" sz="950" dirty="0"/>
          </a:p>
        </p:txBody>
      </p:sp>
      <p:sp>
        <p:nvSpPr>
          <p:cNvPr id="12" name="Shape 9"/>
          <p:cNvSpPr/>
          <p:nvPr/>
        </p:nvSpPr>
        <p:spPr>
          <a:xfrm>
            <a:off x="502920" y="6473952"/>
            <a:ext cx="11185855" cy="10973"/>
          </a:xfrm>
          <a:prstGeom prst="rect">
            <a:avLst/>
          </a:prstGeom>
          <a:solidFill>
            <a:srgbClr val="D4E4F7"/>
          </a:solid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08  ·  SOFTWARE COMPONENTS OF A DBMS</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DBMS Software Component Architecture</a:t>
            </a:r>
            <a:endParaRPr lang="en-US" sz="3000" dirty="0"/>
          </a:p>
        </p:txBody>
      </p:sp>
      <p:sp>
        <p:nvSpPr>
          <p:cNvPr id="4" name="Shape 2"/>
          <p:cNvSpPr/>
          <p:nvPr/>
        </p:nvSpPr>
        <p:spPr>
          <a:xfrm>
            <a:off x="4480560" y="1600200"/>
            <a:ext cx="3200400" cy="548640"/>
          </a:xfrm>
          <a:prstGeom prst="roundRect">
            <a:avLst>
              <a:gd name="adj" fmla="val 13333"/>
            </a:avLst>
          </a:prstGeom>
          <a:solidFill>
            <a:srgbClr val="5B9BD5"/>
          </a:solidFill>
          <a:ln/>
          <a:effectLst>
            <a:outerShdw sx="100000" sy="100000" kx="0" ky="0" algn="bl" rotWithShape="0" blurRad="63500" dist="25400" dir="5400000">
              <a:srgbClr val="13253F">
                <a:alpha val="15000"/>
              </a:srgbClr>
            </a:outerShdw>
          </a:effectLst>
        </p:spPr>
      </p:sp>
      <p:sp>
        <p:nvSpPr>
          <p:cNvPr id="5" name="Text 3"/>
          <p:cNvSpPr/>
          <p:nvPr/>
        </p:nvSpPr>
        <p:spPr>
          <a:xfrm>
            <a:off x="4526280" y="1600200"/>
            <a:ext cx="3108960" cy="548640"/>
          </a:xfrm>
          <a:prstGeom prst="rect">
            <a:avLst/>
          </a:prstGeom>
          <a:noFill/>
          <a:ln/>
        </p:spPr>
        <p:txBody>
          <a:bodyPr wrap="square" rtlCol="0" anchor="ctr"/>
          <a:lstStyle/>
          <a:p>
            <a:pPr algn="ctr" indent="0" marL="0">
              <a:lnSpc>
                <a:spcPct val="100000"/>
              </a:lnSpc>
              <a:buNone/>
            </a:pPr>
            <a:r>
              <a:rPr lang="en-US" sz="1200" b="1" dirty="0">
                <a:solidFill>
                  <a:srgbClr val="0B2545"/>
                </a:solidFill>
                <a:latin typeface="Calibri" pitchFamily="34" charset="0"/>
                <a:ea typeface="Calibri" pitchFamily="34" charset="-122"/>
                <a:cs typeface="Calibri" pitchFamily="34" charset="-120"/>
              </a:rPr>
              <a:t>User / Application</a:t>
            </a:r>
            <a:endParaRPr lang="en-US" sz="1200" dirty="0"/>
          </a:p>
        </p:txBody>
      </p:sp>
      <p:sp>
        <p:nvSpPr>
          <p:cNvPr id="6" name="Shape 4"/>
          <p:cNvSpPr/>
          <p:nvPr/>
        </p:nvSpPr>
        <p:spPr>
          <a:xfrm>
            <a:off x="5980176" y="2212848"/>
            <a:ext cx="201168" cy="256032"/>
          </a:xfrm>
          <a:prstGeom prst="downArrow">
            <a:avLst/>
          </a:prstGeom>
          <a:solidFill>
            <a:srgbClr val="1E5AA8"/>
          </a:solidFill>
          <a:ln/>
        </p:spPr>
      </p:sp>
      <p:sp>
        <p:nvSpPr>
          <p:cNvPr id="7" name="Shape 5"/>
          <p:cNvSpPr/>
          <p:nvPr/>
        </p:nvSpPr>
        <p:spPr>
          <a:xfrm>
            <a:off x="4480560" y="2542032"/>
            <a:ext cx="3200400" cy="548640"/>
          </a:xfrm>
          <a:prstGeom prst="roundRect">
            <a:avLst>
              <a:gd name="adj" fmla="val 13333"/>
            </a:avLst>
          </a:prstGeom>
          <a:solidFill>
            <a:srgbClr val="1E5AA8"/>
          </a:solidFill>
          <a:ln/>
          <a:effectLst>
            <a:outerShdw sx="100000" sy="100000" kx="0" ky="0" algn="bl" rotWithShape="0" blurRad="63500" dist="25400" dir="5400000">
              <a:srgbClr val="13253F">
                <a:alpha val="15000"/>
              </a:srgbClr>
            </a:outerShdw>
          </a:effectLst>
        </p:spPr>
      </p:sp>
      <p:sp>
        <p:nvSpPr>
          <p:cNvPr id="8" name="Text 6"/>
          <p:cNvSpPr/>
          <p:nvPr/>
        </p:nvSpPr>
        <p:spPr>
          <a:xfrm>
            <a:off x="4526280" y="2542032"/>
            <a:ext cx="3108960" cy="548640"/>
          </a:xfrm>
          <a:prstGeom prst="rect">
            <a:avLst/>
          </a:prstGeom>
          <a:noFill/>
          <a:ln/>
        </p:spPr>
        <p:txBody>
          <a:bodyPr wrap="square"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Query Processor</a:t>
            </a:r>
            <a:endParaRPr lang="en-US" sz="1200" dirty="0"/>
          </a:p>
        </p:txBody>
      </p:sp>
      <p:sp>
        <p:nvSpPr>
          <p:cNvPr id="9" name="Shape 7"/>
          <p:cNvSpPr/>
          <p:nvPr/>
        </p:nvSpPr>
        <p:spPr>
          <a:xfrm>
            <a:off x="5980176" y="3154680"/>
            <a:ext cx="201168" cy="256032"/>
          </a:xfrm>
          <a:prstGeom prst="downArrow">
            <a:avLst/>
          </a:prstGeom>
          <a:solidFill>
            <a:srgbClr val="1E5AA8"/>
          </a:solidFill>
          <a:ln/>
        </p:spPr>
      </p:sp>
      <p:sp>
        <p:nvSpPr>
          <p:cNvPr id="10" name="Shape 8"/>
          <p:cNvSpPr/>
          <p:nvPr/>
        </p:nvSpPr>
        <p:spPr>
          <a:xfrm>
            <a:off x="3246120" y="3703320"/>
            <a:ext cx="5669280" cy="658368"/>
          </a:xfrm>
          <a:prstGeom prst="roundRect">
            <a:avLst>
              <a:gd name="adj" fmla="val 11111"/>
            </a:avLst>
          </a:prstGeom>
          <a:solidFill>
            <a:srgbClr val="0B2545"/>
          </a:solidFill>
          <a:ln/>
          <a:effectLst>
            <a:outerShdw sx="100000" sy="100000" kx="0" ky="0" algn="bl" rotWithShape="0" blurRad="63500" dist="25400" dir="5400000">
              <a:srgbClr val="13253F">
                <a:alpha val="15000"/>
              </a:srgbClr>
            </a:outerShdw>
          </a:effectLst>
        </p:spPr>
      </p:sp>
      <p:sp>
        <p:nvSpPr>
          <p:cNvPr id="11" name="Text 9"/>
          <p:cNvSpPr/>
          <p:nvPr/>
        </p:nvSpPr>
        <p:spPr>
          <a:xfrm>
            <a:off x="3291840" y="3703320"/>
            <a:ext cx="5577840" cy="658368"/>
          </a:xfrm>
          <a:prstGeom prst="rect">
            <a:avLst/>
          </a:prstGeom>
          <a:noFill/>
          <a:ln/>
        </p:spPr>
        <p:txBody>
          <a:bodyPr wrap="square"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Database Manager  (central coordinator)</a:t>
            </a:r>
            <a:endParaRPr lang="en-US" sz="1250" dirty="0"/>
          </a:p>
        </p:txBody>
      </p:sp>
      <p:sp>
        <p:nvSpPr>
          <p:cNvPr id="12" name="Shape 10"/>
          <p:cNvSpPr/>
          <p:nvPr/>
        </p:nvSpPr>
        <p:spPr>
          <a:xfrm flipH="1">
            <a:off x="2331720" y="4361688"/>
            <a:ext cx="1874520" cy="530352"/>
          </a:xfrm>
          <a:prstGeom prst="line">
            <a:avLst/>
          </a:prstGeom>
          <a:noFill/>
          <a:ln w="19050">
            <a:solidFill>
              <a:srgbClr val="4C6076"/>
            </a:solidFill>
            <a:prstDash val="solid"/>
          </a:ln>
        </p:spPr>
      </p:sp>
      <p:sp>
        <p:nvSpPr>
          <p:cNvPr id="13" name="Shape 11"/>
          <p:cNvSpPr/>
          <p:nvPr/>
        </p:nvSpPr>
        <p:spPr>
          <a:xfrm>
            <a:off x="6080760" y="4361688"/>
            <a:ext cx="9144" cy="530352"/>
          </a:xfrm>
          <a:prstGeom prst="line">
            <a:avLst/>
          </a:prstGeom>
          <a:noFill/>
          <a:ln w="19050">
            <a:solidFill>
              <a:srgbClr val="4C6076"/>
            </a:solidFill>
            <a:prstDash val="solid"/>
          </a:ln>
        </p:spPr>
      </p:sp>
      <p:sp>
        <p:nvSpPr>
          <p:cNvPr id="14" name="Shape 12"/>
          <p:cNvSpPr/>
          <p:nvPr/>
        </p:nvSpPr>
        <p:spPr>
          <a:xfrm>
            <a:off x="7955280" y="4361688"/>
            <a:ext cx="1874520" cy="530352"/>
          </a:xfrm>
          <a:prstGeom prst="line">
            <a:avLst/>
          </a:prstGeom>
          <a:noFill/>
          <a:ln w="19050">
            <a:solidFill>
              <a:srgbClr val="4C6076"/>
            </a:solidFill>
            <a:prstDash val="solid"/>
          </a:ln>
        </p:spPr>
      </p:sp>
      <p:sp>
        <p:nvSpPr>
          <p:cNvPr id="15" name="Shape 13"/>
          <p:cNvSpPr/>
          <p:nvPr/>
        </p:nvSpPr>
        <p:spPr>
          <a:xfrm>
            <a:off x="1280160" y="4892040"/>
            <a:ext cx="2103120" cy="594360"/>
          </a:xfrm>
          <a:prstGeom prst="roundRect">
            <a:avLst>
              <a:gd name="adj" fmla="val 12308"/>
            </a:avLst>
          </a:prstGeom>
          <a:solidFill>
            <a:srgbClr val="2E6BB8"/>
          </a:solidFill>
          <a:ln/>
          <a:effectLst>
            <a:outerShdw sx="100000" sy="100000" kx="0" ky="0" algn="bl" rotWithShape="0" blurRad="63500" dist="25400" dir="5400000">
              <a:srgbClr val="13253F">
                <a:alpha val="15000"/>
              </a:srgbClr>
            </a:outerShdw>
          </a:effectLst>
        </p:spPr>
      </p:sp>
      <p:sp>
        <p:nvSpPr>
          <p:cNvPr id="16" name="Text 14"/>
          <p:cNvSpPr/>
          <p:nvPr/>
        </p:nvSpPr>
        <p:spPr>
          <a:xfrm>
            <a:off x="1325880" y="4892040"/>
            <a:ext cx="2011680" cy="59436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Storage Manager</a:t>
            </a:r>
            <a:endParaRPr lang="en-US" sz="1050" dirty="0"/>
          </a:p>
        </p:txBody>
      </p:sp>
      <p:sp>
        <p:nvSpPr>
          <p:cNvPr id="17" name="Shape 15"/>
          <p:cNvSpPr/>
          <p:nvPr/>
        </p:nvSpPr>
        <p:spPr>
          <a:xfrm>
            <a:off x="5029200" y="4892040"/>
            <a:ext cx="2103120" cy="594360"/>
          </a:xfrm>
          <a:prstGeom prst="roundRect">
            <a:avLst>
              <a:gd name="adj" fmla="val 12308"/>
            </a:avLst>
          </a:prstGeom>
          <a:solidFill>
            <a:srgbClr val="2E6BB8"/>
          </a:solidFill>
          <a:ln/>
          <a:effectLst>
            <a:outerShdw sx="100000" sy="100000" kx="0" ky="0" algn="bl" rotWithShape="0" blurRad="63500" dist="25400" dir="5400000">
              <a:srgbClr val="13253F">
                <a:alpha val="15000"/>
              </a:srgbClr>
            </a:outerShdw>
          </a:effectLst>
        </p:spPr>
      </p:sp>
      <p:sp>
        <p:nvSpPr>
          <p:cNvPr id="18" name="Text 16"/>
          <p:cNvSpPr/>
          <p:nvPr/>
        </p:nvSpPr>
        <p:spPr>
          <a:xfrm>
            <a:off x="5074920" y="4892040"/>
            <a:ext cx="2011680" cy="59436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Transaction Manager</a:t>
            </a:r>
            <a:endParaRPr lang="en-US" sz="1000" dirty="0"/>
          </a:p>
        </p:txBody>
      </p:sp>
      <p:sp>
        <p:nvSpPr>
          <p:cNvPr id="19" name="Shape 17"/>
          <p:cNvSpPr/>
          <p:nvPr/>
        </p:nvSpPr>
        <p:spPr>
          <a:xfrm>
            <a:off x="8778240" y="4892040"/>
            <a:ext cx="2103120" cy="594360"/>
          </a:xfrm>
          <a:prstGeom prst="roundRect">
            <a:avLst>
              <a:gd name="adj" fmla="val 12308"/>
            </a:avLst>
          </a:prstGeom>
          <a:solidFill>
            <a:srgbClr val="2E6BB8"/>
          </a:solidFill>
          <a:ln/>
          <a:effectLst>
            <a:outerShdw sx="100000" sy="100000" kx="0" ky="0" algn="bl" rotWithShape="0" blurRad="63500" dist="25400" dir="5400000">
              <a:srgbClr val="13253F">
                <a:alpha val="15000"/>
              </a:srgbClr>
            </a:outerShdw>
          </a:effectLst>
        </p:spPr>
      </p:sp>
      <p:sp>
        <p:nvSpPr>
          <p:cNvPr id="20" name="Text 18"/>
          <p:cNvSpPr/>
          <p:nvPr/>
        </p:nvSpPr>
        <p:spPr>
          <a:xfrm>
            <a:off x="8823960" y="4892040"/>
            <a:ext cx="2011680" cy="59436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Data Dictionary</a:t>
            </a:r>
            <a:endParaRPr lang="en-US" sz="1050" dirty="0"/>
          </a:p>
        </p:txBody>
      </p:sp>
      <p:sp>
        <p:nvSpPr>
          <p:cNvPr id="21" name="Shape 19"/>
          <p:cNvSpPr/>
          <p:nvPr/>
        </p:nvSpPr>
        <p:spPr>
          <a:xfrm>
            <a:off x="2231136" y="5486400"/>
            <a:ext cx="201168" cy="228600"/>
          </a:xfrm>
          <a:prstGeom prst="downArrow">
            <a:avLst/>
          </a:prstGeom>
          <a:solidFill>
            <a:srgbClr val="1E5AA8"/>
          </a:solidFill>
          <a:ln/>
        </p:spPr>
      </p:sp>
      <p:sp>
        <p:nvSpPr>
          <p:cNvPr id="22" name="Shape 20"/>
          <p:cNvSpPr/>
          <p:nvPr/>
        </p:nvSpPr>
        <p:spPr>
          <a:xfrm>
            <a:off x="1280160" y="5806440"/>
            <a:ext cx="2103120" cy="502920"/>
          </a:xfrm>
          <a:prstGeom prst="roundRect">
            <a:avLst>
              <a:gd name="adj" fmla="val 14545"/>
            </a:avLst>
          </a:prstGeom>
          <a:solidFill>
            <a:srgbClr val="13355C"/>
          </a:solidFill>
          <a:ln/>
          <a:effectLst>
            <a:outerShdw sx="100000" sy="100000" kx="0" ky="0" algn="bl" rotWithShape="0" blurRad="63500" dist="25400" dir="5400000">
              <a:srgbClr val="13253F">
                <a:alpha val="15000"/>
              </a:srgbClr>
            </a:outerShdw>
          </a:effectLst>
        </p:spPr>
      </p:sp>
      <p:sp>
        <p:nvSpPr>
          <p:cNvPr id="23" name="Text 21"/>
          <p:cNvSpPr/>
          <p:nvPr/>
        </p:nvSpPr>
        <p:spPr>
          <a:xfrm>
            <a:off x="1325880" y="5806440"/>
            <a:ext cx="2011680" cy="502920"/>
          </a:xfrm>
          <a:prstGeom prst="rect">
            <a:avLst/>
          </a:prstGeom>
          <a:noFill/>
          <a:ln/>
        </p:spPr>
        <p:txBody>
          <a:bodyPr wrap="square"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Physical Database</a:t>
            </a:r>
            <a:endParaRPr lang="en-US" sz="1000" dirty="0"/>
          </a:p>
        </p:txBody>
      </p:sp>
      <p:sp>
        <p:nvSpPr>
          <p:cNvPr id="24" name="Text 2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08  ·  Software Components of a DBMS</a:t>
            </a:r>
            <a:endParaRPr lang="en-US" sz="950" dirty="0"/>
          </a:p>
        </p:txBody>
      </p:sp>
      <p:sp>
        <p:nvSpPr>
          <p:cNvPr id="25" name="Text 2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40</a:t>
            </a:r>
            <a:endParaRPr lang="en-US" sz="950" dirty="0"/>
          </a:p>
        </p:txBody>
      </p:sp>
      <p:sp>
        <p:nvSpPr>
          <p:cNvPr id="26" name="Shape 24"/>
          <p:cNvSpPr/>
          <p:nvPr/>
        </p:nvSpPr>
        <p:spPr>
          <a:xfrm>
            <a:off x="502920" y="6473952"/>
            <a:ext cx="11185855" cy="10973"/>
          </a:xfrm>
          <a:prstGeom prst="rect">
            <a:avLst/>
          </a:prstGeom>
          <a:solidFill>
            <a:srgbClr val="D4E4F7"/>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09  ·  STRONG ENTITY VS WEAK ENTITY</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Definitions</a:t>
            </a:r>
            <a:endParaRPr lang="en-US" sz="3000" dirty="0"/>
          </a:p>
        </p:txBody>
      </p:sp>
      <p:sp>
        <p:nvSpPr>
          <p:cNvPr id="4" name="Shape 2"/>
          <p:cNvSpPr/>
          <p:nvPr/>
        </p:nvSpPr>
        <p:spPr>
          <a:xfrm>
            <a:off x="502920" y="1645920"/>
            <a:ext cx="5394960" cy="4434840"/>
          </a:xfrm>
          <a:prstGeom prst="roundRect">
            <a:avLst>
              <a:gd name="adj" fmla="val 2887"/>
            </a:avLst>
          </a:prstGeom>
          <a:solidFill>
            <a:srgbClr val="EAF2FB"/>
          </a:solidFill>
          <a:ln/>
        </p:spPr>
      </p:sp>
      <p:sp>
        <p:nvSpPr>
          <p:cNvPr id="5" name="Shape 3"/>
          <p:cNvSpPr/>
          <p:nvPr/>
        </p:nvSpPr>
        <p:spPr>
          <a:xfrm>
            <a:off x="777240" y="1874520"/>
            <a:ext cx="1121054" cy="292608"/>
          </a:xfrm>
          <a:prstGeom prst="roundRect">
            <a:avLst>
              <a:gd name="adj" fmla="val 50000"/>
            </a:avLst>
          </a:prstGeom>
          <a:solidFill>
            <a:srgbClr val="0B2545"/>
          </a:solidFill>
          <a:ln/>
        </p:spPr>
      </p:sp>
      <p:sp>
        <p:nvSpPr>
          <p:cNvPr id="6" name="Text 4"/>
          <p:cNvSpPr/>
          <p:nvPr/>
        </p:nvSpPr>
        <p:spPr>
          <a:xfrm>
            <a:off x="777240" y="1874520"/>
            <a:ext cx="1121054"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STRONG ENTITY</a:t>
            </a:r>
            <a:endParaRPr lang="en-US" sz="1050" dirty="0"/>
          </a:p>
        </p:txBody>
      </p:sp>
      <p:sp>
        <p:nvSpPr>
          <p:cNvPr id="7" name="Text 5"/>
          <p:cNvSpPr/>
          <p:nvPr/>
        </p:nvSpPr>
        <p:spPr>
          <a:xfrm>
            <a:off x="777240" y="2331720"/>
            <a:ext cx="4846320" cy="3566160"/>
          </a:xfrm>
          <a:prstGeom prst="rect">
            <a:avLst/>
          </a:prstGeom>
          <a:noFill/>
          <a:ln/>
        </p:spPr>
        <p:txBody>
          <a:bodyPr wrap="square" rtlCol="0" anchor="t"/>
          <a:lstStyle/>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An entity that has its own primary key and can be uniquely identified independently.</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Exists on its own — does not depend on any other entity for its identity.</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Drawn as a single-line rectangle in ER diagrams.</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Example: Customer, uniquely identified by CustomerID.</a:t>
            </a:r>
            <a:endParaRPr lang="en-US" sz="1300" dirty="0"/>
          </a:p>
        </p:txBody>
      </p:sp>
      <p:sp>
        <p:nvSpPr>
          <p:cNvPr id="8" name="Shape 6"/>
          <p:cNvSpPr/>
          <p:nvPr/>
        </p:nvSpPr>
        <p:spPr>
          <a:xfrm>
            <a:off x="6263640" y="1645920"/>
            <a:ext cx="5422392" cy="4434840"/>
          </a:xfrm>
          <a:prstGeom prst="roundRect">
            <a:avLst>
              <a:gd name="adj" fmla="val 2887"/>
            </a:avLst>
          </a:prstGeom>
          <a:solidFill>
            <a:srgbClr val="EAF2FB"/>
          </a:solidFill>
          <a:ln/>
        </p:spPr>
      </p:sp>
      <p:sp>
        <p:nvSpPr>
          <p:cNvPr id="9" name="Shape 7"/>
          <p:cNvSpPr/>
          <p:nvPr/>
        </p:nvSpPr>
        <p:spPr>
          <a:xfrm>
            <a:off x="6537960" y="1874520"/>
            <a:ext cx="971093" cy="292608"/>
          </a:xfrm>
          <a:prstGeom prst="roundRect">
            <a:avLst>
              <a:gd name="adj" fmla="val 50000"/>
            </a:avLst>
          </a:prstGeom>
          <a:solidFill>
            <a:srgbClr val="C9861B"/>
          </a:solidFill>
          <a:ln/>
        </p:spPr>
      </p:sp>
      <p:sp>
        <p:nvSpPr>
          <p:cNvPr id="10" name="Text 8"/>
          <p:cNvSpPr/>
          <p:nvPr/>
        </p:nvSpPr>
        <p:spPr>
          <a:xfrm>
            <a:off x="6537960" y="1874520"/>
            <a:ext cx="971093"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WEAK ENTITY</a:t>
            </a:r>
            <a:endParaRPr lang="en-US" sz="1050" dirty="0"/>
          </a:p>
        </p:txBody>
      </p:sp>
      <p:sp>
        <p:nvSpPr>
          <p:cNvPr id="11" name="Text 9"/>
          <p:cNvSpPr/>
          <p:nvPr/>
        </p:nvSpPr>
        <p:spPr>
          <a:xfrm>
            <a:off x="6537960" y="2331720"/>
            <a:ext cx="4846320" cy="3566160"/>
          </a:xfrm>
          <a:prstGeom prst="rect">
            <a:avLst/>
          </a:prstGeom>
          <a:noFill/>
          <a:ln/>
        </p:spPr>
        <p:txBody>
          <a:bodyPr wrap="square" rtlCol="0" anchor="t"/>
          <a:lstStyle/>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An entity that cannot be uniquely identified by its own attributes alone.</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Depends on a related "owner" strong entity for its identification.</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Drawn as a double-line rectangle in ER diagrams.</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Example: Dependent, identified only in combination with its owning Employee.</a:t>
            </a:r>
            <a:endParaRPr lang="en-US" sz="1300" dirty="0"/>
          </a:p>
        </p:txBody>
      </p:sp>
      <p:sp>
        <p:nvSpPr>
          <p:cNvPr id="12" name="Text 10"/>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09  ·  Strong Entity vs Weak Entity</a:t>
            </a:r>
            <a:endParaRPr lang="en-US" sz="9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41</a:t>
            </a:r>
            <a:endParaRPr lang="en-US" sz="950" dirty="0"/>
          </a:p>
        </p:txBody>
      </p:sp>
      <p:sp>
        <p:nvSpPr>
          <p:cNvPr id="14" name="Shape 12"/>
          <p:cNvSpPr/>
          <p:nvPr/>
        </p:nvSpPr>
        <p:spPr>
          <a:xfrm>
            <a:off x="502920" y="6473952"/>
            <a:ext cx="11185855" cy="10973"/>
          </a:xfrm>
          <a:prstGeom prst="rect">
            <a:avLst/>
          </a:prstGeom>
          <a:solidFill>
            <a:srgbClr val="D4E4F7"/>
          </a:solidFill>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09  ·  STRONG ENTITY VS WEAK ENTITY</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Characteristics</a:t>
            </a:r>
            <a:endParaRPr lang="en-US" sz="3000" dirty="0"/>
          </a:p>
        </p:txBody>
      </p:sp>
      <p:sp>
        <p:nvSpPr>
          <p:cNvPr id="4" name="Shape 2"/>
          <p:cNvSpPr/>
          <p:nvPr/>
        </p:nvSpPr>
        <p:spPr>
          <a:xfrm>
            <a:off x="502920" y="1645920"/>
            <a:ext cx="5394960" cy="4434840"/>
          </a:xfrm>
          <a:prstGeom prst="roundRect">
            <a:avLst>
              <a:gd name="adj" fmla="val 2887"/>
            </a:avLst>
          </a:prstGeom>
          <a:solidFill>
            <a:srgbClr val="EAF2FB"/>
          </a:solidFill>
          <a:ln/>
        </p:spPr>
      </p:sp>
      <p:sp>
        <p:nvSpPr>
          <p:cNvPr id="5" name="Shape 3"/>
          <p:cNvSpPr/>
          <p:nvPr/>
        </p:nvSpPr>
        <p:spPr>
          <a:xfrm>
            <a:off x="777240" y="1874520"/>
            <a:ext cx="1121054" cy="292608"/>
          </a:xfrm>
          <a:prstGeom prst="roundRect">
            <a:avLst>
              <a:gd name="adj" fmla="val 50000"/>
            </a:avLst>
          </a:prstGeom>
          <a:solidFill>
            <a:srgbClr val="0B2545"/>
          </a:solidFill>
          <a:ln/>
        </p:spPr>
      </p:sp>
      <p:sp>
        <p:nvSpPr>
          <p:cNvPr id="6" name="Text 4"/>
          <p:cNvSpPr/>
          <p:nvPr/>
        </p:nvSpPr>
        <p:spPr>
          <a:xfrm>
            <a:off x="777240" y="1874520"/>
            <a:ext cx="1121054"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STRONG ENTITY</a:t>
            </a:r>
            <a:endParaRPr lang="en-US" sz="1050" dirty="0"/>
          </a:p>
        </p:txBody>
      </p:sp>
      <p:sp>
        <p:nvSpPr>
          <p:cNvPr id="7" name="Text 5"/>
          <p:cNvSpPr/>
          <p:nvPr/>
        </p:nvSpPr>
        <p:spPr>
          <a:xfrm>
            <a:off x="777240" y="2331720"/>
            <a:ext cx="4846320" cy="3566160"/>
          </a:xfrm>
          <a:prstGeom prst="rect">
            <a:avLst/>
          </a:prstGeom>
          <a:noFill/>
          <a:ln/>
        </p:spPr>
        <p:txBody>
          <a:bodyPr wrap="square" rtlCol="0" anchor="t"/>
          <a:lstStyle/>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Has a full primary key of its own attributes.</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Participates independently in relationships.</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Deleting the entity does not automatically delete related entities.</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Can exist in the database with no related entities at all.</a:t>
            </a:r>
            <a:endParaRPr lang="en-US" sz="1300" dirty="0"/>
          </a:p>
        </p:txBody>
      </p:sp>
      <p:sp>
        <p:nvSpPr>
          <p:cNvPr id="8" name="Shape 6"/>
          <p:cNvSpPr/>
          <p:nvPr/>
        </p:nvSpPr>
        <p:spPr>
          <a:xfrm>
            <a:off x="6263640" y="1645920"/>
            <a:ext cx="5422392" cy="4434840"/>
          </a:xfrm>
          <a:prstGeom prst="roundRect">
            <a:avLst>
              <a:gd name="adj" fmla="val 2887"/>
            </a:avLst>
          </a:prstGeom>
          <a:solidFill>
            <a:srgbClr val="EAF2FB"/>
          </a:solidFill>
          <a:ln/>
        </p:spPr>
      </p:sp>
      <p:sp>
        <p:nvSpPr>
          <p:cNvPr id="9" name="Shape 7"/>
          <p:cNvSpPr/>
          <p:nvPr/>
        </p:nvSpPr>
        <p:spPr>
          <a:xfrm>
            <a:off x="6537960" y="1874520"/>
            <a:ext cx="971093" cy="292608"/>
          </a:xfrm>
          <a:prstGeom prst="roundRect">
            <a:avLst>
              <a:gd name="adj" fmla="val 50000"/>
            </a:avLst>
          </a:prstGeom>
          <a:solidFill>
            <a:srgbClr val="C9861B"/>
          </a:solidFill>
          <a:ln/>
        </p:spPr>
      </p:sp>
      <p:sp>
        <p:nvSpPr>
          <p:cNvPr id="10" name="Text 8"/>
          <p:cNvSpPr/>
          <p:nvPr/>
        </p:nvSpPr>
        <p:spPr>
          <a:xfrm>
            <a:off x="6537960" y="1874520"/>
            <a:ext cx="971093" cy="29260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WEAK ENTITY</a:t>
            </a:r>
            <a:endParaRPr lang="en-US" sz="1050" dirty="0"/>
          </a:p>
        </p:txBody>
      </p:sp>
      <p:sp>
        <p:nvSpPr>
          <p:cNvPr id="11" name="Text 9"/>
          <p:cNvSpPr/>
          <p:nvPr/>
        </p:nvSpPr>
        <p:spPr>
          <a:xfrm>
            <a:off x="6537960" y="2331720"/>
            <a:ext cx="4846320" cy="3566160"/>
          </a:xfrm>
          <a:prstGeom prst="rect">
            <a:avLst/>
          </a:prstGeom>
          <a:noFill/>
          <a:ln/>
        </p:spPr>
        <p:txBody>
          <a:bodyPr wrap="square" rtlCol="0" anchor="t"/>
          <a:lstStyle/>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Has only a "partial key" (discriminator), not a full primary key.</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Total participation: must always be related to its owner entity.</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Deleting the owner entity cascades to delete its weak entities.</a:t>
            </a:r>
            <a:endParaRPr lang="en-US" sz="1300" dirty="0"/>
          </a:p>
          <a:p>
            <a:pPr marL="228600" indent="-228600">
              <a:lnSpc>
                <a:spcPct val="108000"/>
              </a:lnSpc>
              <a:spcAft>
                <a:spcPts val="1000"/>
              </a:spcAft>
              <a:buSzPct val="100000"/>
              <a:buChar char="▪"/>
            </a:pPr>
            <a:r>
              <a:rPr lang="en-US" sz="1300" dirty="0">
                <a:solidFill>
                  <a:srgbClr val="13253F"/>
                </a:solidFill>
                <a:latin typeface="Calibri" pitchFamily="34" charset="0"/>
                <a:ea typeface="Calibri" pitchFamily="34" charset="-122"/>
                <a:cs typeface="Calibri" pitchFamily="34" charset="-120"/>
              </a:rPr>
              <a:t>Cannot exist in the database without its identifying owner.</a:t>
            </a:r>
            <a:endParaRPr lang="en-US" sz="1300" dirty="0"/>
          </a:p>
        </p:txBody>
      </p:sp>
      <p:sp>
        <p:nvSpPr>
          <p:cNvPr id="12" name="Text 10"/>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09  ·  Strong Entity vs Weak Entity</a:t>
            </a:r>
            <a:endParaRPr lang="en-US" sz="9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42</a:t>
            </a:r>
            <a:endParaRPr lang="en-US" sz="950" dirty="0"/>
          </a:p>
        </p:txBody>
      </p:sp>
      <p:sp>
        <p:nvSpPr>
          <p:cNvPr id="14" name="Shape 12"/>
          <p:cNvSpPr/>
          <p:nvPr/>
        </p:nvSpPr>
        <p:spPr>
          <a:xfrm>
            <a:off x="502920" y="6473952"/>
            <a:ext cx="11185855" cy="10973"/>
          </a:xfrm>
          <a:prstGeom prst="rect">
            <a:avLst/>
          </a:prstGeom>
          <a:solidFill>
            <a:srgbClr val="D4E4F7"/>
          </a:solidFill>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09  ·  STRONG ENTITY VS WEAK ENTITY</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ER Notation: Strong vs Weak</a:t>
            </a:r>
            <a:endParaRPr lang="en-US" sz="3000" dirty="0"/>
          </a:p>
        </p:txBody>
      </p:sp>
      <p:sp>
        <p:nvSpPr>
          <p:cNvPr id="4" name="Shape 2"/>
          <p:cNvSpPr/>
          <p:nvPr/>
        </p:nvSpPr>
        <p:spPr>
          <a:xfrm>
            <a:off x="1188720" y="2011680"/>
            <a:ext cx="2194560" cy="77724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1188720" y="2011680"/>
            <a:ext cx="2194560" cy="777240"/>
          </a:xfrm>
          <a:prstGeom prst="rect">
            <a:avLst/>
          </a:prstGeom>
          <a:noFill/>
          <a:ln/>
        </p:spPr>
        <p:txBody>
          <a:bodyPr wrap="square"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Customer</a:t>
            </a:r>
            <a:endParaRPr lang="en-US" sz="1300" dirty="0"/>
          </a:p>
        </p:txBody>
      </p:sp>
      <p:sp>
        <p:nvSpPr>
          <p:cNvPr id="6" name="Text 4"/>
          <p:cNvSpPr/>
          <p:nvPr/>
        </p:nvSpPr>
        <p:spPr>
          <a:xfrm>
            <a:off x="777240" y="2926080"/>
            <a:ext cx="301752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Strong entity — single-line rectangle</a:t>
            </a:r>
            <a:endParaRPr lang="en-US" sz="1000" dirty="0"/>
          </a:p>
        </p:txBody>
      </p:sp>
      <p:sp>
        <p:nvSpPr>
          <p:cNvPr id="7" name="Shape 5"/>
          <p:cNvSpPr/>
          <p:nvPr/>
        </p:nvSpPr>
        <p:spPr>
          <a:xfrm>
            <a:off x="1325880" y="3429000"/>
            <a:ext cx="1920240" cy="59436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8" name="Text 6"/>
          <p:cNvSpPr/>
          <p:nvPr/>
        </p:nvSpPr>
        <p:spPr>
          <a:xfrm>
            <a:off x="1325880" y="3429000"/>
            <a:ext cx="1920240" cy="5943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PLACES</a:t>
            </a:r>
            <a:endParaRPr lang="en-US" sz="1100" dirty="0"/>
          </a:p>
        </p:txBody>
      </p:sp>
      <p:sp>
        <p:nvSpPr>
          <p:cNvPr id="9" name="Text 7"/>
          <p:cNvSpPr/>
          <p:nvPr/>
        </p:nvSpPr>
        <p:spPr>
          <a:xfrm>
            <a:off x="777240" y="4114800"/>
            <a:ext cx="301752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Regular relationship — single-line diamond</a:t>
            </a:r>
            <a:endParaRPr lang="en-US" sz="1000" dirty="0"/>
          </a:p>
        </p:txBody>
      </p:sp>
      <p:sp>
        <p:nvSpPr>
          <p:cNvPr id="10" name="Shape 8"/>
          <p:cNvSpPr/>
          <p:nvPr/>
        </p:nvSpPr>
        <p:spPr>
          <a:xfrm>
            <a:off x="7315200" y="2011680"/>
            <a:ext cx="2377440" cy="777240"/>
          </a:xfrm>
          <a:prstGeom prst="rect">
            <a:avLst/>
          </a:prstGeom>
          <a:solidFill>
            <a:srgbClr val="FFF3E0"/>
          </a:solidFill>
          <a:ln w="25400">
            <a:solidFill>
              <a:srgbClr val="C9861B"/>
            </a:solidFill>
            <a:prstDash val="solid"/>
          </a:ln>
          <a:effectLst>
            <a:outerShdw sx="100000" sy="100000" kx="0" ky="0" algn="bl" rotWithShape="0" blurRad="50800" dist="12700" dir="5400000">
              <a:srgbClr val="13253F">
                <a:alpha val="12000"/>
              </a:srgbClr>
            </a:outerShdw>
          </a:effectLst>
        </p:spPr>
      </p:sp>
      <p:sp>
        <p:nvSpPr>
          <p:cNvPr id="11" name="Shape 9"/>
          <p:cNvSpPr/>
          <p:nvPr/>
        </p:nvSpPr>
        <p:spPr>
          <a:xfrm>
            <a:off x="7370064" y="2066544"/>
            <a:ext cx="2267712" cy="667512"/>
          </a:xfrm>
          <a:prstGeom prst="rect">
            <a:avLst/>
          </a:prstGeom>
          <a:ln w="15875">
            <a:solidFill>
              <a:srgbClr val="C9861B"/>
            </a:solidFill>
            <a:prstDash val="solid"/>
          </a:ln>
        </p:spPr>
      </p:sp>
      <p:sp>
        <p:nvSpPr>
          <p:cNvPr id="12" name="Text 10"/>
          <p:cNvSpPr/>
          <p:nvPr/>
        </p:nvSpPr>
        <p:spPr>
          <a:xfrm>
            <a:off x="7315200" y="2011680"/>
            <a:ext cx="2377440" cy="777240"/>
          </a:xfrm>
          <a:prstGeom prst="rect">
            <a:avLst/>
          </a:prstGeom>
          <a:noFill/>
          <a:ln/>
        </p:spPr>
        <p:txBody>
          <a:bodyPr wrap="square"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Dependent</a:t>
            </a:r>
            <a:endParaRPr lang="en-US" sz="1300" dirty="0"/>
          </a:p>
        </p:txBody>
      </p:sp>
      <p:sp>
        <p:nvSpPr>
          <p:cNvPr id="13" name="Text 11"/>
          <p:cNvSpPr/>
          <p:nvPr/>
        </p:nvSpPr>
        <p:spPr>
          <a:xfrm>
            <a:off x="6903720" y="2926080"/>
            <a:ext cx="320040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Weak entity — double-line rectangle</a:t>
            </a:r>
            <a:endParaRPr lang="en-US" sz="1000" dirty="0"/>
          </a:p>
        </p:txBody>
      </p:sp>
      <p:sp>
        <p:nvSpPr>
          <p:cNvPr id="14" name="Shape 12"/>
          <p:cNvSpPr/>
          <p:nvPr/>
        </p:nvSpPr>
        <p:spPr>
          <a:xfrm>
            <a:off x="7452360" y="3429000"/>
            <a:ext cx="2103120" cy="594360"/>
          </a:xfrm>
          <a:prstGeom prst="diamond">
            <a:avLst/>
          </a:prstGeom>
          <a:solidFill>
            <a:srgbClr val="C9861B"/>
          </a:solidFill>
          <a:ln w="25400">
            <a:solidFill>
              <a:srgbClr val="C9861B"/>
            </a:solidFill>
            <a:prstDash val="solid"/>
          </a:ln>
          <a:effectLst>
            <a:outerShdw sx="100000" sy="100000" kx="0" ky="0" algn="bl" rotWithShape="0" blurRad="50800" dist="12700" dir="5400000">
              <a:srgbClr val="13253F">
                <a:alpha val="12000"/>
              </a:srgbClr>
            </a:outerShdw>
          </a:effectLst>
        </p:spPr>
      </p:sp>
      <p:sp>
        <p:nvSpPr>
          <p:cNvPr id="15" name="Shape 13"/>
          <p:cNvSpPr/>
          <p:nvPr/>
        </p:nvSpPr>
        <p:spPr>
          <a:xfrm>
            <a:off x="7516368" y="3493008"/>
            <a:ext cx="1975104" cy="466344"/>
          </a:xfrm>
          <a:prstGeom prst="diamond">
            <a:avLst/>
          </a:prstGeom>
          <a:ln w="12700">
            <a:solidFill>
              <a:srgbClr val="C9861B"/>
            </a:solidFill>
            <a:prstDash val="solid"/>
          </a:ln>
        </p:spPr>
      </p:sp>
      <p:sp>
        <p:nvSpPr>
          <p:cNvPr id="16" name="Text 14"/>
          <p:cNvSpPr/>
          <p:nvPr/>
        </p:nvSpPr>
        <p:spPr>
          <a:xfrm>
            <a:off x="7452360" y="3429000"/>
            <a:ext cx="2103120" cy="5943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HAS</a:t>
            </a:r>
            <a:endParaRPr lang="en-US" sz="1100" dirty="0"/>
          </a:p>
        </p:txBody>
      </p:sp>
      <p:sp>
        <p:nvSpPr>
          <p:cNvPr id="17" name="Text 15"/>
          <p:cNvSpPr/>
          <p:nvPr/>
        </p:nvSpPr>
        <p:spPr>
          <a:xfrm>
            <a:off x="6903720" y="4114800"/>
            <a:ext cx="3200400" cy="320040"/>
          </a:xfrm>
          <a:prstGeom prst="rect">
            <a:avLst/>
          </a:prstGeom>
          <a:noFill/>
          <a:ln/>
        </p:spPr>
        <p:txBody>
          <a:bodyPr wrap="square" rtlCol="0" anchor="ctr"/>
          <a:lstStyle/>
          <a:p>
            <a:pPr algn="ctr" indent="0" marL="0">
              <a:buNone/>
            </a:pPr>
            <a:r>
              <a:rPr lang="en-US" sz="1000" i="1" dirty="0">
                <a:solidFill>
                  <a:srgbClr val="4C6076"/>
                </a:solidFill>
                <a:latin typeface="Calibri" pitchFamily="34" charset="0"/>
                <a:ea typeface="Calibri" pitchFamily="34" charset="-122"/>
                <a:cs typeface="Calibri" pitchFamily="34" charset="-120"/>
              </a:rPr>
              <a:t>Identifying relationship — double-line diamond</a:t>
            </a:r>
            <a:endParaRPr lang="en-US" sz="1000" dirty="0"/>
          </a:p>
        </p:txBody>
      </p:sp>
      <p:sp>
        <p:nvSpPr>
          <p:cNvPr id="18" name="Shape 16"/>
          <p:cNvSpPr/>
          <p:nvPr/>
        </p:nvSpPr>
        <p:spPr>
          <a:xfrm>
            <a:off x="3383280" y="4937760"/>
            <a:ext cx="9144" cy="457200"/>
          </a:xfrm>
          <a:prstGeom prst="line">
            <a:avLst/>
          </a:prstGeom>
          <a:noFill/>
          <a:ln w="1270">
            <a:solidFill>
              <a:srgbClr val="FFFFFF"/>
            </a:solidFill>
            <a:prstDash val="solid"/>
          </a:ln>
        </p:spPr>
      </p:sp>
      <p:sp>
        <p:nvSpPr>
          <p:cNvPr id="19" name="Shape 17"/>
          <p:cNvSpPr/>
          <p:nvPr/>
        </p:nvSpPr>
        <p:spPr>
          <a:xfrm>
            <a:off x="502920" y="4846320"/>
            <a:ext cx="11183112" cy="1234440"/>
          </a:xfrm>
          <a:prstGeom prst="roundRect">
            <a:avLst>
              <a:gd name="adj" fmla="val 8889"/>
            </a:avLst>
          </a:prstGeom>
          <a:solidFill>
            <a:srgbClr val="EAF2FB"/>
          </a:solidFill>
          <a:ln/>
        </p:spPr>
      </p:sp>
      <p:sp>
        <p:nvSpPr>
          <p:cNvPr id="20" name="Text 18"/>
          <p:cNvSpPr/>
          <p:nvPr/>
        </p:nvSpPr>
        <p:spPr>
          <a:xfrm>
            <a:off x="777240" y="4956048"/>
            <a:ext cx="10607040" cy="1005840"/>
          </a:xfrm>
          <a:prstGeom prst="rect">
            <a:avLst/>
          </a:prstGeom>
          <a:noFill/>
          <a:ln/>
        </p:spPr>
        <p:txBody>
          <a:bodyPr wrap="square" rtlCol="0" anchor="t"/>
          <a:lstStyle/>
          <a:p>
            <a:pPr marL="228600" indent="-228600">
              <a:lnSpc>
                <a:spcPct val="108000"/>
              </a:lnSpc>
              <a:spcAft>
                <a:spcPts val="600"/>
              </a:spcAft>
              <a:buSzPct val="100000"/>
              <a:buChar char="▪"/>
            </a:pPr>
            <a:r>
              <a:rPr lang="en-US" sz="1200" dirty="0">
                <a:solidFill>
                  <a:srgbClr val="13253F"/>
                </a:solidFill>
                <a:latin typeface="Calibri" pitchFamily="34" charset="0"/>
                <a:ea typeface="Calibri" pitchFamily="34" charset="-122"/>
                <a:cs typeface="Calibri" pitchFamily="34" charset="-120"/>
              </a:rPr>
              <a:t>A weak entity’s partial key (discriminator) is underlined with a dashed line, e.g. DependentName.</a:t>
            </a:r>
            <a:endParaRPr lang="en-US" sz="1200" dirty="0"/>
          </a:p>
          <a:p>
            <a:pPr marL="228600" indent="-228600">
              <a:lnSpc>
                <a:spcPct val="108000"/>
              </a:lnSpc>
              <a:spcAft>
                <a:spcPts val="600"/>
              </a:spcAft>
              <a:buSzPct val="100000"/>
              <a:buChar char="▪"/>
            </a:pPr>
            <a:r>
              <a:rPr lang="en-US" sz="1200" dirty="0">
                <a:solidFill>
                  <a:srgbClr val="13253F"/>
                </a:solidFill>
                <a:latin typeface="Calibri" pitchFamily="34" charset="0"/>
                <a:ea typeface="Calibri" pitchFamily="34" charset="-122"/>
                <a:cs typeface="Calibri" pitchFamily="34" charset="-120"/>
              </a:rPr>
              <a:t>The identifying relationship connecting a weak entity to its owner is always total participation on the weak side.</a:t>
            </a:r>
            <a:endParaRPr lang="en-US" sz="1200" dirty="0"/>
          </a:p>
        </p:txBody>
      </p:sp>
      <p:sp>
        <p:nvSpPr>
          <p:cNvPr id="21" name="Text 19"/>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09  ·  Strong Entity vs Weak Entity</a:t>
            </a:r>
            <a:endParaRPr lang="en-US" sz="950" dirty="0"/>
          </a:p>
        </p:txBody>
      </p:sp>
      <p:sp>
        <p:nvSpPr>
          <p:cNvPr id="22" name="Text 20"/>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43</a:t>
            </a:r>
            <a:endParaRPr lang="en-US" sz="950" dirty="0"/>
          </a:p>
        </p:txBody>
      </p:sp>
      <p:sp>
        <p:nvSpPr>
          <p:cNvPr id="23" name="Shape 21"/>
          <p:cNvSpPr/>
          <p:nvPr/>
        </p:nvSpPr>
        <p:spPr>
          <a:xfrm>
            <a:off x="502920" y="6473952"/>
            <a:ext cx="11185855" cy="10973"/>
          </a:xfrm>
          <a:prstGeom prst="rect">
            <a:avLst/>
          </a:prstGeom>
          <a:solidFill>
            <a:srgbClr val="D4E4F7"/>
          </a:solidFill>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09  ·  STRONG ENTITY VS WEAK ENTITY</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Real-World Examples</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usertie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Strong: Employee</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Identified independently by EmployeeID.</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boxes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Strong: Product</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Identified independently by ProductID.</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building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Strong: Department</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Identified independently by DeptID.</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users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Weak: Dependent</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Identified only via owning Employee + Name.</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clipboard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Weak: Order Item</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Identified only via owning Order + Line No.</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idcard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Weak: Room</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Identified only via owning Building + Room No.</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09  ·  Strong Entity vs Weak Entity</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44</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09  ·  STRONG ENTITY VS WEAK ENTITY</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Strong vs Weak Entity — Summary</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817352" cy="914400"/>
        </p:xfrm>
        <a:graphic>
          <a:graphicData uri="http://schemas.openxmlformats.org/drawingml/2006/table">
            <a:tbl>
              <a:tblPr/>
              <a:tblGrid>
                <a:gridCol w="2377440"/>
                <a:gridCol w="4480560"/>
                <a:gridCol w="3959352"/>
              </a:tblGrid>
              <a:tr h="48463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Strong Entity</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Weak Entity</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0B2545"/>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Primary Key</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Full primary key of its own</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Only a partial key (discriminator)</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Independence</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Exists independently</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Depends on an owner entity</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ER Notation</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Single-line rectangle</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Double-line rectangle</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Relationship</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Regular relationship (single diamond)</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Identifying relationship (double diamond)</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Participation</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Often partial</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Always total, on the weak side</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Deletion Effect</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No cascading effect</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Deleted automatically if owner is deleted</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EAF2FB"/>
                    </a:solidFill>
                  </a:tcPr>
                </a:tc>
              </a:tr>
              <a:tr h="484632">
                <a:tc>
                  <a:txBody>
                    <a:bodyPr/>
                    <a:lstStyle/>
                    <a:p>
                      <a:pPr algn="l" indent="0" marL="0">
                        <a:buNone/>
                      </a:pPr>
                      <a:r>
                        <a:rPr lang="en-US" sz="1100" b="1" dirty="0">
                          <a:solidFill>
                            <a:srgbClr val="0B2545"/>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Customer, Product, Department</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53F"/>
                          </a:solidFill>
                          <a:latin typeface="Calibri" pitchFamily="34" charset="0"/>
                          <a:ea typeface="Calibri" pitchFamily="34" charset="-122"/>
                          <a:cs typeface="Calibri" pitchFamily="34" charset="-120"/>
                        </a:rPr>
                        <a:t>Dependent, Order Item, Room</a:t>
                      </a:r>
                      <a:endParaRPr lang="en-US" sz="1100" dirty="0">
                        <a:latin typeface="Calibri" charset="0"/>
                        <a:ea typeface="Calibri" charset="0"/>
                        <a:cs typeface="Calibri" charset="0"/>
                      </a:endParaRPr>
                    </a:p>
                  </a:txBody>
                  <a:tcPr marL="91440" marR="91440" marT="45720" marB="45720" anchor="ctr">
                    <a:lnL w="12700" cap="flat" cmpd="sng" algn="ctr">
                      <a:solidFill>
                        <a:srgbClr val="D4E4F7"/>
                      </a:solidFill>
                      <a:prstDash val="solid"/>
                      <a:round/>
                      <a:headEnd type="none" w="med" len="med"/>
                      <a:tailEnd type="none" w="med" len="med"/>
                    </a:lnL>
                    <a:lnR w="12700" cap="flat" cmpd="sng" algn="ctr">
                      <a:solidFill>
                        <a:srgbClr val="D4E4F7"/>
                      </a:solidFill>
                      <a:prstDash val="solid"/>
                      <a:round/>
                      <a:headEnd type="none" w="med" len="med"/>
                      <a:tailEnd type="none" w="med" len="med"/>
                    </a:lnR>
                    <a:lnT w="12700" cap="flat" cmpd="sng" algn="ctr">
                      <a:solidFill>
                        <a:srgbClr val="D4E4F7"/>
                      </a:solidFill>
                      <a:prstDash val="solid"/>
                      <a:round/>
                      <a:headEnd type="none" w="med" len="med"/>
                      <a:tailEnd type="none" w="med" len="med"/>
                    </a:lnT>
                    <a:lnB w="12700" cap="flat" cmpd="sng" algn="ctr">
                      <a:solidFill>
                        <a:srgbClr val="D4E4F7"/>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09  ·  Strong Entity vs Weak Entity</a:t>
            </a:r>
            <a:endParaRPr lang="en-US" sz="9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45</a:t>
            </a:r>
            <a:endParaRPr lang="en-US" sz="950" dirty="0"/>
          </a:p>
        </p:txBody>
      </p:sp>
      <p:sp>
        <p:nvSpPr>
          <p:cNvPr id="7" name="Shape 4"/>
          <p:cNvSpPr/>
          <p:nvPr/>
        </p:nvSpPr>
        <p:spPr>
          <a:xfrm>
            <a:off x="502920" y="6473952"/>
            <a:ext cx="11185855" cy="10973"/>
          </a:xfrm>
          <a:prstGeom prst="rect">
            <a:avLst/>
          </a:prstGeom>
          <a:solidFill>
            <a:srgbClr val="D4E4F7"/>
          </a:solidFill>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10  ·  RETAIL CHAIN MANAGEMENT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2700" b="1" dirty="0">
                <a:solidFill>
                  <a:srgbClr val="0B2545"/>
                </a:solidFill>
                <a:latin typeface="Cambria" pitchFamily="34" charset="0"/>
                <a:ea typeface="Cambria" pitchFamily="34" charset="-122"/>
                <a:cs typeface="Cambria" pitchFamily="34" charset="-120"/>
              </a:rPr>
              <a:t>Capstone Case Study — System Overview</a:t>
            </a:r>
            <a:endParaRPr lang="en-US" sz="2700" dirty="0"/>
          </a:p>
        </p:txBody>
      </p:sp>
      <p:sp>
        <p:nvSpPr>
          <p:cNvPr id="4" name="Shape 2"/>
          <p:cNvSpPr/>
          <p:nvPr/>
        </p:nvSpPr>
        <p:spPr>
          <a:xfrm>
            <a:off x="640080" y="182880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5" name="Text 3"/>
          <p:cNvSpPr/>
          <p:nvPr/>
        </p:nvSpPr>
        <p:spPr>
          <a:xfrm>
            <a:off x="640080" y="1828800"/>
            <a:ext cx="173736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Supplier</a:t>
            </a:r>
            <a:endParaRPr lang="en-US" sz="1050" dirty="0"/>
          </a:p>
        </p:txBody>
      </p:sp>
      <p:sp>
        <p:nvSpPr>
          <p:cNvPr id="6" name="Shape 4"/>
          <p:cNvSpPr/>
          <p:nvPr/>
        </p:nvSpPr>
        <p:spPr>
          <a:xfrm>
            <a:off x="640080" y="416052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7" name="Text 5"/>
          <p:cNvSpPr/>
          <p:nvPr/>
        </p:nvSpPr>
        <p:spPr>
          <a:xfrm>
            <a:off x="640080" y="4160520"/>
            <a:ext cx="173736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Store</a:t>
            </a:r>
            <a:endParaRPr lang="en-US" sz="1050" dirty="0"/>
          </a:p>
        </p:txBody>
      </p:sp>
      <p:sp>
        <p:nvSpPr>
          <p:cNvPr id="8" name="Shape 6"/>
          <p:cNvSpPr/>
          <p:nvPr/>
        </p:nvSpPr>
        <p:spPr>
          <a:xfrm>
            <a:off x="3246120" y="297180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9" name="Text 7"/>
          <p:cNvSpPr/>
          <p:nvPr/>
        </p:nvSpPr>
        <p:spPr>
          <a:xfrm>
            <a:off x="3246120" y="2971800"/>
            <a:ext cx="173736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5852160" y="182880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1" name="Text 9"/>
          <p:cNvSpPr/>
          <p:nvPr/>
        </p:nvSpPr>
        <p:spPr>
          <a:xfrm>
            <a:off x="5852160" y="1828800"/>
            <a:ext cx="173736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Employee</a:t>
            </a:r>
            <a:endParaRPr lang="en-US" sz="1050" dirty="0"/>
          </a:p>
        </p:txBody>
      </p:sp>
      <p:sp>
        <p:nvSpPr>
          <p:cNvPr id="12" name="Shape 10"/>
          <p:cNvSpPr/>
          <p:nvPr/>
        </p:nvSpPr>
        <p:spPr>
          <a:xfrm>
            <a:off x="5852160" y="4160520"/>
            <a:ext cx="173736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3" name="Text 11"/>
          <p:cNvSpPr/>
          <p:nvPr/>
        </p:nvSpPr>
        <p:spPr>
          <a:xfrm>
            <a:off x="5852160" y="4160520"/>
            <a:ext cx="173736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Customer</a:t>
            </a:r>
            <a:endParaRPr lang="en-US" sz="1050" dirty="0"/>
          </a:p>
        </p:txBody>
      </p:sp>
      <p:sp>
        <p:nvSpPr>
          <p:cNvPr id="14" name="Shape 12"/>
          <p:cNvSpPr/>
          <p:nvPr/>
        </p:nvSpPr>
        <p:spPr>
          <a:xfrm>
            <a:off x="8778240" y="2971800"/>
            <a:ext cx="1920240" cy="502920"/>
          </a:xfrm>
          <a:prstGeom prst="rect">
            <a:avLst/>
          </a:prstGeom>
          <a:solidFill>
            <a:srgbClr val="FFF3E0"/>
          </a:solidFill>
          <a:ln w="25400">
            <a:solidFill>
              <a:srgbClr val="C9861B"/>
            </a:solidFill>
            <a:prstDash val="solid"/>
          </a:ln>
          <a:effectLst>
            <a:outerShdw sx="100000" sy="100000" kx="0" ky="0" algn="bl" rotWithShape="0" blurRad="50800" dist="12700" dir="5400000">
              <a:srgbClr val="13253F">
                <a:alpha val="12000"/>
              </a:srgbClr>
            </a:outerShdw>
          </a:effectLst>
        </p:spPr>
      </p:sp>
      <p:sp>
        <p:nvSpPr>
          <p:cNvPr id="15" name="Shape 13"/>
          <p:cNvSpPr/>
          <p:nvPr/>
        </p:nvSpPr>
        <p:spPr>
          <a:xfrm>
            <a:off x="8833104" y="3026664"/>
            <a:ext cx="1810512" cy="393192"/>
          </a:xfrm>
          <a:prstGeom prst="rect">
            <a:avLst/>
          </a:prstGeom>
          <a:ln w="15875">
            <a:solidFill>
              <a:srgbClr val="C9861B"/>
            </a:solidFill>
            <a:prstDash val="solid"/>
          </a:ln>
        </p:spPr>
      </p:sp>
      <p:sp>
        <p:nvSpPr>
          <p:cNvPr id="16" name="Text 14"/>
          <p:cNvSpPr/>
          <p:nvPr/>
        </p:nvSpPr>
        <p:spPr>
          <a:xfrm>
            <a:off x="8778240" y="2971800"/>
            <a:ext cx="1920240" cy="502920"/>
          </a:xfrm>
          <a:prstGeom prst="rect">
            <a:avLst/>
          </a:prstGeom>
          <a:noFill/>
          <a:ln/>
        </p:spPr>
        <p:txBody>
          <a:bodyPr wrap="square" rtlCol="0" anchor="ctr"/>
          <a:lstStyle/>
          <a:p>
            <a:pPr algn="ctr" indent="0" marL="0">
              <a:buNone/>
            </a:pPr>
            <a:r>
              <a:rPr lang="en-US" sz="1050" b="1" dirty="0">
                <a:solidFill>
                  <a:srgbClr val="0B2545"/>
                </a:solidFill>
                <a:latin typeface="Calibri" pitchFamily="34" charset="0"/>
                <a:ea typeface="Calibri" pitchFamily="34" charset="-122"/>
                <a:cs typeface="Calibri" pitchFamily="34" charset="-120"/>
              </a:rPr>
              <a:t>Order</a:t>
            </a:r>
            <a:endParaRPr lang="en-US" sz="1050" dirty="0"/>
          </a:p>
        </p:txBody>
      </p:sp>
      <p:sp>
        <p:nvSpPr>
          <p:cNvPr id="17" name="Shape 15"/>
          <p:cNvSpPr/>
          <p:nvPr/>
        </p:nvSpPr>
        <p:spPr>
          <a:xfrm>
            <a:off x="2331720" y="2331720"/>
            <a:ext cx="100584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18" name="Text 16"/>
          <p:cNvSpPr/>
          <p:nvPr/>
        </p:nvSpPr>
        <p:spPr>
          <a:xfrm>
            <a:off x="2331720" y="2331720"/>
            <a:ext cx="1005840" cy="4572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SUPPLIES</a:t>
            </a:r>
            <a:endParaRPr lang="en-US" sz="850" dirty="0"/>
          </a:p>
        </p:txBody>
      </p:sp>
      <p:sp>
        <p:nvSpPr>
          <p:cNvPr id="19" name="Shape 17"/>
          <p:cNvSpPr/>
          <p:nvPr/>
        </p:nvSpPr>
        <p:spPr>
          <a:xfrm>
            <a:off x="2331720" y="3703320"/>
            <a:ext cx="91440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20" name="Text 18"/>
          <p:cNvSpPr/>
          <p:nvPr/>
        </p:nvSpPr>
        <p:spPr>
          <a:xfrm>
            <a:off x="2331720" y="3703320"/>
            <a:ext cx="914400" cy="4572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STOCKS</a:t>
            </a:r>
            <a:endParaRPr lang="en-US" sz="850" dirty="0"/>
          </a:p>
        </p:txBody>
      </p:sp>
      <p:sp>
        <p:nvSpPr>
          <p:cNvPr id="21" name="Shape 19"/>
          <p:cNvSpPr/>
          <p:nvPr/>
        </p:nvSpPr>
        <p:spPr>
          <a:xfrm>
            <a:off x="5029200" y="2331720"/>
            <a:ext cx="100584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22" name="Text 20"/>
          <p:cNvSpPr/>
          <p:nvPr/>
        </p:nvSpPr>
        <p:spPr>
          <a:xfrm>
            <a:off x="5029200" y="2331720"/>
            <a:ext cx="100584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WORKS AT</a:t>
            </a:r>
            <a:endParaRPr lang="en-US" sz="800" dirty="0"/>
          </a:p>
        </p:txBody>
      </p:sp>
      <p:sp>
        <p:nvSpPr>
          <p:cNvPr id="23" name="Shape 21"/>
          <p:cNvSpPr/>
          <p:nvPr/>
        </p:nvSpPr>
        <p:spPr>
          <a:xfrm>
            <a:off x="7818120" y="2971800"/>
            <a:ext cx="1005840" cy="457200"/>
          </a:xfrm>
          <a:prstGeom prst="diamond">
            <a:avLst/>
          </a:prstGeom>
          <a:solidFill>
            <a:srgbClr val="C9861B"/>
          </a:solidFill>
          <a:ln w="12700">
            <a:solidFill>
              <a:srgbClr val="C9861B"/>
            </a:solidFill>
            <a:prstDash val="solid"/>
          </a:ln>
          <a:effectLst>
            <a:outerShdw sx="100000" sy="100000" kx="0" ky="0" algn="bl" rotWithShape="0" blurRad="50800" dist="12700" dir="5400000">
              <a:srgbClr val="13253F">
                <a:alpha val="12000"/>
              </a:srgbClr>
            </a:outerShdw>
          </a:effectLst>
        </p:spPr>
      </p:sp>
      <p:sp>
        <p:nvSpPr>
          <p:cNvPr id="24" name="Text 22"/>
          <p:cNvSpPr/>
          <p:nvPr/>
        </p:nvSpPr>
        <p:spPr>
          <a:xfrm>
            <a:off x="7818120" y="2971800"/>
            <a:ext cx="100584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CONTAINS</a:t>
            </a:r>
            <a:endParaRPr lang="en-US" sz="800" dirty="0"/>
          </a:p>
        </p:txBody>
      </p:sp>
      <p:sp>
        <p:nvSpPr>
          <p:cNvPr id="25" name="Shape 23"/>
          <p:cNvSpPr/>
          <p:nvPr/>
        </p:nvSpPr>
        <p:spPr>
          <a:xfrm>
            <a:off x="7680960" y="4160520"/>
            <a:ext cx="1097280" cy="457200"/>
          </a:xfrm>
          <a:prstGeom prst="diamond">
            <a:avLst/>
          </a:prstGeom>
          <a:solidFill>
            <a:srgbClr val="C9861B"/>
          </a:solidFill>
          <a:ln w="25400">
            <a:solidFill>
              <a:srgbClr val="C9861B"/>
            </a:solidFill>
            <a:prstDash val="solid"/>
          </a:ln>
          <a:effectLst>
            <a:outerShdw sx="100000" sy="100000" kx="0" ky="0" algn="bl" rotWithShape="0" blurRad="50800" dist="12700" dir="5400000">
              <a:srgbClr val="13253F">
                <a:alpha val="12000"/>
              </a:srgbClr>
            </a:outerShdw>
          </a:effectLst>
        </p:spPr>
      </p:sp>
      <p:sp>
        <p:nvSpPr>
          <p:cNvPr id="26" name="Shape 24"/>
          <p:cNvSpPr/>
          <p:nvPr/>
        </p:nvSpPr>
        <p:spPr>
          <a:xfrm>
            <a:off x="7744968" y="4224528"/>
            <a:ext cx="969264" cy="329184"/>
          </a:xfrm>
          <a:prstGeom prst="diamond">
            <a:avLst/>
          </a:prstGeom>
          <a:ln w="12700">
            <a:solidFill>
              <a:srgbClr val="C9861B"/>
            </a:solidFill>
            <a:prstDash val="solid"/>
          </a:ln>
        </p:spPr>
      </p:sp>
      <p:sp>
        <p:nvSpPr>
          <p:cNvPr id="27" name="Text 25"/>
          <p:cNvSpPr/>
          <p:nvPr/>
        </p:nvSpPr>
        <p:spPr>
          <a:xfrm>
            <a:off x="7680960" y="4160520"/>
            <a:ext cx="1097280" cy="4572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PLACES</a:t>
            </a:r>
            <a:endParaRPr lang="en-US" sz="850" dirty="0"/>
          </a:p>
        </p:txBody>
      </p:sp>
      <p:sp>
        <p:nvSpPr>
          <p:cNvPr id="28" name="Shape 26"/>
          <p:cNvSpPr/>
          <p:nvPr/>
        </p:nvSpPr>
        <p:spPr>
          <a:xfrm flipH="1">
            <a:off x="2331720" y="2148840"/>
            <a:ext cx="45720" cy="320040"/>
          </a:xfrm>
          <a:prstGeom prst="line">
            <a:avLst/>
          </a:prstGeom>
          <a:noFill/>
          <a:ln w="19050">
            <a:solidFill>
              <a:srgbClr val="4C6076"/>
            </a:solidFill>
            <a:prstDash val="solid"/>
          </a:ln>
        </p:spPr>
      </p:sp>
      <p:sp>
        <p:nvSpPr>
          <p:cNvPr id="29" name="Shape 27"/>
          <p:cNvSpPr/>
          <p:nvPr/>
        </p:nvSpPr>
        <p:spPr>
          <a:xfrm>
            <a:off x="3337560" y="2651760"/>
            <a:ext cx="9144" cy="320040"/>
          </a:xfrm>
          <a:prstGeom prst="line">
            <a:avLst/>
          </a:prstGeom>
          <a:noFill/>
          <a:ln w="19050">
            <a:solidFill>
              <a:srgbClr val="4C6076"/>
            </a:solidFill>
            <a:prstDash val="solid"/>
          </a:ln>
        </p:spPr>
      </p:sp>
      <p:sp>
        <p:nvSpPr>
          <p:cNvPr id="30" name="Shape 28"/>
          <p:cNvSpPr/>
          <p:nvPr/>
        </p:nvSpPr>
        <p:spPr>
          <a:xfrm flipV="1">
            <a:off x="2377440" y="4023360"/>
            <a:ext cx="137160" cy="320040"/>
          </a:xfrm>
          <a:prstGeom prst="line">
            <a:avLst/>
          </a:prstGeom>
          <a:noFill/>
          <a:ln w="19050">
            <a:solidFill>
              <a:srgbClr val="4C6076"/>
            </a:solidFill>
            <a:prstDash val="solid"/>
          </a:ln>
        </p:spPr>
      </p:sp>
      <p:sp>
        <p:nvSpPr>
          <p:cNvPr id="31" name="Shape 29"/>
          <p:cNvSpPr/>
          <p:nvPr/>
        </p:nvSpPr>
        <p:spPr>
          <a:xfrm flipH="1">
            <a:off x="3291840" y="3566160"/>
            <a:ext cx="137160" cy="365760"/>
          </a:xfrm>
          <a:prstGeom prst="line">
            <a:avLst/>
          </a:prstGeom>
          <a:noFill/>
          <a:ln w="19050">
            <a:solidFill>
              <a:srgbClr val="4C6076"/>
            </a:solidFill>
            <a:prstDash val="solid"/>
          </a:ln>
        </p:spPr>
      </p:sp>
      <p:sp>
        <p:nvSpPr>
          <p:cNvPr id="32" name="Shape 30"/>
          <p:cNvSpPr/>
          <p:nvPr/>
        </p:nvSpPr>
        <p:spPr>
          <a:xfrm flipH="1">
            <a:off x="5532120" y="2377440"/>
            <a:ext cx="502920" cy="137160"/>
          </a:xfrm>
          <a:prstGeom prst="line">
            <a:avLst/>
          </a:prstGeom>
          <a:noFill/>
          <a:ln w="19050">
            <a:solidFill>
              <a:srgbClr val="4C6076"/>
            </a:solidFill>
            <a:prstDash val="solid"/>
          </a:ln>
        </p:spPr>
      </p:sp>
      <p:sp>
        <p:nvSpPr>
          <p:cNvPr id="33" name="Shape 31"/>
          <p:cNvSpPr/>
          <p:nvPr/>
        </p:nvSpPr>
        <p:spPr>
          <a:xfrm flipV="1">
            <a:off x="1508760" y="3840480"/>
            <a:ext cx="685800" cy="320040"/>
          </a:xfrm>
          <a:prstGeom prst="line">
            <a:avLst/>
          </a:prstGeom>
          <a:noFill/>
          <a:ln w="19050">
            <a:solidFill>
              <a:srgbClr val="4C6076"/>
            </a:solidFill>
            <a:prstDash val="solid"/>
          </a:ln>
        </p:spPr>
      </p:sp>
      <p:sp>
        <p:nvSpPr>
          <p:cNvPr id="34" name="Shape 32"/>
          <p:cNvSpPr/>
          <p:nvPr/>
        </p:nvSpPr>
        <p:spPr>
          <a:xfrm>
            <a:off x="4983480" y="3200400"/>
            <a:ext cx="1051560" cy="9144"/>
          </a:xfrm>
          <a:prstGeom prst="line">
            <a:avLst/>
          </a:prstGeom>
          <a:noFill/>
          <a:ln w="19050">
            <a:solidFill>
              <a:srgbClr val="4C6076"/>
            </a:solidFill>
            <a:prstDash val="solid"/>
          </a:ln>
        </p:spPr>
      </p:sp>
      <p:sp>
        <p:nvSpPr>
          <p:cNvPr id="35" name="Shape 33"/>
          <p:cNvSpPr/>
          <p:nvPr/>
        </p:nvSpPr>
        <p:spPr>
          <a:xfrm>
            <a:off x="8778240" y="3200400"/>
            <a:ext cx="45720" cy="9144"/>
          </a:xfrm>
          <a:prstGeom prst="line">
            <a:avLst/>
          </a:prstGeom>
          <a:noFill/>
          <a:ln w="19050">
            <a:solidFill>
              <a:srgbClr val="4C6076"/>
            </a:solidFill>
            <a:prstDash val="solid"/>
          </a:ln>
        </p:spPr>
      </p:sp>
      <p:sp>
        <p:nvSpPr>
          <p:cNvPr id="36" name="Shape 34"/>
          <p:cNvSpPr/>
          <p:nvPr/>
        </p:nvSpPr>
        <p:spPr>
          <a:xfrm>
            <a:off x="6720840" y="4297680"/>
            <a:ext cx="960120" cy="9144"/>
          </a:xfrm>
          <a:prstGeom prst="line">
            <a:avLst/>
          </a:prstGeom>
          <a:noFill/>
          <a:ln w="19050">
            <a:solidFill>
              <a:srgbClr val="4C6076"/>
            </a:solidFill>
            <a:prstDash val="solid"/>
          </a:ln>
        </p:spPr>
      </p:sp>
      <p:sp>
        <p:nvSpPr>
          <p:cNvPr id="37" name="Shape 35"/>
          <p:cNvSpPr/>
          <p:nvPr/>
        </p:nvSpPr>
        <p:spPr>
          <a:xfrm flipV="1">
            <a:off x="8778240" y="3474720"/>
            <a:ext cx="731520" cy="685800"/>
          </a:xfrm>
          <a:prstGeom prst="line">
            <a:avLst/>
          </a:prstGeom>
          <a:noFill/>
          <a:ln w="19050">
            <a:solidFill>
              <a:srgbClr val="4C6076"/>
            </a:solidFill>
            <a:prstDash val="solid"/>
          </a:ln>
        </p:spPr>
      </p:sp>
      <p:sp>
        <p:nvSpPr>
          <p:cNvPr id="38" name="Text 36"/>
          <p:cNvSpPr/>
          <p:nvPr/>
        </p:nvSpPr>
        <p:spPr>
          <a:xfrm>
            <a:off x="502920" y="5623560"/>
            <a:ext cx="11183112" cy="365760"/>
          </a:xfrm>
          <a:prstGeom prst="rect">
            <a:avLst/>
          </a:prstGeom>
          <a:noFill/>
          <a:ln/>
        </p:spPr>
        <p:txBody>
          <a:bodyPr wrap="square" rtlCol="0" anchor="ctr"/>
          <a:lstStyle/>
          <a:p>
            <a:pPr algn="ctr" indent="0" marL="0">
              <a:buNone/>
            </a:pPr>
            <a:r>
              <a:rPr lang="en-US" sz="1100" i="1" dirty="0">
                <a:solidFill>
                  <a:srgbClr val="4C6076"/>
                </a:solidFill>
                <a:latin typeface="Calibri" pitchFamily="34" charset="0"/>
                <a:ea typeface="Calibri" pitchFamily="34" charset="-122"/>
                <a:cs typeface="Calibri" pitchFamily="34" charset="-120"/>
              </a:rPr>
              <a:t>Full detail of each entity and process is unpacked across the next four slides</a:t>
            </a:r>
            <a:endParaRPr lang="en-US" sz="1100" dirty="0"/>
          </a:p>
        </p:txBody>
      </p:sp>
      <p:sp>
        <p:nvSpPr>
          <p:cNvPr id="39" name="Text 37"/>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10  ·  Retail Chain Management System</a:t>
            </a:r>
            <a:endParaRPr lang="en-US" sz="950" dirty="0"/>
          </a:p>
        </p:txBody>
      </p:sp>
      <p:sp>
        <p:nvSpPr>
          <p:cNvPr id="40" name="Text 38"/>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46</a:t>
            </a:r>
            <a:endParaRPr lang="en-US" sz="950" dirty="0"/>
          </a:p>
        </p:txBody>
      </p:sp>
      <p:sp>
        <p:nvSpPr>
          <p:cNvPr id="41" name="Shape 39"/>
          <p:cNvSpPr/>
          <p:nvPr/>
        </p:nvSpPr>
        <p:spPr>
          <a:xfrm>
            <a:off x="502920" y="6473952"/>
            <a:ext cx="11185855" cy="10973"/>
          </a:xfrm>
          <a:prstGeom prst="rect">
            <a:avLst/>
          </a:prstGeom>
          <a:solidFill>
            <a:srgbClr val="D4E4F7"/>
          </a:solidFill>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10  ·  RETAIL CHAIN MANAGEMENT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Core Entities of the System</a:t>
            </a:r>
            <a:endParaRPr lang="en-US" sz="3000" dirty="0"/>
          </a:p>
        </p:txBody>
      </p:sp>
      <p:sp>
        <p:nvSpPr>
          <p:cNvPr id="4" name="Shape 2"/>
          <p:cNvSpPr/>
          <p:nvPr/>
        </p:nvSpPr>
        <p:spPr>
          <a:xfrm>
            <a:off x="502920"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5" name="Shape 3"/>
          <p:cNvSpPr/>
          <p:nvPr/>
        </p:nvSpPr>
        <p:spPr>
          <a:xfrm>
            <a:off x="1991868"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idcard_white.png">    </p:cNvPr>
          <p:cNvPicPr>
            <a:picLocks noChangeAspect="1"/>
          </p:cNvPicPr>
          <p:nvPr/>
        </p:nvPicPr>
        <p:blipFill>
          <a:blip r:embed="rId1"/>
          <a:stretch>
            <a:fillRect/>
          </a:stretch>
        </p:blipFill>
        <p:spPr>
          <a:xfrm>
            <a:off x="2139269" y="1948769"/>
            <a:ext cx="272125" cy="272125"/>
          </a:xfrm>
          <a:prstGeom prst="rect">
            <a:avLst/>
          </a:prstGeom>
        </p:spPr>
      </p:pic>
      <p:sp>
        <p:nvSpPr>
          <p:cNvPr id="7" name="Text 4"/>
          <p:cNvSpPr/>
          <p:nvPr/>
        </p:nvSpPr>
        <p:spPr>
          <a:xfrm>
            <a:off x="594360"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Customer</a:t>
            </a:r>
            <a:endParaRPr lang="en-US" sz="1300" dirty="0"/>
          </a:p>
        </p:txBody>
      </p:sp>
      <p:sp>
        <p:nvSpPr>
          <p:cNvPr id="8" name="Text 5"/>
          <p:cNvSpPr/>
          <p:nvPr/>
        </p:nvSpPr>
        <p:spPr>
          <a:xfrm>
            <a:off x="630936"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CustomerID (PK), Name, Phone, LoyaltyPoints.</a:t>
            </a:r>
            <a:endParaRPr lang="en-US" sz="1000" dirty="0"/>
          </a:p>
        </p:txBody>
      </p:sp>
      <p:sp>
        <p:nvSpPr>
          <p:cNvPr id="9" name="Shape 6"/>
          <p:cNvSpPr/>
          <p:nvPr/>
        </p:nvSpPr>
        <p:spPr>
          <a:xfrm>
            <a:off x="4322064"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0" name="Shape 7"/>
          <p:cNvSpPr/>
          <p:nvPr/>
        </p:nvSpPr>
        <p:spPr>
          <a:xfrm>
            <a:off x="5811012"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1" name="Image 1" descr="/home/claude/dbms_pptx/icons/boxes_white.png">    </p:cNvPr>
          <p:cNvPicPr>
            <a:picLocks noChangeAspect="1"/>
          </p:cNvPicPr>
          <p:nvPr/>
        </p:nvPicPr>
        <p:blipFill>
          <a:blip r:embed="rId2"/>
          <a:stretch>
            <a:fillRect/>
          </a:stretch>
        </p:blipFill>
        <p:spPr>
          <a:xfrm>
            <a:off x="5958413" y="1948769"/>
            <a:ext cx="272125" cy="272125"/>
          </a:xfrm>
          <a:prstGeom prst="rect">
            <a:avLst/>
          </a:prstGeom>
        </p:spPr>
      </p:pic>
      <p:sp>
        <p:nvSpPr>
          <p:cNvPr id="12" name="Text 8"/>
          <p:cNvSpPr/>
          <p:nvPr/>
        </p:nvSpPr>
        <p:spPr>
          <a:xfrm>
            <a:off x="4413504"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Product</a:t>
            </a:r>
            <a:endParaRPr lang="en-US" sz="1300" dirty="0"/>
          </a:p>
        </p:txBody>
      </p:sp>
      <p:sp>
        <p:nvSpPr>
          <p:cNvPr id="13" name="Text 9"/>
          <p:cNvSpPr/>
          <p:nvPr/>
        </p:nvSpPr>
        <p:spPr>
          <a:xfrm>
            <a:off x="4450080"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ProductID (PK), Name, Price, Category, StockQty.</a:t>
            </a:r>
            <a:endParaRPr lang="en-US" sz="1000" dirty="0"/>
          </a:p>
        </p:txBody>
      </p:sp>
      <p:sp>
        <p:nvSpPr>
          <p:cNvPr id="14" name="Shape 10"/>
          <p:cNvSpPr/>
          <p:nvPr/>
        </p:nvSpPr>
        <p:spPr>
          <a:xfrm>
            <a:off x="8141208" y="160020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15" name="Shape 11"/>
          <p:cNvSpPr/>
          <p:nvPr/>
        </p:nvSpPr>
        <p:spPr>
          <a:xfrm>
            <a:off x="9630156" y="180136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6" name="Image 2" descr="/home/claude/dbms_pptx/icons/truck_white.png">    </p:cNvPr>
          <p:cNvPicPr>
            <a:picLocks noChangeAspect="1"/>
          </p:cNvPicPr>
          <p:nvPr/>
        </p:nvPicPr>
        <p:blipFill>
          <a:blip r:embed="rId3"/>
          <a:stretch>
            <a:fillRect/>
          </a:stretch>
        </p:blipFill>
        <p:spPr>
          <a:xfrm>
            <a:off x="9777557" y="1948769"/>
            <a:ext cx="272125" cy="272125"/>
          </a:xfrm>
          <a:prstGeom prst="rect">
            <a:avLst/>
          </a:prstGeom>
        </p:spPr>
      </p:pic>
      <p:sp>
        <p:nvSpPr>
          <p:cNvPr id="17" name="Text 12"/>
          <p:cNvSpPr/>
          <p:nvPr/>
        </p:nvSpPr>
        <p:spPr>
          <a:xfrm>
            <a:off x="8232648" y="244144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Supplier</a:t>
            </a:r>
            <a:endParaRPr lang="en-US" sz="1300" dirty="0"/>
          </a:p>
        </p:txBody>
      </p:sp>
      <p:sp>
        <p:nvSpPr>
          <p:cNvPr id="18" name="Text 13"/>
          <p:cNvSpPr/>
          <p:nvPr/>
        </p:nvSpPr>
        <p:spPr>
          <a:xfrm>
            <a:off x="8269224" y="273405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SupplierID (PK), Name, ContactInfo, LeadTime.</a:t>
            </a:r>
            <a:endParaRPr lang="en-US" sz="1000" dirty="0"/>
          </a:p>
        </p:txBody>
      </p:sp>
      <p:sp>
        <p:nvSpPr>
          <p:cNvPr id="19" name="Shape 14"/>
          <p:cNvSpPr/>
          <p:nvPr/>
        </p:nvSpPr>
        <p:spPr>
          <a:xfrm>
            <a:off x="502920"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0" name="Shape 15"/>
          <p:cNvSpPr/>
          <p:nvPr/>
        </p:nvSpPr>
        <p:spPr>
          <a:xfrm>
            <a:off x="1991868"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1" name="Image 3" descr="/home/claude/dbms_pptx/icons/store_white.png">    </p:cNvPr>
          <p:cNvPicPr>
            <a:picLocks noChangeAspect="1"/>
          </p:cNvPicPr>
          <p:nvPr/>
        </p:nvPicPr>
        <p:blipFill>
          <a:blip r:embed="rId4"/>
          <a:stretch>
            <a:fillRect/>
          </a:stretch>
        </p:blipFill>
        <p:spPr>
          <a:xfrm>
            <a:off x="2139269" y="4326209"/>
            <a:ext cx="272125" cy="272125"/>
          </a:xfrm>
          <a:prstGeom prst="rect">
            <a:avLst/>
          </a:prstGeom>
        </p:spPr>
      </p:pic>
      <p:sp>
        <p:nvSpPr>
          <p:cNvPr id="22" name="Text 16"/>
          <p:cNvSpPr/>
          <p:nvPr/>
        </p:nvSpPr>
        <p:spPr>
          <a:xfrm>
            <a:off x="594360"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Store</a:t>
            </a:r>
            <a:endParaRPr lang="en-US" sz="1300" dirty="0"/>
          </a:p>
        </p:txBody>
      </p:sp>
      <p:sp>
        <p:nvSpPr>
          <p:cNvPr id="23" name="Text 17"/>
          <p:cNvSpPr/>
          <p:nvPr/>
        </p:nvSpPr>
        <p:spPr>
          <a:xfrm>
            <a:off x="630936"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StoreID (PK), Location, Manager, Region.</a:t>
            </a:r>
            <a:endParaRPr lang="en-US" sz="1000" dirty="0"/>
          </a:p>
        </p:txBody>
      </p:sp>
      <p:sp>
        <p:nvSpPr>
          <p:cNvPr id="24" name="Shape 18"/>
          <p:cNvSpPr/>
          <p:nvPr/>
        </p:nvSpPr>
        <p:spPr>
          <a:xfrm>
            <a:off x="4322064"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25" name="Shape 19"/>
          <p:cNvSpPr/>
          <p:nvPr/>
        </p:nvSpPr>
        <p:spPr>
          <a:xfrm>
            <a:off x="5811012"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6" name="Image 4" descr="/home/claude/dbms_pptx/icons/usertie_white.png">    </p:cNvPr>
          <p:cNvPicPr>
            <a:picLocks noChangeAspect="1"/>
          </p:cNvPicPr>
          <p:nvPr/>
        </p:nvPicPr>
        <p:blipFill>
          <a:blip r:embed="rId5"/>
          <a:stretch>
            <a:fillRect/>
          </a:stretch>
        </p:blipFill>
        <p:spPr>
          <a:xfrm>
            <a:off x="5958413" y="4326209"/>
            <a:ext cx="272125" cy="272125"/>
          </a:xfrm>
          <a:prstGeom prst="rect">
            <a:avLst/>
          </a:prstGeom>
        </p:spPr>
      </p:pic>
      <p:sp>
        <p:nvSpPr>
          <p:cNvPr id="27" name="Text 20"/>
          <p:cNvSpPr/>
          <p:nvPr/>
        </p:nvSpPr>
        <p:spPr>
          <a:xfrm>
            <a:off x="4413504"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Employee</a:t>
            </a:r>
            <a:endParaRPr lang="en-US" sz="1300" dirty="0"/>
          </a:p>
        </p:txBody>
      </p:sp>
      <p:sp>
        <p:nvSpPr>
          <p:cNvPr id="28" name="Text 21"/>
          <p:cNvSpPr/>
          <p:nvPr/>
        </p:nvSpPr>
        <p:spPr>
          <a:xfrm>
            <a:off x="4450080"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EmployeeID (PK), Name, Role, StoreID (FK).</a:t>
            </a:r>
            <a:endParaRPr lang="en-US" sz="1000" dirty="0"/>
          </a:p>
        </p:txBody>
      </p:sp>
      <p:sp>
        <p:nvSpPr>
          <p:cNvPr id="29" name="Shape 22"/>
          <p:cNvSpPr/>
          <p:nvPr/>
        </p:nvSpPr>
        <p:spPr>
          <a:xfrm>
            <a:off x="8141208" y="3977640"/>
            <a:ext cx="3544824" cy="2103120"/>
          </a:xfrm>
          <a:prstGeom prst="roundRect">
            <a:avLst>
              <a:gd name="adj" fmla="val 4348"/>
            </a:avLst>
          </a:prstGeom>
          <a:solidFill>
            <a:srgbClr val="FFFFFF"/>
          </a:solidFill>
          <a:ln/>
          <a:effectLst>
            <a:outerShdw sx="100000" sy="100000" kx="0" ky="0" algn="bl" rotWithShape="0" blurRad="101600" dist="25400" dir="5400000">
              <a:srgbClr val="13253F">
                <a:alpha val="12000"/>
              </a:srgbClr>
            </a:outerShdw>
          </a:effectLst>
        </p:spPr>
      </p:sp>
      <p:sp>
        <p:nvSpPr>
          <p:cNvPr id="30" name="Shape 23"/>
          <p:cNvSpPr/>
          <p:nvPr/>
        </p:nvSpPr>
        <p:spPr>
          <a:xfrm>
            <a:off x="9630156" y="4178808"/>
            <a:ext cx="566928" cy="566928"/>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1" name="Image 5" descr="/home/claude/dbms_pptx/icons/clipboard_white.png">    </p:cNvPr>
          <p:cNvPicPr>
            <a:picLocks noChangeAspect="1"/>
          </p:cNvPicPr>
          <p:nvPr/>
        </p:nvPicPr>
        <p:blipFill>
          <a:blip r:embed="rId6"/>
          <a:stretch>
            <a:fillRect/>
          </a:stretch>
        </p:blipFill>
        <p:spPr>
          <a:xfrm>
            <a:off x="9777557" y="4326209"/>
            <a:ext cx="272125" cy="272125"/>
          </a:xfrm>
          <a:prstGeom prst="rect">
            <a:avLst/>
          </a:prstGeom>
        </p:spPr>
      </p:pic>
      <p:sp>
        <p:nvSpPr>
          <p:cNvPr id="32" name="Text 24"/>
          <p:cNvSpPr/>
          <p:nvPr/>
        </p:nvSpPr>
        <p:spPr>
          <a:xfrm>
            <a:off x="8232648" y="4818888"/>
            <a:ext cx="3361944" cy="292608"/>
          </a:xfrm>
          <a:prstGeom prst="rect">
            <a:avLst/>
          </a:prstGeom>
          <a:noFill/>
          <a:ln/>
        </p:spPr>
        <p:txBody>
          <a:bodyPr wrap="square" rtlCol="0" anchor="t"/>
          <a:lstStyle/>
          <a:p>
            <a:pPr algn="ctr" indent="0" marL="0">
              <a:buNone/>
            </a:pPr>
            <a:r>
              <a:rPr lang="en-US" sz="1300" b="1" dirty="0">
                <a:solidFill>
                  <a:srgbClr val="0B2545"/>
                </a:solidFill>
                <a:latin typeface="Calibri" pitchFamily="34" charset="0"/>
                <a:ea typeface="Calibri" pitchFamily="34" charset="-122"/>
                <a:cs typeface="Calibri" pitchFamily="34" charset="-120"/>
              </a:rPr>
              <a:t>Order</a:t>
            </a:r>
            <a:endParaRPr lang="en-US" sz="1300" dirty="0"/>
          </a:p>
        </p:txBody>
      </p:sp>
      <p:sp>
        <p:nvSpPr>
          <p:cNvPr id="33" name="Text 25"/>
          <p:cNvSpPr/>
          <p:nvPr/>
        </p:nvSpPr>
        <p:spPr>
          <a:xfrm>
            <a:off x="8269224" y="5111496"/>
            <a:ext cx="3288792" cy="950976"/>
          </a:xfrm>
          <a:prstGeom prst="rect">
            <a:avLst/>
          </a:prstGeom>
          <a:noFill/>
          <a:ln/>
        </p:spPr>
        <p:txBody>
          <a:bodyPr wrap="square" rtlCol="0" anchor="t"/>
          <a:lstStyle/>
          <a:p>
            <a:pPr algn="ctr" indent="0" marL="0">
              <a:lnSpc>
                <a:spcPct val="105000"/>
              </a:lnSpc>
              <a:buNone/>
            </a:pPr>
            <a:r>
              <a:rPr lang="en-US" sz="1000" dirty="0">
                <a:solidFill>
                  <a:srgbClr val="4C6076"/>
                </a:solidFill>
                <a:latin typeface="Calibri" pitchFamily="34" charset="0"/>
                <a:ea typeface="Calibri" pitchFamily="34" charset="-122"/>
                <a:cs typeface="Calibri" pitchFamily="34" charset="-120"/>
              </a:rPr>
              <a:t>OrderID, CustomerID (FK), StoreID (FK), Date.</a:t>
            </a:r>
            <a:endParaRPr lang="en-US" sz="1000" dirty="0"/>
          </a:p>
        </p:txBody>
      </p:sp>
      <p:sp>
        <p:nvSpPr>
          <p:cNvPr id="34" name="Text 26"/>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10  ·  Retail Chain Management System</a:t>
            </a:r>
            <a:endParaRPr lang="en-US" sz="950" dirty="0"/>
          </a:p>
        </p:txBody>
      </p:sp>
      <p:sp>
        <p:nvSpPr>
          <p:cNvPr id="35" name="Text 27"/>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47</a:t>
            </a:r>
            <a:endParaRPr lang="en-US" sz="950" dirty="0"/>
          </a:p>
        </p:txBody>
      </p:sp>
      <p:sp>
        <p:nvSpPr>
          <p:cNvPr id="36" name="Shape 28"/>
          <p:cNvSpPr/>
          <p:nvPr/>
        </p:nvSpPr>
        <p:spPr>
          <a:xfrm>
            <a:off x="502920" y="6473952"/>
            <a:ext cx="11185855" cy="10973"/>
          </a:xfrm>
          <a:prstGeom prst="rect">
            <a:avLst/>
          </a:prstGeom>
          <a:solidFill>
            <a:srgbClr val="D4E4F7"/>
          </a:solidFill>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10  ·  RETAIL CHAIN MANAGEMENT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Order Processing &amp; Inventory Flow</a:t>
            </a:r>
            <a:endParaRPr lang="en-US" sz="3000" dirty="0"/>
          </a:p>
        </p:txBody>
      </p:sp>
      <p:sp>
        <p:nvSpPr>
          <p:cNvPr id="4" name="Shape 2"/>
          <p:cNvSpPr/>
          <p:nvPr/>
        </p:nvSpPr>
        <p:spPr>
          <a:xfrm>
            <a:off x="502920" y="2286000"/>
            <a:ext cx="1965960" cy="1371600"/>
          </a:xfrm>
          <a:prstGeom prst="roundRect">
            <a:avLst>
              <a:gd name="adj" fmla="val 5333"/>
            </a:avLst>
          </a:prstGeom>
          <a:solidFill>
            <a:srgbClr val="EAF2FB"/>
          </a:solidFill>
          <a:ln/>
          <a:effectLst>
            <a:outerShdw sx="100000" sy="100000" kx="0" ky="0" algn="bl" rotWithShape="0" blurRad="63500" dist="25400" dir="5400000">
              <a:srgbClr val="13253F">
                <a:alpha val="15000"/>
              </a:srgbClr>
            </a:outerShdw>
          </a:effectLst>
        </p:spPr>
      </p:sp>
      <p:sp>
        <p:nvSpPr>
          <p:cNvPr id="5" name="Shape 3"/>
          <p:cNvSpPr/>
          <p:nvPr/>
        </p:nvSpPr>
        <p:spPr>
          <a:xfrm>
            <a:off x="1193292" y="2450592"/>
            <a:ext cx="585216" cy="585216"/>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6" name="Image 0" descr="/home/claude/dbms_pptx/icons/cart_white.png">    </p:cNvPr>
          <p:cNvPicPr>
            <a:picLocks noChangeAspect="1"/>
          </p:cNvPicPr>
          <p:nvPr/>
        </p:nvPicPr>
        <p:blipFill>
          <a:blip r:embed="rId1"/>
          <a:stretch>
            <a:fillRect/>
          </a:stretch>
        </p:blipFill>
        <p:spPr>
          <a:xfrm>
            <a:off x="1345448" y="2602748"/>
            <a:ext cx="280904" cy="280904"/>
          </a:xfrm>
          <a:prstGeom prst="rect">
            <a:avLst/>
          </a:prstGeom>
        </p:spPr>
      </p:pic>
      <p:sp>
        <p:nvSpPr>
          <p:cNvPr id="7" name="Text 4"/>
          <p:cNvSpPr/>
          <p:nvPr/>
        </p:nvSpPr>
        <p:spPr>
          <a:xfrm>
            <a:off x="576072" y="3127248"/>
            <a:ext cx="1819656" cy="457200"/>
          </a:xfrm>
          <a:prstGeom prst="rect">
            <a:avLst/>
          </a:prstGeom>
          <a:noFill/>
          <a:ln/>
        </p:spPr>
        <p:txBody>
          <a:bodyPr wrap="square" rtlCol="0" anchor="t"/>
          <a:lstStyle/>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Customer</a:t>
            </a:r>
            <a:endParaRPr lang="en-US" sz="1050" dirty="0"/>
          </a:p>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Places Order</a:t>
            </a:r>
            <a:endParaRPr lang="en-US" sz="1050" dirty="0"/>
          </a:p>
        </p:txBody>
      </p:sp>
      <p:sp>
        <p:nvSpPr>
          <p:cNvPr id="8" name="Shape 5"/>
          <p:cNvSpPr/>
          <p:nvPr/>
        </p:nvSpPr>
        <p:spPr>
          <a:xfrm>
            <a:off x="557784" y="2267712"/>
            <a:ext cx="292608" cy="292608"/>
          </a:xfrm>
          <a:prstGeom prst="ellipse">
            <a:avLst/>
          </a:prstGeom>
          <a:solidFill>
            <a:srgbClr val="C9861B"/>
          </a:solidFill>
          <a:ln/>
        </p:spPr>
      </p:sp>
      <p:sp>
        <p:nvSpPr>
          <p:cNvPr id="9" name="Text 6"/>
          <p:cNvSpPr/>
          <p:nvPr/>
        </p:nvSpPr>
        <p:spPr>
          <a:xfrm>
            <a:off x="557784"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Shape 7"/>
          <p:cNvSpPr/>
          <p:nvPr/>
        </p:nvSpPr>
        <p:spPr>
          <a:xfrm>
            <a:off x="2487168" y="2871216"/>
            <a:ext cx="219456" cy="201168"/>
          </a:xfrm>
          <a:prstGeom prst="rightArrow">
            <a:avLst/>
          </a:prstGeom>
          <a:solidFill>
            <a:srgbClr val="1E5AA8"/>
          </a:solidFill>
          <a:ln/>
        </p:spPr>
      </p:sp>
      <p:sp>
        <p:nvSpPr>
          <p:cNvPr id="11" name="Shape 8"/>
          <p:cNvSpPr/>
          <p:nvPr/>
        </p:nvSpPr>
        <p:spPr>
          <a:xfrm>
            <a:off x="2724912" y="2286000"/>
            <a:ext cx="1965960" cy="1371600"/>
          </a:xfrm>
          <a:prstGeom prst="roundRect">
            <a:avLst>
              <a:gd name="adj" fmla="val 5333"/>
            </a:avLst>
          </a:prstGeom>
          <a:solidFill>
            <a:srgbClr val="EAF2FB"/>
          </a:solidFill>
          <a:ln/>
          <a:effectLst>
            <a:outerShdw sx="100000" sy="100000" kx="0" ky="0" algn="bl" rotWithShape="0" blurRad="63500" dist="25400" dir="5400000">
              <a:srgbClr val="13253F">
                <a:alpha val="15000"/>
              </a:srgbClr>
            </a:outerShdw>
          </a:effectLst>
        </p:spPr>
      </p:sp>
      <p:sp>
        <p:nvSpPr>
          <p:cNvPr id="12" name="Shape 9"/>
          <p:cNvSpPr/>
          <p:nvPr/>
        </p:nvSpPr>
        <p:spPr>
          <a:xfrm>
            <a:off x="3415284" y="2450592"/>
            <a:ext cx="585216" cy="585216"/>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13" name="Image 1" descr="/home/claude/dbms_pptx/icons/search_white.png">    </p:cNvPr>
          <p:cNvPicPr>
            <a:picLocks noChangeAspect="1"/>
          </p:cNvPicPr>
          <p:nvPr/>
        </p:nvPicPr>
        <p:blipFill>
          <a:blip r:embed="rId2"/>
          <a:stretch>
            <a:fillRect/>
          </a:stretch>
        </p:blipFill>
        <p:spPr>
          <a:xfrm>
            <a:off x="3567440" y="2602748"/>
            <a:ext cx="280904" cy="280904"/>
          </a:xfrm>
          <a:prstGeom prst="rect">
            <a:avLst/>
          </a:prstGeom>
        </p:spPr>
      </p:pic>
      <p:sp>
        <p:nvSpPr>
          <p:cNvPr id="14" name="Text 10"/>
          <p:cNvSpPr/>
          <p:nvPr/>
        </p:nvSpPr>
        <p:spPr>
          <a:xfrm>
            <a:off x="2798064" y="3127248"/>
            <a:ext cx="1819656" cy="457200"/>
          </a:xfrm>
          <a:prstGeom prst="rect">
            <a:avLst/>
          </a:prstGeom>
          <a:noFill/>
          <a:ln/>
        </p:spPr>
        <p:txBody>
          <a:bodyPr wrap="square" rtlCol="0" anchor="t"/>
          <a:lstStyle/>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Check Product</a:t>
            </a:r>
            <a:endParaRPr lang="en-US" sz="1050" dirty="0"/>
          </a:p>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Availability</a:t>
            </a:r>
            <a:endParaRPr lang="en-US" sz="1050" dirty="0"/>
          </a:p>
        </p:txBody>
      </p:sp>
      <p:sp>
        <p:nvSpPr>
          <p:cNvPr id="15" name="Shape 11"/>
          <p:cNvSpPr/>
          <p:nvPr/>
        </p:nvSpPr>
        <p:spPr>
          <a:xfrm>
            <a:off x="2779776" y="2267712"/>
            <a:ext cx="292608" cy="292608"/>
          </a:xfrm>
          <a:prstGeom prst="ellipse">
            <a:avLst/>
          </a:prstGeom>
          <a:solidFill>
            <a:srgbClr val="C9861B"/>
          </a:solidFill>
          <a:ln/>
        </p:spPr>
      </p:sp>
      <p:sp>
        <p:nvSpPr>
          <p:cNvPr id="16" name="Text 12"/>
          <p:cNvSpPr/>
          <p:nvPr/>
        </p:nvSpPr>
        <p:spPr>
          <a:xfrm>
            <a:off x="2779776"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Shape 13"/>
          <p:cNvSpPr/>
          <p:nvPr/>
        </p:nvSpPr>
        <p:spPr>
          <a:xfrm>
            <a:off x="4709160" y="2871216"/>
            <a:ext cx="219456" cy="201168"/>
          </a:xfrm>
          <a:prstGeom prst="rightArrow">
            <a:avLst/>
          </a:prstGeom>
          <a:solidFill>
            <a:srgbClr val="1E5AA8"/>
          </a:solidFill>
          <a:ln/>
        </p:spPr>
      </p:sp>
      <p:sp>
        <p:nvSpPr>
          <p:cNvPr id="18" name="Shape 14"/>
          <p:cNvSpPr/>
          <p:nvPr/>
        </p:nvSpPr>
        <p:spPr>
          <a:xfrm>
            <a:off x="4946904" y="2286000"/>
            <a:ext cx="1965960" cy="1371600"/>
          </a:xfrm>
          <a:prstGeom prst="roundRect">
            <a:avLst>
              <a:gd name="adj" fmla="val 5333"/>
            </a:avLst>
          </a:prstGeom>
          <a:solidFill>
            <a:srgbClr val="EAF2FB"/>
          </a:solidFill>
          <a:ln/>
          <a:effectLst>
            <a:outerShdw sx="100000" sy="100000" kx="0" ky="0" algn="bl" rotWithShape="0" blurRad="63500" dist="25400" dir="5400000">
              <a:srgbClr val="13253F">
                <a:alpha val="15000"/>
              </a:srgbClr>
            </a:outerShdw>
          </a:effectLst>
        </p:spPr>
      </p:sp>
      <p:sp>
        <p:nvSpPr>
          <p:cNvPr id="19" name="Shape 15"/>
          <p:cNvSpPr/>
          <p:nvPr/>
        </p:nvSpPr>
        <p:spPr>
          <a:xfrm>
            <a:off x="5637276" y="2450592"/>
            <a:ext cx="585216" cy="585216"/>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0" name="Image 2" descr="/home/claude/dbms_pptx/icons/boxes_white.png">    </p:cNvPr>
          <p:cNvPicPr>
            <a:picLocks noChangeAspect="1"/>
          </p:cNvPicPr>
          <p:nvPr/>
        </p:nvPicPr>
        <p:blipFill>
          <a:blip r:embed="rId3"/>
          <a:stretch>
            <a:fillRect/>
          </a:stretch>
        </p:blipFill>
        <p:spPr>
          <a:xfrm>
            <a:off x="5789432" y="2602748"/>
            <a:ext cx="280904" cy="280904"/>
          </a:xfrm>
          <a:prstGeom prst="rect">
            <a:avLst/>
          </a:prstGeom>
        </p:spPr>
      </p:pic>
      <p:sp>
        <p:nvSpPr>
          <p:cNvPr id="21" name="Text 16"/>
          <p:cNvSpPr/>
          <p:nvPr/>
        </p:nvSpPr>
        <p:spPr>
          <a:xfrm>
            <a:off x="5020056" y="3127248"/>
            <a:ext cx="1819656" cy="457200"/>
          </a:xfrm>
          <a:prstGeom prst="rect">
            <a:avLst/>
          </a:prstGeom>
          <a:noFill/>
          <a:ln/>
        </p:spPr>
        <p:txBody>
          <a:bodyPr wrap="square" rtlCol="0" anchor="t"/>
          <a:lstStyle/>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Reserve Stock &amp;</a:t>
            </a:r>
            <a:endParaRPr lang="en-US" sz="1050" dirty="0"/>
          </a:p>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Update Inventory</a:t>
            </a:r>
            <a:endParaRPr lang="en-US" sz="1050" dirty="0"/>
          </a:p>
        </p:txBody>
      </p:sp>
      <p:sp>
        <p:nvSpPr>
          <p:cNvPr id="22" name="Shape 17"/>
          <p:cNvSpPr/>
          <p:nvPr/>
        </p:nvSpPr>
        <p:spPr>
          <a:xfrm>
            <a:off x="5001768" y="2267712"/>
            <a:ext cx="292608" cy="292608"/>
          </a:xfrm>
          <a:prstGeom prst="ellipse">
            <a:avLst/>
          </a:prstGeom>
          <a:solidFill>
            <a:srgbClr val="C9861B"/>
          </a:solidFill>
          <a:ln/>
        </p:spPr>
      </p:sp>
      <p:sp>
        <p:nvSpPr>
          <p:cNvPr id="23" name="Text 18"/>
          <p:cNvSpPr/>
          <p:nvPr/>
        </p:nvSpPr>
        <p:spPr>
          <a:xfrm>
            <a:off x="5001768"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Shape 19"/>
          <p:cNvSpPr/>
          <p:nvPr/>
        </p:nvSpPr>
        <p:spPr>
          <a:xfrm>
            <a:off x="6931152" y="2871216"/>
            <a:ext cx="219456" cy="201168"/>
          </a:xfrm>
          <a:prstGeom prst="rightArrow">
            <a:avLst/>
          </a:prstGeom>
          <a:solidFill>
            <a:srgbClr val="1E5AA8"/>
          </a:solidFill>
          <a:ln/>
        </p:spPr>
      </p:sp>
      <p:sp>
        <p:nvSpPr>
          <p:cNvPr id="25" name="Shape 20"/>
          <p:cNvSpPr/>
          <p:nvPr/>
        </p:nvSpPr>
        <p:spPr>
          <a:xfrm>
            <a:off x="7168896" y="2286000"/>
            <a:ext cx="1965960" cy="1371600"/>
          </a:xfrm>
          <a:prstGeom prst="roundRect">
            <a:avLst>
              <a:gd name="adj" fmla="val 5333"/>
            </a:avLst>
          </a:prstGeom>
          <a:solidFill>
            <a:srgbClr val="EAF2FB"/>
          </a:solidFill>
          <a:ln/>
          <a:effectLst>
            <a:outerShdw sx="100000" sy="100000" kx="0" ky="0" algn="bl" rotWithShape="0" blurRad="63500" dist="25400" dir="5400000">
              <a:srgbClr val="13253F">
                <a:alpha val="15000"/>
              </a:srgbClr>
            </a:outerShdw>
          </a:effectLst>
        </p:spPr>
      </p:sp>
      <p:sp>
        <p:nvSpPr>
          <p:cNvPr id="26" name="Shape 21"/>
          <p:cNvSpPr/>
          <p:nvPr/>
        </p:nvSpPr>
        <p:spPr>
          <a:xfrm>
            <a:off x="7859268" y="2450592"/>
            <a:ext cx="585216" cy="585216"/>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27" name="Image 3" descr="/home/claude/dbms_pptx/icons/truck_white.png">    </p:cNvPr>
          <p:cNvPicPr>
            <a:picLocks noChangeAspect="1"/>
          </p:cNvPicPr>
          <p:nvPr/>
        </p:nvPicPr>
        <p:blipFill>
          <a:blip r:embed="rId4"/>
          <a:stretch>
            <a:fillRect/>
          </a:stretch>
        </p:blipFill>
        <p:spPr>
          <a:xfrm>
            <a:off x="8011424" y="2602748"/>
            <a:ext cx="280904" cy="280904"/>
          </a:xfrm>
          <a:prstGeom prst="rect">
            <a:avLst/>
          </a:prstGeom>
        </p:spPr>
      </p:pic>
      <p:sp>
        <p:nvSpPr>
          <p:cNvPr id="28" name="Text 22"/>
          <p:cNvSpPr/>
          <p:nvPr/>
        </p:nvSpPr>
        <p:spPr>
          <a:xfrm>
            <a:off x="7242048" y="3127248"/>
            <a:ext cx="1819656" cy="457200"/>
          </a:xfrm>
          <a:prstGeom prst="rect">
            <a:avLst/>
          </a:prstGeom>
          <a:noFill/>
          <a:ln/>
        </p:spPr>
        <p:txBody>
          <a:bodyPr wrap="square" rtlCol="0" anchor="t"/>
          <a:lstStyle/>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Notify Supplier</a:t>
            </a:r>
            <a:endParaRPr lang="en-US" sz="1050" dirty="0"/>
          </a:p>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if Low Stock</a:t>
            </a:r>
            <a:endParaRPr lang="en-US" sz="1050" dirty="0"/>
          </a:p>
        </p:txBody>
      </p:sp>
      <p:sp>
        <p:nvSpPr>
          <p:cNvPr id="29" name="Shape 23"/>
          <p:cNvSpPr/>
          <p:nvPr/>
        </p:nvSpPr>
        <p:spPr>
          <a:xfrm>
            <a:off x="7223760" y="2267712"/>
            <a:ext cx="292608" cy="292608"/>
          </a:xfrm>
          <a:prstGeom prst="ellipse">
            <a:avLst/>
          </a:prstGeom>
          <a:solidFill>
            <a:srgbClr val="C9861B"/>
          </a:solidFill>
          <a:ln/>
        </p:spPr>
      </p:sp>
      <p:sp>
        <p:nvSpPr>
          <p:cNvPr id="30" name="Text 24"/>
          <p:cNvSpPr/>
          <p:nvPr/>
        </p:nvSpPr>
        <p:spPr>
          <a:xfrm>
            <a:off x="7223760"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Shape 25"/>
          <p:cNvSpPr/>
          <p:nvPr/>
        </p:nvSpPr>
        <p:spPr>
          <a:xfrm>
            <a:off x="9153144" y="2871216"/>
            <a:ext cx="219456" cy="201168"/>
          </a:xfrm>
          <a:prstGeom prst="rightArrow">
            <a:avLst/>
          </a:prstGeom>
          <a:solidFill>
            <a:srgbClr val="1E5AA8"/>
          </a:solidFill>
          <a:ln/>
        </p:spPr>
      </p:sp>
      <p:sp>
        <p:nvSpPr>
          <p:cNvPr id="32" name="Shape 26"/>
          <p:cNvSpPr/>
          <p:nvPr/>
        </p:nvSpPr>
        <p:spPr>
          <a:xfrm>
            <a:off x="9390888" y="2286000"/>
            <a:ext cx="1965960" cy="1371600"/>
          </a:xfrm>
          <a:prstGeom prst="roundRect">
            <a:avLst>
              <a:gd name="adj" fmla="val 5333"/>
            </a:avLst>
          </a:prstGeom>
          <a:solidFill>
            <a:srgbClr val="EAF2FB"/>
          </a:solidFill>
          <a:ln/>
          <a:effectLst>
            <a:outerShdw sx="100000" sy="100000" kx="0" ky="0" algn="bl" rotWithShape="0" blurRad="63500" dist="25400" dir="5400000">
              <a:srgbClr val="13253F">
                <a:alpha val="15000"/>
              </a:srgbClr>
            </a:outerShdw>
          </a:effectLst>
        </p:spPr>
      </p:sp>
      <p:sp>
        <p:nvSpPr>
          <p:cNvPr id="33" name="Shape 27"/>
          <p:cNvSpPr/>
          <p:nvPr/>
        </p:nvSpPr>
        <p:spPr>
          <a:xfrm>
            <a:off x="10081260" y="2450592"/>
            <a:ext cx="585216" cy="585216"/>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34" name="Image 4" descr="/home/claude/dbms_pptx/icons/clipcheck_white.png">    </p:cNvPr>
          <p:cNvPicPr>
            <a:picLocks noChangeAspect="1"/>
          </p:cNvPicPr>
          <p:nvPr/>
        </p:nvPicPr>
        <p:blipFill>
          <a:blip r:embed="rId5"/>
          <a:stretch>
            <a:fillRect/>
          </a:stretch>
        </p:blipFill>
        <p:spPr>
          <a:xfrm>
            <a:off x="10233416" y="2602748"/>
            <a:ext cx="280904" cy="280904"/>
          </a:xfrm>
          <a:prstGeom prst="rect">
            <a:avLst/>
          </a:prstGeom>
        </p:spPr>
      </p:pic>
      <p:sp>
        <p:nvSpPr>
          <p:cNvPr id="35" name="Text 28"/>
          <p:cNvSpPr/>
          <p:nvPr/>
        </p:nvSpPr>
        <p:spPr>
          <a:xfrm>
            <a:off x="9464040" y="3127248"/>
            <a:ext cx="1819656" cy="457200"/>
          </a:xfrm>
          <a:prstGeom prst="rect">
            <a:avLst/>
          </a:prstGeom>
          <a:noFill/>
          <a:ln/>
        </p:spPr>
        <p:txBody>
          <a:bodyPr wrap="square" rtlCol="0" anchor="t"/>
          <a:lstStyle/>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Fulfill &amp;</a:t>
            </a:r>
            <a:endParaRPr lang="en-US" sz="1050" dirty="0"/>
          </a:p>
          <a:p>
            <a:pPr algn="ctr" indent="0" marL="0">
              <a:lnSpc>
                <a:spcPct val="105000"/>
              </a:lnSpc>
              <a:buNone/>
            </a:pPr>
            <a:r>
              <a:rPr lang="en-US" sz="1050" b="1" dirty="0">
                <a:solidFill>
                  <a:srgbClr val="0B2545"/>
                </a:solidFill>
                <a:latin typeface="Calibri" pitchFamily="34" charset="0"/>
                <a:ea typeface="Calibri" pitchFamily="34" charset="-122"/>
                <a:cs typeface="Calibri" pitchFamily="34" charset="-120"/>
              </a:rPr>
              <a:t>Ship Order</a:t>
            </a:r>
            <a:endParaRPr lang="en-US" sz="1050" dirty="0"/>
          </a:p>
        </p:txBody>
      </p:sp>
      <p:sp>
        <p:nvSpPr>
          <p:cNvPr id="36" name="Shape 29"/>
          <p:cNvSpPr/>
          <p:nvPr/>
        </p:nvSpPr>
        <p:spPr>
          <a:xfrm>
            <a:off x="9445752" y="2267712"/>
            <a:ext cx="292608" cy="292608"/>
          </a:xfrm>
          <a:prstGeom prst="ellipse">
            <a:avLst/>
          </a:prstGeom>
          <a:solidFill>
            <a:srgbClr val="C9861B"/>
          </a:solidFill>
          <a:ln/>
        </p:spPr>
      </p:sp>
      <p:sp>
        <p:nvSpPr>
          <p:cNvPr id="37" name="Text 30"/>
          <p:cNvSpPr/>
          <p:nvPr/>
        </p:nvSpPr>
        <p:spPr>
          <a:xfrm>
            <a:off x="944575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1"/>
          <p:cNvSpPr/>
          <p:nvPr/>
        </p:nvSpPr>
        <p:spPr>
          <a:xfrm>
            <a:off x="502920" y="4160520"/>
            <a:ext cx="11155680" cy="1737360"/>
          </a:xfrm>
          <a:prstGeom prst="rect">
            <a:avLst/>
          </a:prstGeom>
          <a:noFill/>
          <a:ln/>
        </p:spPr>
        <p:txBody>
          <a:bodyPr wrap="square" rtlCol="0" anchor="t"/>
          <a:lstStyle/>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Order table links Customer, Store, and individual Product line items (OrderItem is a weak entity dependent on Order).</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Inventory Management continuously tracks StockQty per product per store and triggers supplier reorders below a threshold.</a:t>
            </a:r>
            <a:endParaRPr lang="en-US" sz="1250" dirty="0"/>
          </a:p>
          <a:p>
            <a:pPr marL="228600" indent="-228600">
              <a:lnSpc>
                <a:spcPct val="108000"/>
              </a:lnSpc>
              <a:spcAft>
                <a:spcPts val="800"/>
              </a:spcAft>
              <a:buSzPct val="100000"/>
              <a:buChar char="▪"/>
            </a:pPr>
            <a:r>
              <a:rPr lang="en-US" sz="1250" dirty="0">
                <a:solidFill>
                  <a:srgbClr val="13253F"/>
                </a:solidFill>
                <a:latin typeface="Calibri" pitchFamily="34" charset="0"/>
                <a:ea typeface="Calibri" pitchFamily="34" charset="-122"/>
                <a:cs typeface="Calibri" pitchFamily="34" charset="-120"/>
              </a:rPr>
              <a:t>Transaction management (Module 8) ensures stock deduction and order confirmation happen atomically.</a:t>
            </a:r>
            <a:endParaRPr lang="en-US" sz="1250" dirty="0"/>
          </a:p>
        </p:txBody>
      </p:sp>
      <p:sp>
        <p:nvSpPr>
          <p:cNvPr id="39" name="Text 32"/>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10  ·  Retail Chain Management System</a:t>
            </a:r>
            <a:endParaRPr lang="en-US" sz="950" dirty="0"/>
          </a:p>
        </p:txBody>
      </p:sp>
      <p:sp>
        <p:nvSpPr>
          <p:cNvPr id="40" name="Text 33"/>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48</a:t>
            </a:r>
            <a:endParaRPr lang="en-US" sz="950" dirty="0"/>
          </a:p>
        </p:txBody>
      </p:sp>
      <p:sp>
        <p:nvSpPr>
          <p:cNvPr id="41" name="Shape 34"/>
          <p:cNvSpPr/>
          <p:nvPr/>
        </p:nvSpPr>
        <p:spPr>
          <a:xfrm>
            <a:off x="502920" y="6473952"/>
            <a:ext cx="11185855" cy="10973"/>
          </a:xfrm>
          <a:prstGeom prst="rect">
            <a:avLst/>
          </a:prstGeom>
          <a:solidFill>
            <a:srgbClr val="D4E4F7"/>
          </a:solidFill>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10  ·  RETAIL CHAIN MANAGEMENT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Billing System</a:t>
            </a:r>
            <a:endParaRPr lang="en-US" sz="3000" dirty="0"/>
          </a:p>
        </p:txBody>
      </p:sp>
      <p:sp>
        <p:nvSpPr>
          <p:cNvPr id="4" name="Shape 2"/>
          <p:cNvSpPr/>
          <p:nvPr/>
        </p:nvSpPr>
        <p:spPr>
          <a:xfrm>
            <a:off x="7589520" y="1828800"/>
            <a:ext cx="1920240" cy="502920"/>
          </a:xfrm>
          <a:prstGeom prst="rect">
            <a:avLst/>
          </a:prstGeom>
          <a:solidFill>
            <a:srgbClr val="FFF3E0"/>
          </a:solidFill>
          <a:ln w="25400">
            <a:solidFill>
              <a:srgbClr val="C9861B"/>
            </a:solidFill>
            <a:prstDash val="solid"/>
          </a:ln>
          <a:effectLst>
            <a:outerShdw sx="100000" sy="100000" kx="0" ky="0" algn="bl" rotWithShape="0" blurRad="50800" dist="12700" dir="5400000">
              <a:srgbClr val="13253F">
                <a:alpha val="12000"/>
              </a:srgbClr>
            </a:outerShdw>
          </a:effectLst>
        </p:spPr>
      </p:sp>
      <p:sp>
        <p:nvSpPr>
          <p:cNvPr id="5" name="Shape 3"/>
          <p:cNvSpPr/>
          <p:nvPr/>
        </p:nvSpPr>
        <p:spPr>
          <a:xfrm>
            <a:off x="7644384" y="1883664"/>
            <a:ext cx="1810512" cy="393192"/>
          </a:xfrm>
          <a:prstGeom prst="rect">
            <a:avLst/>
          </a:prstGeom>
          <a:ln w="15875">
            <a:solidFill>
              <a:srgbClr val="C9861B"/>
            </a:solidFill>
            <a:prstDash val="solid"/>
          </a:ln>
        </p:spPr>
      </p:sp>
      <p:sp>
        <p:nvSpPr>
          <p:cNvPr id="6" name="Text 4"/>
          <p:cNvSpPr/>
          <p:nvPr/>
        </p:nvSpPr>
        <p:spPr>
          <a:xfrm>
            <a:off x="7589520" y="1828800"/>
            <a:ext cx="192024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Order</a:t>
            </a:r>
            <a:endParaRPr lang="en-US" sz="1100" dirty="0"/>
          </a:p>
        </p:txBody>
      </p:sp>
      <p:sp>
        <p:nvSpPr>
          <p:cNvPr id="7" name="Shape 5"/>
          <p:cNvSpPr/>
          <p:nvPr/>
        </p:nvSpPr>
        <p:spPr>
          <a:xfrm>
            <a:off x="8549640" y="2331720"/>
            <a:ext cx="9144" cy="411480"/>
          </a:xfrm>
          <a:prstGeom prst="line">
            <a:avLst/>
          </a:prstGeom>
          <a:noFill/>
          <a:ln w="19050">
            <a:solidFill>
              <a:srgbClr val="4C6076"/>
            </a:solidFill>
            <a:prstDash val="solid"/>
          </a:ln>
        </p:spPr>
      </p:sp>
      <p:sp>
        <p:nvSpPr>
          <p:cNvPr id="8" name="Shape 6"/>
          <p:cNvSpPr/>
          <p:nvPr/>
        </p:nvSpPr>
        <p:spPr>
          <a:xfrm>
            <a:off x="7589520" y="2743200"/>
            <a:ext cx="192024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9" name="Text 7"/>
          <p:cNvSpPr/>
          <p:nvPr/>
        </p:nvSpPr>
        <p:spPr>
          <a:xfrm>
            <a:off x="7589520" y="2743200"/>
            <a:ext cx="192024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Invoice</a:t>
            </a:r>
            <a:endParaRPr lang="en-US" sz="1100" dirty="0"/>
          </a:p>
        </p:txBody>
      </p:sp>
      <p:sp>
        <p:nvSpPr>
          <p:cNvPr id="10" name="Shape 8"/>
          <p:cNvSpPr/>
          <p:nvPr/>
        </p:nvSpPr>
        <p:spPr>
          <a:xfrm>
            <a:off x="8549640" y="3246120"/>
            <a:ext cx="9144" cy="411480"/>
          </a:xfrm>
          <a:prstGeom prst="line">
            <a:avLst/>
          </a:prstGeom>
          <a:noFill/>
          <a:ln w="19050">
            <a:solidFill>
              <a:srgbClr val="4C6076"/>
            </a:solidFill>
            <a:prstDash val="solid"/>
          </a:ln>
        </p:spPr>
      </p:sp>
      <p:sp>
        <p:nvSpPr>
          <p:cNvPr id="11" name="Shape 9"/>
          <p:cNvSpPr/>
          <p:nvPr/>
        </p:nvSpPr>
        <p:spPr>
          <a:xfrm>
            <a:off x="7589520" y="3657600"/>
            <a:ext cx="1920240" cy="502920"/>
          </a:xfrm>
          <a:prstGeom prst="rect">
            <a:avLst/>
          </a:prstGeom>
          <a:solidFill>
            <a:srgbClr val="EAF2FB"/>
          </a:solidFill>
          <a:ln w="25400">
            <a:solidFill>
              <a:srgbClr val="1E5AA8"/>
            </a:solidFill>
            <a:prstDash val="solid"/>
          </a:ln>
          <a:effectLst>
            <a:outerShdw sx="100000" sy="100000" kx="0" ky="0" algn="bl" rotWithShape="0" blurRad="50800" dist="12700" dir="5400000">
              <a:srgbClr val="13253F">
                <a:alpha val="12000"/>
              </a:srgbClr>
            </a:outerShdw>
          </a:effectLst>
        </p:spPr>
      </p:sp>
      <p:sp>
        <p:nvSpPr>
          <p:cNvPr id="12" name="Text 10"/>
          <p:cNvSpPr/>
          <p:nvPr/>
        </p:nvSpPr>
        <p:spPr>
          <a:xfrm>
            <a:off x="7589520" y="3657600"/>
            <a:ext cx="1920240" cy="502920"/>
          </a:xfrm>
          <a:prstGeom prst="rect">
            <a:avLst/>
          </a:prstGeom>
          <a:noFill/>
          <a:ln/>
        </p:spPr>
        <p:txBody>
          <a:bodyPr wrap="square"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Payment</a:t>
            </a:r>
            <a:endParaRPr lang="en-US" sz="1100" dirty="0"/>
          </a:p>
        </p:txBody>
      </p:sp>
      <p:sp>
        <p:nvSpPr>
          <p:cNvPr id="13" name="Text 11"/>
          <p:cNvSpPr/>
          <p:nvPr/>
        </p:nvSpPr>
        <p:spPr>
          <a:xfrm>
            <a:off x="6903720" y="4251960"/>
            <a:ext cx="3291840" cy="594360"/>
          </a:xfrm>
          <a:prstGeom prst="rect">
            <a:avLst/>
          </a:prstGeom>
          <a:noFill/>
          <a:ln/>
        </p:spPr>
        <p:txBody>
          <a:bodyPr wrap="square" rtlCol="0" anchor="ctr"/>
          <a:lstStyle/>
          <a:p>
            <a:pPr algn="ctr" indent="0" marL="0">
              <a:lnSpc>
                <a:spcPct val="110000"/>
              </a:lnSpc>
              <a:buNone/>
            </a:pPr>
            <a:r>
              <a:rPr lang="en-US" sz="950" i="1" dirty="0">
                <a:solidFill>
                  <a:srgbClr val="4C6076"/>
                </a:solidFill>
                <a:latin typeface="Calibri" pitchFamily="34" charset="0"/>
                <a:ea typeface="Calibri" pitchFamily="34" charset="-122"/>
                <a:cs typeface="Calibri" pitchFamily="34" charset="-120"/>
              </a:rPr>
              <a:t>InvoiceID (PK), OrderID (FK), Amount, Tax, Date</a:t>
            </a:r>
            <a:endParaRPr lang="en-US" sz="950" dirty="0"/>
          </a:p>
        </p:txBody>
      </p:sp>
      <p:sp>
        <p:nvSpPr>
          <p:cNvPr id="14" name="Text 12"/>
          <p:cNvSpPr/>
          <p:nvPr/>
        </p:nvSpPr>
        <p:spPr>
          <a:xfrm>
            <a:off x="502920" y="1737360"/>
            <a:ext cx="6400800" cy="4206240"/>
          </a:xfrm>
          <a:prstGeom prst="rect">
            <a:avLst/>
          </a:prstGeom>
          <a:noFill/>
          <a:ln/>
        </p:spPr>
        <p:txBody>
          <a:bodyPr wrap="square" rtlCol="0" anchor="t"/>
          <a:lstStyle/>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Invoice is generated from a confirmed Order, calculating item totals, applicable tax, and any discounts.</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Payment records the transaction method (card, cash, wallet) and settlement status against the Invoice.</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Supports partial payments, refunds, and multi-store consolidated billing for corporate customers.</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Billing data feeds financial reporting and integrates with the Transaction Manager for consistency.</a:t>
            </a:r>
            <a:endParaRPr lang="en-US" sz="1300" dirty="0"/>
          </a:p>
          <a:p>
            <a:pPr marL="228600" indent="-228600">
              <a:lnSpc>
                <a:spcPct val="108000"/>
              </a:lnSpc>
              <a:spcAft>
                <a:spcPts val="900"/>
              </a:spcAft>
              <a:buSzPct val="100000"/>
              <a:buChar char="▪"/>
            </a:pPr>
            <a:r>
              <a:rPr lang="en-US" sz="1300" dirty="0">
                <a:solidFill>
                  <a:srgbClr val="13253F"/>
                </a:solidFill>
                <a:latin typeface="Calibri" pitchFamily="34" charset="0"/>
                <a:ea typeface="Calibri" pitchFamily="34" charset="-122"/>
                <a:cs typeface="Calibri" pitchFamily="34" charset="-120"/>
              </a:rPr>
              <a:t>Loyalty points (on Customer) can be accrued or redeemed automatically during billing.</a:t>
            </a:r>
            <a:endParaRPr lang="en-US" sz="1300" dirty="0"/>
          </a:p>
        </p:txBody>
      </p:sp>
      <p:sp>
        <p:nvSpPr>
          <p:cNvPr id="15" name="Text 13"/>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10  ·  Retail Chain Management System</a:t>
            </a:r>
            <a:endParaRPr lang="en-US" sz="950" dirty="0"/>
          </a:p>
        </p:txBody>
      </p:sp>
      <p:sp>
        <p:nvSpPr>
          <p:cNvPr id="16" name="Text 14"/>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49</a:t>
            </a:r>
            <a:endParaRPr lang="en-US" sz="950" dirty="0"/>
          </a:p>
        </p:txBody>
      </p:sp>
      <p:sp>
        <p:nvSpPr>
          <p:cNvPr id="17" name="Shape 15"/>
          <p:cNvSpPr/>
          <p:nvPr/>
        </p:nvSpPr>
        <p:spPr>
          <a:xfrm>
            <a:off x="502920" y="6473952"/>
            <a:ext cx="11185855" cy="10973"/>
          </a:xfrm>
          <a:prstGeom prst="rect">
            <a:avLst/>
          </a:prstGeom>
          <a:solidFill>
            <a:srgbClr val="D4E4F7"/>
          </a:solidFill>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9144000" cy="292608"/>
          </a:xfrm>
          <a:prstGeom prst="rect">
            <a:avLst/>
          </a:prstGeom>
          <a:noFill/>
          <a:ln/>
        </p:spPr>
        <p:txBody>
          <a:bodyPr wrap="square" rtlCol="0" anchor="ctr"/>
          <a:lstStyle/>
          <a:p>
            <a:pPr indent="0" marL="0">
              <a:buNone/>
            </a:pPr>
            <a:r>
              <a:rPr lang="en-US" sz="1250" b="1" spc="150" kern="0" dirty="0">
                <a:solidFill>
                  <a:srgbClr val="1E5AA8"/>
                </a:solidFill>
                <a:latin typeface="Calibri" pitchFamily="34" charset="0"/>
                <a:ea typeface="Calibri" pitchFamily="34" charset="-122"/>
                <a:cs typeface="Calibri" pitchFamily="34" charset="-120"/>
              </a:rPr>
              <a:t>MODULE 10  ·  RETAIL CHAIN MANAGEMENT SYSTEM</a:t>
            </a:r>
            <a:endParaRPr lang="en-US" sz="1250" dirty="0"/>
          </a:p>
        </p:txBody>
      </p:sp>
      <p:sp>
        <p:nvSpPr>
          <p:cNvPr id="3" name="Text 1"/>
          <p:cNvSpPr/>
          <p:nvPr/>
        </p:nvSpPr>
        <p:spPr>
          <a:xfrm>
            <a:off x="502920" y="621792"/>
            <a:ext cx="10881360" cy="777240"/>
          </a:xfrm>
          <a:prstGeom prst="rect">
            <a:avLst/>
          </a:prstGeom>
          <a:noFill/>
          <a:ln/>
        </p:spPr>
        <p:txBody>
          <a:bodyPr wrap="square" rtlCol="0" anchor="t"/>
          <a:lstStyle/>
          <a:p>
            <a:pPr indent="0" marL="0">
              <a:buNone/>
            </a:pPr>
            <a:r>
              <a:rPr lang="en-US" sz="3000" b="1" dirty="0">
                <a:solidFill>
                  <a:srgbClr val="0B2545"/>
                </a:solidFill>
                <a:latin typeface="Cambria" pitchFamily="34" charset="0"/>
                <a:ea typeface="Cambria" pitchFamily="34" charset="-122"/>
                <a:cs typeface="Cambria" pitchFamily="34" charset="-120"/>
              </a:rPr>
              <a:t>Final System Architecture</a:t>
            </a:r>
            <a:endParaRPr lang="en-US" sz="3000" dirty="0"/>
          </a:p>
        </p:txBody>
      </p:sp>
      <p:sp>
        <p:nvSpPr>
          <p:cNvPr id="4" name="Shape 2"/>
          <p:cNvSpPr/>
          <p:nvPr/>
        </p:nvSpPr>
        <p:spPr>
          <a:xfrm>
            <a:off x="4206240" y="1600200"/>
            <a:ext cx="3749040" cy="530352"/>
          </a:xfrm>
          <a:prstGeom prst="roundRect">
            <a:avLst>
              <a:gd name="adj" fmla="val 13793"/>
            </a:avLst>
          </a:prstGeom>
          <a:solidFill>
            <a:srgbClr val="5B9BD5"/>
          </a:solidFill>
          <a:ln/>
          <a:effectLst>
            <a:outerShdw sx="100000" sy="100000" kx="0" ky="0" algn="bl" rotWithShape="0" blurRad="63500" dist="25400" dir="5400000">
              <a:srgbClr val="13253F">
                <a:alpha val="15000"/>
              </a:srgbClr>
            </a:outerShdw>
          </a:effectLst>
        </p:spPr>
      </p:sp>
      <p:sp>
        <p:nvSpPr>
          <p:cNvPr id="5" name="Text 3"/>
          <p:cNvSpPr/>
          <p:nvPr/>
        </p:nvSpPr>
        <p:spPr>
          <a:xfrm>
            <a:off x="4251960" y="1600200"/>
            <a:ext cx="3657600" cy="530352"/>
          </a:xfrm>
          <a:prstGeom prst="rect">
            <a:avLst/>
          </a:prstGeom>
          <a:noFill/>
          <a:ln/>
        </p:spPr>
        <p:txBody>
          <a:bodyPr wrap="square" rtlCol="0" anchor="ctr"/>
          <a:lstStyle/>
          <a:p>
            <a:pPr algn="ctr" indent="0" marL="0">
              <a:lnSpc>
                <a:spcPct val="100000"/>
              </a:lnSpc>
              <a:buNone/>
            </a:pPr>
            <a:r>
              <a:rPr lang="en-US" sz="1100" b="1" dirty="0">
                <a:solidFill>
                  <a:srgbClr val="0B2545"/>
                </a:solidFill>
                <a:latin typeface="Calibri" pitchFamily="34" charset="0"/>
                <a:ea typeface="Calibri" pitchFamily="34" charset="-122"/>
                <a:cs typeface="Calibri" pitchFamily="34" charset="-120"/>
              </a:rPr>
              <a:t>Presentation Layer  (Web / POS / Mobile App)</a:t>
            </a:r>
            <a:endParaRPr lang="en-US" sz="1100" dirty="0"/>
          </a:p>
        </p:txBody>
      </p:sp>
      <p:sp>
        <p:nvSpPr>
          <p:cNvPr id="6" name="Shape 4"/>
          <p:cNvSpPr/>
          <p:nvPr/>
        </p:nvSpPr>
        <p:spPr>
          <a:xfrm>
            <a:off x="5980176" y="2194560"/>
            <a:ext cx="201168" cy="219456"/>
          </a:xfrm>
          <a:prstGeom prst="downArrow">
            <a:avLst/>
          </a:prstGeom>
          <a:solidFill>
            <a:srgbClr val="1E5AA8"/>
          </a:solidFill>
          <a:ln/>
        </p:spPr>
      </p:sp>
      <p:sp>
        <p:nvSpPr>
          <p:cNvPr id="7" name="Shape 5"/>
          <p:cNvSpPr/>
          <p:nvPr/>
        </p:nvSpPr>
        <p:spPr>
          <a:xfrm>
            <a:off x="4206240" y="2487168"/>
            <a:ext cx="3749040" cy="530352"/>
          </a:xfrm>
          <a:prstGeom prst="roundRect">
            <a:avLst>
              <a:gd name="adj" fmla="val 13793"/>
            </a:avLst>
          </a:prstGeom>
          <a:solidFill>
            <a:srgbClr val="1E5AA8"/>
          </a:solidFill>
          <a:ln/>
          <a:effectLst>
            <a:outerShdw sx="100000" sy="100000" kx="0" ky="0" algn="bl" rotWithShape="0" blurRad="63500" dist="25400" dir="5400000">
              <a:srgbClr val="13253F">
                <a:alpha val="15000"/>
              </a:srgbClr>
            </a:outerShdw>
          </a:effectLst>
        </p:spPr>
      </p:sp>
      <p:sp>
        <p:nvSpPr>
          <p:cNvPr id="8" name="Text 6"/>
          <p:cNvSpPr/>
          <p:nvPr/>
        </p:nvSpPr>
        <p:spPr>
          <a:xfrm>
            <a:off x="4251960" y="2487168"/>
            <a:ext cx="3657600" cy="530352"/>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Application Layer  (Order, Billing, Inventory Logic)</a:t>
            </a:r>
            <a:endParaRPr lang="en-US" sz="1050" dirty="0"/>
          </a:p>
        </p:txBody>
      </p:sp>
      <p:sp>
        <p:nvSpPr>
          <p:cNvPr id="9" name="Shape 7"/>
          <p:cNvSpPr/>
          <p:nvPr/>
        </p:nvSpPr>
        <p:spPr>
          <a:xfrm>
            <a:off x="5980176" y="3081528"/>
            <a:ext cx="201168" cy="219456"/>
          </a:xfrm>
          <a:prstGeom prst="downArrow">
            <a:avLst/>
          </a:prstGeom>
          <a:solidFill>
            <a:srgbClr val="1E5AA8"/>
          </a:solidFill>
          <a:ln/>
        </p:spPr>
      </p:sp>
      <p:sp>
        <p:nvSpPr>
          <p:cNvPr id="10" name="Shape 8"/>
          <p:cNvSpPr/>
          <p:nvPr/>
        </p:nvSpPr>
        <p:spPr>
          <a:xfrm>
            <a:off x="3566160" y="3364992"/>
            <a:ext cx="5029200" cy="594360"/>
          </a:xfrm>
          <a:prstGeom prst="roundRect">
            <a:avLst>
              <a:gd name="adj" fmla="val 12308"/>
            </a:avLst>
          </a:prstGeom>
          <a:solidFill>
            <a:srgbClr val="0B2545"/>
          </a:solidFill>
          <a:ln/>
          <a:effectLst>
            <a:outerShdw sx="100000" sy="100000" kx="0" ky="0" algn="bl" rotWithShape="0" blurRad="63500" dist="25400" dir="5400000">
              <a:srgbClr val="13253F">
                <a:alpha val="15000"/>
              </a:srgbClr>
            </a:outerShdw>
          </a:effectLst>
        </p:spPr>
      </p:sp>
      <p:sp>
        <p:nvSpPr>
          <p:cNvPr id="11" name="Text 9"/>
          <p:cNvSpPr/>
          <p:nvPr/>
        </p:nvSpPr>
        <p:spPr>
          <a:xfrm>
            <a:off x="3611880" y="3364992"/>
            <a:ext cx="4937760" cy="594360"/>
          </a:xfrm>
          <a:prstGeom prst="rect">
            <a:avLst/>
          </a:prstGeom>
          <a:noFill/>
          <a:ln/>
        </p:spPr>
        <p:txBody>
          <a:bodyPr wrap="square"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DBMS  (Query Processor · Transaction Manager)</a:t>
            </a:r>
            <a:endParaRPr lang="en-US" sz="1100" dirty="0"/>
          </a:p>
        </p:txBody>
      </p:sp>
      <p:sp>
        <p:nvSpPr>
          <p:cNvPr id="12" name="Shape 10"/>
          <p:cNvSpPr/>
          <p:nvPr/>
        </p:nvSpPr>
        <p:spPr>
          <a:xfrm>
            <a:off x="5980176" y="4023360"/>
            <a:ext cx="201168" cy="219456"/>
          </a:xfrm>
          <a:prstGeom prst="downArrow">
            <a:avLst/>
          </a:prstGeom>
          <a:solidFill>
            <a:srgbClr val="1E5AA8"/>
          </a:solidFill>
          <a:ln/>
        </p:spPr>
      </p:sp>
      <p:sp>
        <p:nvSpPr>
          <p:cNvPr id="13" name="Shape 11"/>
          <p:cNvSpPr/>
          <p:nvPr/>
        </p:nvSpPr>
        <p:spPr>
          <a:xfrm>
            <a:off x="3566160" y="4315968"/>
            <a:ext cx="5029200" cy="548640"/>
          </a:xfrm>
          <a:prstGeom prst="roundRect">
            <a:avLst>
              <a:gd name="adj" fmla="val 13333"/>
            </a:avLst>
          </a:prstGeom>
          <a:solidFill>
            <a:srgbClr val="13355C"/>
          </a:solidFill>
          <a:ln/>
          <a:effectLst>
            <a:outerShdw sx="100000" sy="100000" kx="0" ky="0" algn="bl" rotWithShape="0" blurRad="63500" dist="25400" dir="5400000">
              <a:srgbClr val="13253F">
                <a:alpha val="15000"/>
              </a:srgbClr>
            </a:outerShdw>
          </a:effectLst>
        </p:spPr>
      </p:sp>
      <p:sp>
        <p:nvSpPr>
          <p:cNvPr id="14" name="Text 12"/>
          <p:cNvSpPr/>
          <p:nvPr/>
        </p:nvSpPr>
        <p:spPr>
          <a:xfrm>
            <a:off x="3611880" y="4315968"/>
            <a:ext cx="4937760" cy="548640"/>
          </a:xfrm>
          <a:prstGeom prst="rect">
            <a:avLst/>
          </a:prstGeom>
          <a:noFill/>
          <a:ln/>
        </p:spPr>
        <p:txBody>
          <a:bodyPr wrap="square"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Retail Database  (Customer · Product · Order · ...)</a:t>
            </a:r>
            <a:endParaRPr lang="en-US" sz="1050" dirty="0"/>
          </a:p>
        </p:txBody>
      </p:sp>
      <p:sp>
        <p:nvSpPr>
          <p:cNvPr id="15" name="Shape 13"/>
          <p:cNvSpPr/>
          <p:nvPr/>
        </p:nvSpPr>
        <p:spPr>
          <a:xfrm flipH="1">
            <a:off x="1828800" y="4572000"/>
            <a:ext cx="2377440" cy="457200"/>
          </a:xfrm>
          <a:prstGeom prst="line">
            <a:avLst/>
          </a:prstGeom>
          <a:noFill/>
          <a:ln w="19050">
            <a:solidFill>
              <a:srgbClr val="4C6076"/>
            </a:solidFill>
            <a:prstDash val="dash"/>
          </a:ln>
        </p:spPr>
      </p:sp>
      <p:sp>
        <p:nvSpPr>
          <p:cNvPr id="16" name="Shape 14"/>
          <p:cNvSpPr/>
          <p:nvPr/>
        </p:nvSpPr>
        <p:spPr>
          <a:xfrm>
            <a:off x="502920" y="5029200"/>
            <a:ext cx="2651760" cy="502920"/>
          </a:xfrm>
          <a:prstGeom prst="roundRect">
            <a:avLst>
              <a:gd name="adj" fmla="val 14545"/>
            </a:avLst>
          </a:prstGeom>
          <a:solidFill>
            <a:srgbClr val="2E6BB8"/>
          </a:solidFill>
          <a:ln/>
          <a:effectLst>
            <a:outerShdw sx="100000" sy="100000" kx="0" ky="0" algn="bl" rotWithShape="0" blurRad="63500" dist="25400" dir="5400000">
              <a:srgbClr val="13253F">
                <a:alpha val="15000"/>
              </a:srgbClr>
            </a:outerShdw>
          </a:effectLst>
        </p:spPr>
      </p:sp>
      <p:sp>
        <p:nvSpPr>
          <p:cNvPr id="17" name="Text 15"/>
          <p:cNvSpPr/>
          <p:nvPr/>
        </p:nvSpPr>
        <p:spPr>
          <a:xfrm>
            <a:off x="548640" y="5029200"/>
            <a:ext cx="2560320" cy="502920"/>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Supplier Integration API</a:t>
            </a:r>
            <a:endParaRPr lang="en-US" sz="950" dirty="0"/>
          </a:p>
        </p:txBody>
      </p:sp>
      <p:sp>
        <p:nvSpPr>
          <p:cNvPr id="18" name="Shape 16"/>
          <p:cNvSpPr/>
          <p:nvPr/>
        </p:nvSpPr>
        <p:spPr>
          <a:xfrm>
            <a:off x="8595360" y="4572000"/>
            <a:ext cx="1463040" cy="457200"/>
          </a:xfrm>
          <a:prstGeom prst="line">
            <a:avLst/>
          </a:prstGeom>
          <a:noFill/>
          <a:ln w="19050">
            <a:solidFill>
              <a:srgbClr val="4C6076"/>
            </a:solidFill>
            <a:prstDash val="dash"/>
          </a:ln>
        </p:spPr>
      </p:sp>
      <p:sp>
        <p:nvSpPr>
          <p:cNvPr id="19" name="Shape 17"/>
          <p:cNvSpPr/>
          <p:nvPr/>
        </p:nvSpPr>
        <p:spPr>
          <a:xfrm>
            <a:off x="9052560" y="5029200"/>
            <a:ext cx="2651760" cy="502920"/>
          </a:xfrm>
          <a:prstGeom prst="roundRect">
            <a:avLst>
              <a:gd name="adj" fmla="val 14545"/>
            </a:avLst>
          </a:prstGeom>
          <a:solidFill>
            <a:srgbClr val="2E6BB8"/>
          </a:solidFill>
          <a:ln/>
          <a:effectLst>
            <a:outerShdw sx="100000" sy="100000" kx="0" ky="0" algn="bl" rotWithShape="0" blurRad="63500" dist="25400" dir="5400000">
              <a:srgbClr val="13253F">
                <a:alpha val="15000"/>
              </a:srgbClr>
            </a:outerShdw>
          </a:effectLst>
        </p:spPr>
      </p:sp>
      <p:sp>
        <p:nvSpPr>
          <p:cNvPr id="20" name="Text 18"/>
          <p:cNvSpPr/>
          <p:nvPr/>
        </p:nvSpPr>
        <p:spPr>
          <a:xfrm>
            <a:off x="9098280" y="5029200"/>
            <a:ext cx="2560320" cy="502920"/>
          </a:xfrm>
          <a:prstGeom prst="rect">
            <a:avLst/>
          </a:prstGeom>
          <a:noFill/>
          <a:ln/>
        </p:spPr>
        <p:txBody>
          <a:bodyPr wrap="square" rtlCol="0" anchor="ctr"/>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Analytics &amp; Reporting</a:t>
            </a:r>
            <a:endParaRPr lang="en-US" sz="950" dirty="0"/>
          </a:p>
        </p:txBody>
      </p:sp>
      <p:sp>
        <p:nvSpPr>
          <p:cNvPr id="21" name="Shape 19"/>
          <p:cNvSpPr/>
          <p:nvPr/>
        </p:nvSpPr>
        <p:spPr>
          <a:xfrm>
            <a:off x="502920" y="5760720"/>
            <a:ext cx="11183112" cy="566928"/>
          </a:xfrm>
          <a:prstGeom prst="roundRect">
            <a:avLst>
              <a:gd name="adj" fmla="val 16129"/>
            </a:avLst>
          </a:prstGeom>
          <a:solidFill>
            <a:srgbClr val="EAF2FB"/>
          </a:solidFill>
          <a:ln/>
        </p:spPr>
      </p:sp>
      <p:sp>
        <p:nvSpPr>
          <p:cNvPr id="22" name="Text 20"/>
          <p:cNvSpPr/>
          <p:nvPr/>
        </p:nvSpPr>
        <p:spPr>
          <a:xfrm>
            <a:off x="685800" y="5760720"/>
            <a:ext cx="10817352" cy="566928"/>
          </a:xfrm>
          <a:prstGeom prst="rect">
            <a:avLst/>
          </a:prstGeom>
          <a:noFill/>
          <a:ln/>
        </p:spPr>
        <p:txBody>
          <a:bodyPr wrap="square" rtlCol="0" anchor="ctr"/>
          <a:lstStyle/>
          <a:p>
            <a:pPr algn="ctr" indent="0" marL="0">
              <a:buNone/>
            </a:pPr>
            <a:r>
              <a:rPr lang="en-US" sz="1000" i="1" dirty="0">
                <a:solidFill>
                  <a:srgbClr val="0B2545"/>
                </a:solidFill>
                <a:latin typeface="Calibri" pitchFamily="34" charset="0"/>
                <a:ea typeface="Calibri" pitchFamily="34" charset="-122"/>
                <a:cs typeface="Calibri" pitchFamily="34" charset="-120"/>
              </a:rPr>
              <a:t>Every concept in this course appears here: layered ANSI/SPARC-style design, a relational data model, ER/EER-modelled entities, strong &amp; weak entities, and DBMS software components working together.</a:t>
            </a:r>
            <a:endParaRPr lang="en-US" sz="1000" dirty="0"/>
          </a:p>
        </p:txBody>
      </p:sp>
      <p:sp>
        <p:nvSpPr>
          <p:cNvPr id="23" name="Text 21"/>
          <p:cNvSpPr/>
          <p:nvPr/>
        </p:nvSpPr>
        <p:spPr>
          <a:xfrm>
            <a:off x="502920" y="6528816"/>
            <a:ext cx="7315200" cy="256032"/>
          </a:xfrm>
          <a:prstGeom prst="rect">
            <a:avLst/>
          </a:prstGeom>
          <a:noFill/>
          <a:ln/>
        </p:spPr>
        <p:txBody>
          <a:bodyPr wrap="square" rtlCol="0" anchor="ctr"/>
          <a:lstStyle/>
          <a:p>
            <a:pPr indent="0" marL="0">
              <a:buNone/>
            </a:pPr>
            <a:r>
              <a:rPr lang="en-US" sz="950" i="1" dirty="0">
                <a:solidFill>
                  <a:srgbClr val="4C6076"/>
                </a:solidFill>
                <a:latin typeface="Calibri" pitchFamily="34" charset="0"/>
                <a:ea typeface="Calibri" pitchFamily="34" charset="-122"/>
                <a:cs typeface="Calibri" pitchFamily="34" charset="-120"/>
              </a:rPr>
              <a:t>Module 10  ·  Retail Chain Management System</a:t>
            </a:r>
            <a:endParaRPr lang="en-US" sz="950" dirty="0"/>
          </a:p>
        </p:txBody>
      </p:sp>
      <p:sp>
        <p:nvSpPr>
          <p:cNvPr id="24" name="Text 22"/>
          <p:cNvSpPr/>
          <p:nvPr/>
        </p:nvSpPr>
        <p:spPr>
          <a:xfrm>
            <a:off x="11231575" y="6528816"/>
            <a:ext cx="457200" cy="256032"/>
          </a:xfrm>
          <a:prstGeom prst="rect">
            <a:avLst/>
          </a:prstGeom>
          <a:noFill/>
          <a:ln/>
        </p:spPr>
        <p:txBody>
          <a:bodyPr wrap="square" rtlCol="0" anchor="ctr"/>
          <a:lstStyle/>
          <a:p>
            <a:pPr algn="r" indent="0" marL="0">
              <a:buNone/>
            </a:pPr>
            <a:r>
              <a:rPr lang="en-US" sz="950" dirty="0">
                <a:solidFill>
                  <a:srgbClr val="4C6076"/>
                </a:solidFill>
                <a:latin typeface="Calibri" pitchFamily="34" charset="0"/>
                <a:ea typeface="Calibri" pitchFamily="34" charset="-122"/>
                <a:cs typeface="Calibri" pitchFamily="34" charset="-120"/>
              </a:rPr>
              <a:t>50</a:t>
            </a:r>
            <a:endParaRPr lang="en-US" sz="950" dirty="0"/>
          </a:p>
        </p:txBody>
      </p:sp>
      <p:sp>
        <p:nvSpPr>
          <p:cNvPr id="25" name="Shape 23"/>
          <p:cNvSpPr/>
          <p:nvPr/>
        </p:nvSpPr>
        <p:spPr>
          <a:xfrm>
            <a:off x="502920" y="6473952"/>
            <a:ext cx="11185855" cy="10973"/>
          </a:xfrm>
          <a:prstGeom prst="rect">
            <a:avLst/>
          </a:prstGeom>
          <a:solidFill>
            <a:srgbClr val="D4E4F7"/>
          </a:solidFill>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2194560" y="-2377440"/>
            <a:ext cx="5669280" cy="5669280"/>
          </a:xfrm>
          <a:prstGeom prst="ellipse">
            <a:avLst/>
          </a:prstGeom>
          <a:solidFill>
            <a:srgbClr val="123259"/>
          </a:solidFill>
          <a:ln/>
        </p:spPr>
      </p:sp>
      <p:sp>
        <p:nvSpPr>
          <p:cNvPr id="3" name="Shape 1"/>
          <p:cNvSpPr/>
          <p:nvPr/>
        </p:nvSpPr>
        <p:spPr>
          <a:xfrm>
            <a:off x="9144000" y="3840480"/>
            <a:ext cx="5303520" cy="5303520"/>
          </a:xfrm>
          <a:prstGeom prst="ellipse">
            <a:avLst/>
          </a:prstGeom>
          <a:solidFill>
            <a:srgbClr val="0F2C50"/>
          </a:solidFill>
          <a:ln/>
        </p:spPr>
      </p:sp>
      <p:sp>
        <p:nvSpPr>
          <p:cNvPr id="4" name="Shape 2"/>
          <p:cNvSpPr/>
          <p:nvPr/>
        </p:nvSpPr>
        <p:spPr>
          <a:xfrm>
            <a:off x="5592928" y="1234440"/>
            <a:ext cx="1005840" cy="1005840"/>
          </a:xfrm>
          <a:prstGeom prst="ellipse">
            <a:avLst/>
          </a:prstGeom>
          <a:solidFill>
            <a:srgbClr val="1E5AA8"/>
          </a:solidFill>
          <a:ln/>
          <a:effectLst>
            <a:outerShdw sx="100000" sy="100000" kx="0" ky="0" algn="bl" rotWithShape="0" blurRad="76200" dist="25400" dir="5400000">
              <a:srgbClr val="13253F">
                <a:alpha val="18000"/>
              </a:srgbClr>
            </a:outerShdw>
          </a:effectLst>
        </p:spPr>
      </p:sp>
      <p:pic>
        <p:nvPicPr>
          <p:cNvPr id="5" name="Image 0" descr="/home/claude/dbms_pptx/icons/handshake_white.png">    </p:cNvPr>
          <p:cNvPicPr>
            <a:picLocks noChangeAspect="1"/>
          </p:cNvPicPr>
          <p:nvPr/>
        </p:nvPicPr>
        <p:blipFill>
          <a:blip r:embed="rId1"/>
          <a:stretch>
            <a:fillRect/>
          </a:stretch>
        </p:blipFill>
        <p:spPr>
          <a:xfrm>
            <a:off x="5854446" y="1495958"/>
            <a:ext cx="482803" cy="482803"/>
          </a:xfrm>
          <a:prstGeom prst="rect">
            <a:avLst/>
          </a:prstGeom>
        </p:spPr>
      </p:pic>
      <p:sp>
        <p:nvSpPr>
          <p:cNvPr id="6" name="Text 3"/>
          <p:cNvSpPr/>
          <p:nvPr/>
        </p:nvSpPr>
        <p:spPr>
          <a:xfrm>
            <a:off x="731520" y="2468880"/>
            <a:ext cx="10728655"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731520" y="3291840"/>
            <a:ext cx="10728655" cy="457200"/>
          </a:xfrm>
          <a:prstGeom prst="rect">
            <a:avLst/>
          </a:prstGeom>
          <a:noFill/>
          <a:ln/>
        </p:spPr>
        <p:txBody>
          <a:bodyPr wrap="square" rtlCol="0" anchor="ctr"/>
          <a:lstStyle/>
          <a:p>
            <a:pPr algn="ctr" indent="0" marL="0">
              <a:buNone/>
            </a:pPr>
            <a:r>
              <a:rPr lang="en-US" sz="1500" i="1" dirty="0">
                <a:solidFill>
                  <a:srgbClr val="5B9BD5"/>
                </a:solidFill>
                <a:latin typeface="Calibri" pitchFamily="34" charset="0"/>
                <a:ea typeface="Calibri" pitchFamily="34" charset="-122"/>
                <a:cs typeface="Calibri" pitchFamily="34" charset="-120"/>
              </a:rPr>
              <a:t>Database Management System — Questions &amp; Discussion</a:t>
            </a:r>
            <a:endParaRPr lang="en-US" sz="1500" dirty="0"/>
          </a:p>
        </p:txBody>
      </p:sp>
      <p:sp>
        <p:nvSpPr>
          <p:cNvPr id="8" name="Shape 5"/>
          <p:cNvSpPr/>
          <p:nvPr/>
        </p:nvSpPr>
        <p:spPr>
          <a:xfrm>
            <a:off x="4724248" y="3977640"/>
            <a:ext cx="2743200" cy="12802"/>
          </a:xfrm>
          <a:prstGeom prst="rect">
            <a:avLst/>
          </a:prstGeom>
          <a:solidFill>
            <a:srgbClr val="2E6BB8"/>
          </a:solidFill>
          <a:ln/>
        </p:spPr>
      </p:sp>
      <p:sp>
        <p:nvSpPr>
          <p:cNvPr id="9" name="Shape 6"/>
          <p:cNvSpPr/>
          <p:nvPr/>
        </p:nvSpPr>
        <p:spPr>
          <a:xfrm>
            <a:off x="700888" y="4251960"/>
            <a:ext cx="2011680" cy="384048"/>
          </a:xfrm>
          <a:prstGeom prst="roundRect">
            <a:avLst>
              <a:gd name="adj" fmla="val 50000"/>
            </a:avLst>
          </a:prstGeom>
          <a:solidFill>
            <a:srgbClr val="123259"/>
          </a:solidFill>
          <a:ln/>
        </p:spPr>
      </p:sp>
      <p:sp>
        <p:nvSpPr>
          <p:cNvPr id="10" name="Text 7"/>
          <p:cNvSpPr/>
          <p:nvPr/>
        </p:nvSpPr>
        <p:spPr>
          <a:xfrm>
            <a:off x="700888" y="4251960"/>
            <a:ext cx="2011680" cy="384048"/>
          </a:xfrm>
          <a:prstGeom prst="rect">
            <a:avLst/>
          </a:prstGeom>
          <a:noFill/>
          <a:ln/>
        </p:spPr>
        <p:txBody>
          <a:bodyPr wrap="square" rtlCol="0" anchor="ctr"/>
          <a:lstStyle/>
          <a:p>
            <a:pPr algn="ctr" indent="0" marL="0">
              <a:buNone/>
            </a:pPr>
            <a:r>
              <a:rPr lang="en-US" sz="1250" b="1" dirty="0">
                <a:solidFill>
                  <a:srgbClr val="EAF2FB"/>
                </a:solidFill>
                <a:latin typeface="Calibri" pitchFamily="34" charset="0"/>
                <a:ea typeface="Calibri" pitchFamily="34" charset="-122"/>
                <a:cs typeface="Calibri" pitchFamily="34" charset="-120"/>
              </a:rPr>
              <a:t>DBMS Foundations</a:t>
            </a:r>
            <a:endParaRPr lang="en-US" sz="1250" dirty="0"/>
          </a:p>
        </p:txBody>
      </p:sp>
      <p:sp>
        <p:nvSpPr>
          <p:cNvPr id="11" name="Shape 8"/>
          <p:cNvSpPr/>
          <p:nvPr/>
        </p:nvSpPr>
        <p:spPr>
          <a:xfrm>
            <a:off x="2895448" y="4251960"/>
            <a:ext cx="2011680" cy="384048"/>
          </a:xfrm>
          <a:prstGeom prst="roundRect">
            <a:avLst>
              <a:gd name="adj" fmla="val 50000"/>
            </a:avLst>
          </a:prstGeom>
          <a:solidFill>
            <a:srgbClr val="123259"/>
          </a:solidFill>
          <a:ln/>
        </p:spPr>
      </p:sp>
      <p:sp>
        <p:nvSpPr>
          <p:cNvPr id="12" name="Text 9"/>
          <p:cNvSpPr/>
          <p:nvPr/>
        </p:nvSpPr>
        <p:spPr>
          <a:xfrm>
            <a:off x="2895448" y="4251960"/>
            <a:ext cx="2011680" cy="384048"/>
          </a:xfrm>
          <a:prstGeom prst="rect">
            <a:avLst/>
          </a:prstGeom>
          <a:noFill/>
          <a:ln/>
        </p:spPr>
        <p:txBody>
          <a:bodyPr wrap="square" rtlCol="0" anchor="ctr"/>
          <a:lstStyle/>
          <a:p>
            <a:pPr algn="ctr" indent="0" marL="0">
              <a:buNone/>
            </a:pPr>
            <a:r>
              <a:rPr lang="en-US" sz="1250" b="1" dirty="0">
                <a:solidFill>
                  <a:srgbClr val="EAF2FB"/>
                </a:solidFill>
                <a:latin typeface="Calibri" pitchFamily="34" charset="0"/>
                <a:ea typeface="Calibri" pitchFamily="34" charset="-122"/>
                <a:cs typeface="Calibri" pitchFamily="34" charset="-120"/>
              </a:rPr>
              <a:t>ANSI/SPARC Architecture</a:t>
            </a:r>
            <a:endParaRPr lang="en-US" sz="1250" dirty="0"/>
          </a:p>
        </p:txBody>
      </p:sp>
      <p:sp>
        <p:nvSpPr>
          <p:cNvPr id="13" name="Shape 10"/>
          <p:cNvSpPr/>
          <p:nvPr/>
        </p:nvSpPr>
        <p:spPr>
          <a:xfrm>
            <a:off x="5090008" y="4251960"/>
            <a:ext cx="2011680" cy="384048"/>
          </a:xfrm>
          <a:prstGeom prst="roundRect">
            <a:avLst>
              <a:gd name="adj" fmla="val 50000"/>
            </a:avLst>
          </a:prstGeom>
          <a:solidFill>
            <a:srgbClr val="123259"/>
          </a:solidFill>
          <a:ln/>
        </p:spPr>
      </p:sp>
      <p:sp>
        <p:nvSpPr>
          <p:cNvPr id="14" name="Text 11"/>
          <p:cNvSpPr/>
          <p:nvPr/>
        </p:nvSpPr>
        <p:spPr>
          <a:xfrm>
            <a:off x="5090008" y="4251960"/>
            <a:ext cx="2011680" cy="384048"/>
          </a:xfrm>
          <a:prstGeom prst="rect">
            <a:avLst/>
          </a:prstGeom>
          <a:noFill/>
          <a:ln/>
        </p:spPr>
        <p:txBody>
          <a:bodyPr wrap="square" rtlCol="0" anchor="ctr"/>
          <a:lstStyle/>
          <a:p>
            <a:pPr algn="ctr" indent="0" marL="0">
              <a:buNone/>
            </a:pPr>
            <a:r>
              <a:rPr lang="en-US" sz="1250" b="1" dirty="0">
                <a:solidFill>
                  <a:srgbClr val="EAF2FB"/>
                </a:solidFill>
                <a:latin typeface="Calibri" pitchFamily="34" charset="0"/>
                <a:ea typeface="Calibri" pitchFamily="34" charset="-122"/>
                <a:cs typeface="Calibri" pitchFamily="34" charset="-120"/>
              </a:rPr>
              <a:t>ER &amp; EER Modelling</a:t>
            </a:r>
            <a:endParaRPr lang="en-US" sz="1250" dirty="0"/>
          </a:p>
        </p:txBody>
      </p:sp>
      <p:sp>
        <p:nvSpPr>
          <p:cNvPr id="15" name="Shape 12"/>
          <p:cNvSpPr/>
          <p:nvPr/>
        </p:nvSpPr>
        <p:spPr>
          <a:xfrm>
            <a:off x="7284568" y="4251960"/>
            <a:ext cx="2011680" cy="384048"/>
          </a:xfrm>
          <a:prstGeom prst="roundRect">
            <a:avLst>
              <a:gd name="adj" fmla="val 50000"/>
            </a:avLst>
          </a:prstGeom>
          <a:solidFill>
            <a:srgbClr val="123259"/>
          </a:solidFill>
          <a:ln/>
        </p:spPr>
      </p:sp>
      <p:sp>
        <p:nvSpPr>
          <p:cNvPr id="16" name="Text 13"/>
          <p:cNvSpPr/>
          <p:nvPr/>
        </p:nvSpPr>
        <p:spPr>
          <a:xfrm>
            <a:off x="7284568" y="4251960"/>
            <a:ext cx="2011680" cy="384048"/>
          </a:xfrm>
          <a:prstGeom prst="rect">
            <a:avLst/>
          </a:prstGeom>
          <a:noFill/>
          <a:ln/>
        </p:spPr>
        <p:txBody>
          <a:bodyPr wrap="square" rtlCol="0" anchor="ctr"/>
          <a:lstStyle/>
          <a:p>
            <a:pPr algn="ctr" indent="0" marL="0">
              <a:buNone/>
            </a:pPr>
            <a:r>
              <a:rPr lang="en-US" sz="1250" b="1" dirty="0">
                <a:solidFill>
                  <a:srgbClr val="EAF2FB"/>
                </a:solidFill>
                <a:latin typeface="Calibri" pitchFamily="34" charset="0"/>
                <a:ea typeface="Calibri" pitchFamily="34" charset="-122"/>
                <a:cs typeface="Calibri" pitchFamily="34" charset="-120"/>
              </a:rPr>
              <a:t>Data Independence</a:t>
            </a:r>
            <a:endParaRPr lang="en-US" sz="1250" dirty="0"/>
          </a:p>
        </p:txBody>
      </p:sp>
      <p:sp>
        <p:nvSpPr>
          <p:cNvPr id="17" name="Shape 14"/>
          <p:cNvSpPr/>
          <p:nvPr/>
        </p:nvSpPr>
        <p:spPr>
          <a:xfrm>
            <a:off x="9479128" y="4251960"/>
            <a:ext cx="2011680" cy="384048"/>
          </a:xfrm>
          <a:prstGeom prst="roundRect">
            <a:avLst>
              <a:gd name="adj" fmla="val 50000"/>
            </a:avLst>
          </a:prstGeom>
          <a:solidFill>
            <a:srgbClr val="123259"/>
          </a:solidFill>
          <a:ln/>
        </p:spPr>
      </p:sp>
      <p:sp>
        <p:nvSpPr>
          <p:cNvPr id="18" name="Text 15"/>
          <p:cNvSpPr/>
          <p:nvPr/>
        </p:nvSpPr>
        <p:spPr>
          <a:xfrm>
            <a:off x="9479128" y="4251960"/>
            <a:ext cx="2011680" cy="384048"/>
          </a:xfrm>
          <a:prstGeom prst="rect">
            <a:avLst/>
          </a:prstGeom>
          <a:noFill/>
          <a:ln/>
        </p:spPr>
        <p:txBody>
          <a:bodyPr wrap="square" rtlCol="0" anchor="ctr"/>
          <a:lstStyle/>
          <a:p>
            <a:pPr algn="ctr" indent="0" marL="0">
              <a:buNone/>
            </a:pPr>
            <a:r>
              <a:rPr lang="en-US" sz="1250" b="1" dirty="0">
                <a:solidFill>
                  <a:srgbClr val="EAF2FB"/>
                </a:solidFill>
                <a:latin typeface="Calibri" pitchFamily="34" charset="0"/>
                <a:ea typeface="Calibri" pitchFamily="34" charset="-122"/>
                <a:cs typeface="Calibri" pitchFamily="34" charset="-120"/>
              </a:rPr>
              <a:t>Retail Capstone</a:t>
            </a:r>
            <a:endParaRPr lang="en-US" sz="1250" dirty="0"/>
          </a:p>
        </p:txBody>
      </p:sp>
      <p:sp>
        <p:nvSpPr>
          <p:cNvPr id="19" name="Text 16"/>
          <p:cNvSpPr/>
          <p:nvPr/>
        </p:nvSpPr>
        <p:spPr>
          <a:xfrm>
            <a:off x="731520" y="5029200"/>
            <a:ext cx="10728655" cy="365760"/>
          </a:xfrm>
          <a:prstGeom prst="rect">
            <a:avLst/>
          </a:prstGeom>
          <a:noFill/>
          <a:ln/>
        </p:spPr>
        <p:txBody>
          <a:bodyPr wrap="square" rtlCol="0" anchor="ctr"/>
          <a:lstStyle/>
          <a:p>
            <a:pPr algn="ctr" indent="0" marL="0">
              <a:buNone/>
            </a:pPr>
            <a:r>
              <a:rPr lang="en-US" sz="1200" dirty="0">
                <a:solidFill>
                  <a:srgbClr val="4C6076"/>
                </a:solidFill>
                <a:latin typeface="Calibri" pitchFamily="34" charset="0"/>
                <a:ea typeface="Calibri" pitchFamily="34" charset="-122"/>
                <a:cs typeface="Calibri" pitchFamily="34" charset="-120"/>
              </a:rPr>
              <a:t>10 Modules  ·  50 Topic Slides  ·  One Complete Retail Case Study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 (DBMS)</dc:title>
  <dc:subject>PptxGenJS Presentation</dc:subject>
  <dc:creator>DBMS Course Deck</dc:creator>
  <cp:lastModifiedBy>DBMS Course Deck</cp:lastModifiedBy>
  <cp:revision>1</cp:revision>
  <dcterms:created xsi:type="dcterms:W3CDTF">2026-07-30T08:20:43Z</dcterms:created>
  <dcterms:modified xsi:type="dcterms:W3CDTF">2026-07-30T08:20:43Z</dcterms:modified>
</cp:coreProperties>
</file>